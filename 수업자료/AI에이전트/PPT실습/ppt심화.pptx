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26679" y="594360"/>
            <a:ext cx="12700" cy="5669279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21040" y="594360"/>
            <a:ext cx="12700" cy="5669279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594360"/>
            <a:ext cx="12700" cy="5669279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09759" y="594360"/>
            <a:ext cx="12700" cy="5669279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04119" y="594360"/>
            <a:ext cx="12700" cy="5669279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98480" y="594360"/>
            <a:ext cx="12700" cy="5669279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914400"/>
            <a:ext cx="3931920" cy="12700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1783080"/>
            <a:ext cx="3931920" cy="12700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2651760"/>
            <a:ext cx="3931920" cy="12700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3520439"/>
            <a:ext cx="3931920" cy="12700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4389120"/>
            <a:ext cx="3931920" cy="12700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5257800"/>
            <a:ext cx="3931920" cy="12700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0" y="1508760"/>
            <a:ext cx="2514600" cy="2514600"/>
          </a:xfrm>
          <a:prstGeom prst="ellipse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35440" y="2331720"/>
            <a:ext cx="1417320" cy="1417320"/>
          </a:xfrm>
          <a:prstGeom prst="ellipse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658368"/>
            <a:ext cx="1965960" cy="310896"/>
          </a:xfrm>
          <a:prstGeom prst="roundRect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58368"/>
            <a:ext cx="19659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071316"/>
                </a:solidFill>
                <a:latin typeface="Malgun Gothic"/>
              </a:rPr>
              <a:t>EXECUTIVE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1444752"/>
            <a:ext cx="667512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4F7FB"/>
                </a:solidFill>
                <a:latin typeface="Malgun Gothic"/>
              </a:rPr>
              <a:t>AI Agent
Operating Model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383280"/>
            <a:ext cx="6309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0">
                <a:solidFill>
                  <a:srgbClr val="9CA7B8"/>
                </a:solidFill>
                <a:latin typeface="Malgun Gothic"/>
              </a:rPr>
              <a:t>90일 안에 검증하고, 12개월 안에 확장하는 운영체계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6126480"/>
            <a:ext cx="43891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1">
                <a:solidFill>
                  <a:srgbClr val="9CA7B8"/>
                </a:solidFill>
                <a:latin typeface="Malgun Gothic"/>
              </a:rPr>
              <a:t>INTERNAL SCENARIO · 2026.08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71316"/>
                </a:solidFill>
                <a:latin typeface="Malgun Gothic"/>
              </a:rPr>
              <a:t>01 · NORTH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Malgun Gothic"/>
              </a:rPr>
              <a:t>12개월 목표는 ‘통제 가능한 자동화’를 조직 표준으로 만드는 것입니다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9CA7B8"/>
                </a:solidFill>
                <a:latin typeface="Malgun Gothic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4754880" cy="3611880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48256"/>
            <a:ext cx="13716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42D6E8"/>
                </a:solidFill>
                <a:latin typeface="Malgun Gothic"/>
              </a:rPr>
              <a:t>NORTH 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78608"/>
            <a:ext cx="32461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600" b="1">
                <a:solidFill>
                  <a:srgbClr val="F4F7FB"/>
                </a:solidFill>
                <a:latin typeface="Malgun Gothic"/>
              </a:rPr>
              <a:t>8,600h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319272"/>
            <a:ext cx="34747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9CA7B8"/>
                </a:solidFill>
                <a:latin typeface="Malgun Gothic"/>
              </a:rPr>
              <a:t>12개월 자동화 가능 시간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087368"/>
            <a:ext cx="4133087" cy="694944"/>
          </a:xfrm>
          <a:prstGeom prst="roundRect">
            <a:avLst/>
          </a:prstGeom>
          <a:solidFill>
            <a:srgbClr val="22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87368"/>
            <a:ext cx="4133087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Malgun Gothic"/>
              </a:rPr>
              <a:t>목표 채택률 70%  ·  고위험 업무 자동실행 0건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937760"/>
            <a:ext cx="20116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9CA7B8"/>
                </a:solidFill>
                <a:latin typeface="Malgun Gothic"/>
              </a:rPr>
              <a:t>내부 시나리오 가정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847088"/>
            <a:ext cx="42062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Malgun Gothic"/>
              </a:rPr>
              <a:t>오늘 결정할 3가지</a:t>
            </a:r>
          </a:p>
        </p:txBody>
      </p:sp>
      <p:sp>
        <p:nvSpPr>
          <p:cNvPr id="14" name="Oval 13"/>
          <p:cNvSpPr/>
          <p:nvPr/>
        </p:nvSpPr>
        <p:spPr>
          <a:xfrm>
            <a:off x="5989320" y="2542032"/>
            <a:ext cx="502920" cy="502920"/>
          </a:xfrm>
          <a:prstGeom prst="ellipse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2542032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071316"/>
                </a:solidFill>
                <a:latin typeface="Malgun Gothi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514600"/>
            <a:ext cx="23774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Malgun Gothic"/>
              </a:rPr>
              <a:t>90일 1단계 투자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862072"/>
            <a:ext cx="38404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9CA7B8"/>
                </a:solidFill>
                <a:latin typeface="Malgun Gothic"/>
              </a:rPr>
              <a:t>가설 검증 예산과 범위</a:t>
            </a:r>
          </a:p>
        </p:txBody>
      </p:sp>
      <p:sp>
        <p:nvSpPr>
          <p:cNvPr id="18" name="Oval 17"/>
          <p:cNvSpPr/>
          <p:nvPr/>
        </p:nvSpPr>
        <p:spPr>
          <a:xfrm>
            <a:off x="5989320" y="3502152"/>
            <a:ext cx="502920" cy="502920"/>
          </a:xfrm>
          <a:prstGeom prst="ellipse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502152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071316"/>
                </a:solidFill>
                <a:latin typeface="Malgun Gothi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474720"/>
            <a:ext cx="23774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Malgun Gothic"/>
              </a:rPr>
              <a:t>전담 스쿼드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822191"/>
            <a:ext cx="38404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9CA7B8"/>
                </a:solidFill>
                <a:latin typeface="Malgun Gothic"/>
              </a:rPr>
              <a:t>업무·기술·보안 공동 오너십</a:t>
            </a:r>
          </a:p>
        </p:txBody>
      </p:sp>
      <p:sp>
        <p:nvSpPr>
          <p:cNvPr id="22" name="Oval 21"/>
          <p:cNvSpPr/>
          <p:nvPr/>
        </p:nvSpPr>
        <p:spPr>
          <a:xfrm>
            <a:off x="5989320" y="4462272"/>
            <a:ext cx="502920" cy="502920"/>
          </a:xfrm>
          <a:prstGeom prst="ellipse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4462272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071316"/>
                </a:solidFill>
                <a:latin typeface="Malgun Gothi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434840"/>
            <a:ext cx="23774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4F7FB"/>
                </a:solidFill>
                <a:latin typeface="Malgun Gothic"/>
              </a:rPr>
              <a:t>데이터 접근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782312"/>
            <a:ext cx="38404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9CA7B8"/>
                </a:solidFill>
                <a:latin typeface="Malgun Gothic"/>
              </a:rPr>
              <a:t>최소 권한과 승인 정책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9CA7B8"/>
                </a:solidFill>
                <a:latin typeface="Malgun Gothic"/>
              </a:rPr>
              <a:t>AI Agent Operating Model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547104"/>
            <a:ext cx="51663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50" b="0">
                <a:solidFill>
                  <a:srgbClr val="9CA7B8"/>
                </a:solidFill>
                <a:latin typeface="Malgun Gothic"/>
              </a:rPr>
              <a:t>내부 시나리오 가정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71316"/>
                </a:solidFill>
                <a:latin typeface="Malgun Gothic"/>
              </a:rPr>
              <a:t>02 · VALUE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Malgun Gothic"/>
              </a:rPr>
              <a:t>생산성만이 아니라 품질·속도·학습효과를 함께 측정합니다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9CA7B8"/>
                </a:solidFill>
                <a:latin typeface="Malgun Gothic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487168" cy="3337560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2487168" cy="109728"/>
          </a:xfrm>
          <a:prstGeom prst="rect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Malgun Gothic"/>
              </a:rPr>
              <a:t>생산성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70632"/>
            <a:ext cx="1965960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>
                <a:solidFill>
                  <a:srgbClr val="F4F7FB"/>
                </a:solidFill>
                <a:latin typeface="Malgun Gothic"/>
              </a:rPr>
              <a:t>8,600h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19659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9CA7B8"/>
                </a:solidFill>
                <a:latin typeface="Malgun Gothic"/>
              </a:rPr>
              <a:t>연간 자동화 가능 시간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90288"/>
            <a:ext cx="1920240" cy="292608"/>
          </a:xfrm>
          <a:prstGeom prst="roundRect">
            <a:avLst/>
          </a:prstGeom>
          <a:solidFill>
            <a:srgbClr val="25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90288"/>
            <a:ext cx="19202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30" b="1">
                <a:solidFill>
                  <a:srgbClr val="9CA7B8"/>
                </a:solidFill>
                <a:latin typeface="Malgun Gothic"/>
              </a:rPr>
              <a:t>BASELINE →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1828800"/>
            <a:ext cx="2487168" cy="3337560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1296" y="1828800"/>
            <a:ext cx="2487168" cy="109728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219456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9B7BFF"/>
                </a:solidFill>
                <a:latin typeface="Malgun Gothic"/>
              </a:rPr>
              <a:t>속도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770632"/>
            <a:ext cx="1965960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>
                <a:solidFill>
                  <a:srgbClr val="F4F7FB"/>
                </a:solidFill>
                <a:latin typeface="Malgun Gothic"/>
              </a:rPr>
              <a:t>−44%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611880"/>
            <a:ext cx="19659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9CA7B8"/>
                </a:solidFill>
                <a:latin typeface="Malgun Gothic"/>
              </a:rPr>
              <a:t>초안 리드타임 목표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67328" y="4590288"/>
            <a:ext cx="1920240" cy="292608"/>
          </a:xfrm>
          <a:prstGeom prst="roundRect">
            <a:avLst/>
          </a:prstGeom>
          <a:solidFill>
            <a:srgbClr val="25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67328" y="4590288"/>
            <a:ext cx="19202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30" b="1">
                <a:solidFill>
                  <a:srgbClr val="9CA7B8"/>
                </a:solidFill>
                <a:latin typeface="Malgun Gothic"/>
              </a:rPr>
              <a:t>BASELINE →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1828800"/>
            <a:ext cx="2487168" cy="3337560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64224" y="1828800"/>
            <a:ext cx="2487168" cy="109728"/>
          </a:xfrm>
          <a:prstGeom prst="rect">
            <a:avLst/>
          </a:prstGeom>
          <a:solidFill>
            <a:srgbClr val="B6E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219456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B6E36F"/>
                </a:solidFill>
                <a:latin typeface="Malgun Gothic"/>
              </a:rPr>
              <a:t>품질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2770632"/>
            <a:ext cx="1965960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>
                <a:solidFill>
                  <a:srgbClr val="F4F7FB"/>
                </a:solidFill>
                <a:latin typeface="Malgun Gothic"/>
              </a:rPr>
              <a:t>≤8%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3611880"/>
            <a:ext cx="19659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9CA7B8"/>
                </a:solidFill>
                <a:latin typeface="Malgun Gothic"/>
              </a:rPr>
              <a:t>재작업률 목표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0256" y="4590288"/>
            <a:ext cx="1920240" cy="292608"/>
          </a:xfrm>
          <a:prstGeom prst="roundRect">
            <a:avLst/>
          </a:prstGeom>
          <a:solidFill>
            <a:srgbClr val="25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0256" y="4590288"/>
            <a:ext cx="19202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30" b="1">
                <a:solidFill>
                  <a:srgbClr val="9CA7B8"/>
                </a:solidFill>
                <a:latin typeface="Malgun Gothic"/>
              </a:rPr>
              <a:t>BASELINE → TARGET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17152" y="1828800"/>
            <a:ext cx="2487168" cy="3337560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17152" y="1828800"/>
            <a:ext cx="2487168" cy="109728"/>
          </a:xfrm>
          <a:prstGeom prst="rect">
            <a:avLst/>
          </a:prstGeom>
          <a:solidFill>
            <a:srgbClr val="FFB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73184" y="219456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FFB75E"/>
                </a:solidFill>
                <a:latin typeface="Malgun Gothic"/>
              </a:rPr>
              <a:t>학습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2770632"/>
            <a:ext cx="1965960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>
                <a:solidFill>
                  <a:srgbClr val="F4F7FB"/>
                </a:solidFill>
                <a:latin typeface="Malgun Gothic"/>
              </a:rPr>
              <a:t>70%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3611880"/>
            <a:ext cx="19659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9CA7B8"/>
                </a:solidFill>
                <a:latin typeface="Malgun Gothic"/>
              </a:rPr>
              <a:t>월간 채택률 목표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3184" y="4590288"/>
            <a:ext cx="1920240" cy="292608"/>
          </a:xfrm>
          <a:prstGeom prst="roundRect">
            <a:avLst/>
          </a:prstGeom>
          <a:solidFill>
            <a:srgbClr val="25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73184" y="4590288"/>
            <a:ext cx="19202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30" b="1">
                <a:solidFill>
                  <a:srgbClr val="9CA7B8"/>
                </a:solidFill>
                <a:latin typeface="Malgun Gothic"/>
              </a:rPr>
              <a:t>BASELINE → TARGET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9CA7B8"/>
                </a:solidFill>
                <a:latin typeface="Malgun Gothic"/>
              </a:rPr>
              <a:t>AI Agent Operating Model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547104"/>
            <a:ext cx="51663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50" b="0">
                <a:solidFill>
                  <a:srgbClr val="9CA7B8"/>
                </a:solidFill>
                <a:latin typeface="Malgun Gothic"/>
              </a:rPr>
              <a:t>모든 수치는 내부 시나리오 가정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71316"/>
                </a:solidFill>
                <a:latin typeface="Malgun Gothic"/>
              </a:rPr>
              <a:t>03 ·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Malgun Gothic"/>
              </a:rPr>
              <a:t>Assist에서 Transform으로 갈수록 자동화보다 운영 통제가 중요해집니다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9CA7B8"/>
                </a:solidFill>
                <a:latin typeface="Malgun Gothic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315968"/>
            <a:ext cx="2487168" cy="1115568"/>
          </a:xfrm>
          <a:prstGeom prst="roundRect">
            <a:avLst/>
          </a:prstGeom>
          <a:solidFill>
            <a:srgbClr val="1D2632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4517136"/>
            <a:ext cx="384048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937759"/>
            <a:ext cx="192024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4F7FB"/>
                </a:solidFill>
                <a:latin typeface="Malgun Gothic"/>
              </a:rPr>
              <a:t>ASSIST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5367527"/>
            <a:ext cx="1920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9CA7B8"/>
                </a:solidFill>
                <a:latin typeface="Malgun Gothic"/>
              </a:rPr>
              <a:t>개인 초안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" y="4901183"/>
            <a:ext cx="841248" cy="310896"/>
          </a:xfrm>
          <a:prstGeom prst="round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4901183"/>
            <a:ext cx="841248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1">
                <a:solidFill>
                  <a:srgbClr val="F4F7FB"/>
                </a:solidFill>
                <a:latin typeface="Malgun Gothic"/>
              </a:rPr>
              <a:t>현재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3749039"/>
            <a:ext cx="2487168" cy="1682495"/>
          </a:xfrm>
          <a:prstGeom prst="roundRect">
            <a:avLst/>
          </a:prstGeom>
          <a:solidFill>
            <a:srgbClr val="1D2632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9896" y="3950207"/>
            <a:ext cx="384048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4370831"/>
            <a:ext cx="192024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4F7FB"/>
                </a:solidFill>
                <a:latin typeface="Malgun Gothic"/>
              </a:rPr>
              <a:t>AUTOMATE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480060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9CA7B8"/>
                </a:solidFill>
                <a:latin typeface="Malgun Gothic"/>
              </a:rPr>
              <a:t>규칙 기반 실행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9896" y="4901183"/>
            <a:ext cx="841248" cy="310896"/>
          </a:xfrm>
          <a:prstGeom prst="round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9896" y="4901183"/>
            <a:ext cx="841248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1">
                <a:solidFill>
                  <a:srgbClr val="F4F7FB"/>
                </a:solidFill>
                <a:latin typeface="Malgun Gothic"/>
              </a:rPr>
              <a:t>90일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4224" y="3182111"/>
            <a:ext cx="2487168" cy="2249424"/>
          </a:xfrm>
          <a:prstGeom prst="roundRect">
            <a:avLst/>
          </a:prstGeom>
          <a:solidFill>
            <a:srgbClr val="242437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2824" y="3383279"/>
            <a:ext cx="384048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9B7BFF"/>
                </a:solidFill>
                <a:latin typeface="Malgun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3803903"/>
            <a:ext cx="192024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4F7FB"/>
                </a:solidFill>
                <a:latin typeface="Malgun Gothic"/>
              </a:rPr>
              <a:t>ORCHESTRATE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4233671"/>
            <a:ext cx="1920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9CA7B8"/>
                </a:solidFill>
                <a:latin typeface="Malgun Gothic"/>
              </a:rPr>
              <a:t>업무 간 연결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92824" y="4901183"/>
            <a:ext cx="841248" cy="310896"/>
          </a:xfrm>
          <a:prstGeom prst="round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2824" y="4901183"/>
            <a:ext cx="841248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1">
                <a:solidFill>
                  <a:srgbClr val="F4F7FB"/>
                </a:solidFill>
                <a:latin typeface="Malgun Gothic"/>
              </a:rPr>
              <a:t>6개월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17152" y="2615184"/>
            <a:ext cx="2487168" cy="2816352"/>
          </a:xfrm>
          <a:prstGeom prst="roundRect">
            <a:avLst/>
          </a:prstGeom>
          <a:solidFill>
            <a:srgbClr val="242437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45752" y="2816352"/>
            <a:ext cx="384048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9B7BFF"/>
                </a:solidFill>
                <a:latin typeface="Malgun Gothi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3236976"/>
            <a:ext cx="192024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4F7FB"/>
                </a:solidFill>
                <a:latin typeface="Malgun Gothic"/>
              </a:rPr>
              <a:t>TRANSFORM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3666744"/>
            <a:ext cx="1920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9CA7B8"/>
                </a:solidFill>
                <a:latin typeface="Malgun Gothic"/>
              </a:rPr>
              <a:t>운영모델 재설계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45752" y="4901183"/>
            <a:ext cx="841248" cy="310896"/>
          </a:xfrm>
          <a:prstGeom prst="round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45752" y="4901183"/>
            <a:ext cx="841248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1">
                <a:solidFill>
                  <a:srgbClr val="F4F7FB"/>
                </a:solidFill>
                <a:latin typeface="Malgun Gothic"/>
              </a:rPr>
              <a:t>12개월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788152"/>
            <a:ext cx="7772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9CA7B8"/>
                </a:solidFill>
                <a:latin typeface="Malgun Gothic"/>
              </a:rPr>
              <a:t>자율성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08760" y="5934456"/>
            <a:ext cx="9738360" cy="38100"/>
          </a:xfrm>
          <a:prstGeom prst="rect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5788152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900" b="1">
                <a:solidFill>
                  <a:srgbClr val="42D6E8"/>
                </a:solidFill>
                <a:latin typeface="Malgun Gothic"/>
              </a:rPr>
              <a:t>높음 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9CA7B8"/>
                </a:solidFill>
                <a:latin typeface="Malgun Gothic"/>
              </a:rPr>
              <a:t>AI Agent Operating Model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71316"/>
                </a:solidFill>
                <a:latin typeface="Malgun Gothic"/>
              </a:rPr>
              <a:t>04 · TARGET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Malgun Gothic"/>
              </a:rPr>
              <a:t>5개 계층을 분리해야 모델이 바뀌어도 운영체계는 유지됩니다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9CA7B8"/>
                </a:solidFill>
                <a:latin typeface="Malgun Gothic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664208"/>
            <a:ext cx="10698480" cy="603504"/>
          </a:xfrm>
          <a:prstGeom prst="roundRect">
            <a:avLst/>
          </a:prstGeom>
          <a:solidFill>
            <a:srgbClr val="25313D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664208"/>
            <a:ext cx="210312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50" b="1">
                <a:solidFill>
                  <a:srgbClr val="42D6E8"/>
                </a:solidFill>
                <a:latin typeface="Malgun Gothic"/>
              </a:rPr>
              <a:t>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664208"/>
            <a:ext cx="726948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Malgun Gothic"/>
              </a:rPr>
              <a:t>Chat · Portal ·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1664208"/>
            <a:ext cx="41148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950" b="1">
                <a:solidFill>
                  <a:srgbClr val="9CA7B8"/>
                </a:solidFill>
                <a:latin typeface="Malgun Gothic"/>
              </a:rPr>
              <a:t>L1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450592"/>
            <a:ext cx="10698480" cy="603504"/>
          </a:xfrm>
          <a:prstGeom prst="roundRect">
            <a:avLst/>
          </a:prstGeom>
          <a:solidFill>
            <a:srgbClr val="233044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50592"/>
            <a:ext cx="210312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50" b="1">
                <a:solidFill>
                  <a:srgbClr val="42D6E8"/>
                </a:solidFill>
                <a:latin typeface="Malgun Gothic"/>
              </a:rPr>
              <a:t>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450592"/>
            <a:ext cx="726948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Malgun Gothic"/>
              </a:rPr>
              <a:t>Router · Planner ·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2450592"/>
            <a:ext cx="41148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950" b="1">
                <a:solidFill>
                  <a:srgbClr val="9CA7B8"/>
                </a:solidFill>
                <a:latin typeface="Malgun Gothic"/>
              </a:rPr>
              <a:t>L2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36976"/>
            <a:ext cx="10698480" cy="603504"/>
          </a:xfrm>
          <a:prstGeom prst="roundRect">
            <a:avLst/>
          </a:prstGeom>
          <a:solidFill>
            <a:srgbClr val="292747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236976"/>
            <a:ext cx="210312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50" b="1">
                <a:solidFill>
                  <a:srgbClr val="9B7BFF"/>
                </a:solidFill>
                <a:latin typeface="Malgun Gothic"/>
              </a:rPr>
              <a:t>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236976"/>
            <a:ext cx="726948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Malgun Gothic"/>
              </a:rPr>
              <a:t>Proposal · VOC · Report ·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3236976"/>
            <a:ext cx="41148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950" b="1">
                <a:solidFill>
                  <a:srgbClr val="9CA7B8"/>
                </a:solidFill>
                <a:latin typeface="Malgun Gothic"/>
              </a:rPr>
              <a:t>L3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023360"/>
            <a:ext cx="10698480" cy="603504"/>
          </a:xfrm>
          <a:prstGeom prst="roundRect">
            <a:avLst/>
          </a:prstGeom>
          <a:solidFill>
            <a:srgbClr val="222A37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023360"/>
            <a:ext cx="210312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50" b="1">
                <a:solidFill>
                  <a:srgbClr val="9B7BFF"/>
                </a:solidFill>
                <a:latin typeface="Malgun Gothic"/>
              </a:rP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023360"/>
            <a:ext cx="726948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Malgun Gothic"/>
              </a:rPr>
              <a:t>Knowledge · CRM · 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4023360"/>
            <a:ext cx="41148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950" b="1">
                <a:solidFill>
                  <a:srgbClr val="9CA7B8"/>
                </a:solidFill>
                <a:latin typeface="Malgun Gothic"/>
              </a:rPr>
              <a:t>L4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809744"/>
            <a:ext cx="10698480" cy="603504"/>
          </a:xfrm>
          <a:prstGeom prst="roundRect">
            <a:avLst/>
          </a:prstGeom>
          <a:solidFill>
            <a:srgbClr val="2F2A25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809744"/>
            <a:ext cx="210312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50" b="1">
                <a:solidFill>
                  <a:srgbClr val="9B7BFF"/>
                </a:solidFill>
                <a:latin typeface="Malgun Gothic"/>
              </a:rPr>
              <a:t>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809744"/>
            <a:ext cx="726948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Malgun Gothic"/>
              </a:rPr>
              <a:t>Policy · Approval · Audit · Kill Switch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4809744"/>
            <a:ext cx="411480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950" b="1">
                <a:solidFill>
                  <a:srgbClr val="9CA7B8"/>
                </a:solidFill>
                <a:latin typeface="Malgun Gothic"/>
              </a:rPr>
              <a:t>L5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03120" y="5779008"/>
            <a:ext cx="8001000" cy="438912"/>
          </a:xfrm>
          <a:prstGeom prst="roundRect">
            <a:avLst/>
          </a:prstGeom>
          <a:solidFill>
            <a:srgbClr val="20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5779008"/>
            <a:ext cx="800100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F4F7FB"/>
                </a:solidFill>
                <a:latin typeface="Malgun Gothic"/>
              </a:rPr>
              <a:t>원칙  ·  최소 권한  /  추적 가능  /  사람 승인  /  즉시 중단 가능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9CA7B8"/>
                </a:solidFill>
                <a:latin typeface="Malgun Gothic"/>
              </a:rPr>
              <a:t>AI Agent Operating Model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71316"/>
                </a:solidFill>
                <a:latin typeface="Malgun Gothic"/>
              </a:rPr>
              <a:t>05 · TRUST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Malgun Gothic"/>
              </a:rPr>
              <a:t>위험 등급에 따라 자동화 범위와 승인 게이트를 다르게 설계합니다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9CA7B8"/>
                </a:solidFill>
                <a:latin typeface="Malgun Gothic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00784"/>
            <a:ext cx="10771632" cy="768096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822960" cy="768096"/>
          </a:xfrm>
          <a:prstGeom prst="roundRect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00784"/>
            <a:ext cx="82296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316"/>
                </a:solidFill>
                <a:latin typeface="Malgun Gothic"/>
              </a:rPr>
              <a:t>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00784"/>
            <a:ext cx="141732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Malgun Gothic"/>
              </a:rPr>
              <a:t>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700784"/>
            <a:ext cx="201168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9CA7B8"/>
                </a:solidFill>
                <a:latin typeface="Malgun Gothic"/>
              </a:rPr>
              <a:t>요약·분류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00784"/>
            <a:ext cx="242316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42D6E8"/>
                </a:solidFill>
                <a:latin typeface="Malgun Gothic"/>
              </a:rPr>
              <a:t>자동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1700784"/>
            <a:ext cx="114300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1">
                <a:solidFill>
                  <a:srgbClr val="9CA7B8"/>
                </a:solidFill>
                <a:latin typeface="Malgun Gothic"/>
              </a:rPr>
              <a:t>AUDIT 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688336"/>
            <a:ext cx="10771632" cy="768096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688336"/>
            <a:ext cx="822960" cy="768096"/>
          </a:xfrm>
          <a:prstGeom prst="round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688336"/>
            <a:ext cx="82296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316"/>
                </a:solidFill>
                <a:latin typeface="Malgun Gothic"/>
              </a:rPr>
              <a:t>L2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688336"/>
            <a:ext cx="141732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Malgun Gothic"/>
              </a:rP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88336"/>
            <a:ext cx="201168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9CA7B8"/>
                </a:solidFill>
                <a:latin typeface="Malgun Gothic"/>
              </a:rPr>
              <a:t>내부 초안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88336"/>
            <a:ext cx="242316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9B7BFF"/>
                </a:solidFill>
                <a:latin typeface="Malgun Gothic"/>
              </a:rPr>
              <a:t>사후 표본 검토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688336"/>
            <a:ext cx="114300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1">
                <a:solidFill>
                  <a:srgbClr val="9CA7B8"/>
                </a:solidFill>
                <a:latin typeface="Malgun Gothic"/>
              </a:rPr>
              <a:t>AUDIT 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675888"/>
            <a:ext cx="10771632" cy="768096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3675888"/>
            <a:ext cx="822960" cy="768096"/>
          </a:xfrm>
          <a:prstGeom prst="roundRect">
            <a:avLst/>
          </a:prstGeom>
          <a:solidFill>
            <a:srgbClr val="FFB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675888"/>
            <a:ext cx="82296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316"/>
                </a:solidFill>
                <a:latin typeface="Malgun Gothic"/>
              </a:rP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675888"/>
            <a:ext cx="141732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Malgun Gothic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675888"/>
            <a:ext cx="201168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9CA7B8"/>
                </a:solidFill>
                <a:latin typeface="Malgun Gothic"/>
              </a:rPr>
              <a:t>외부 발송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75888"/>
            <a:ext cx="242316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FFB75E"/>
                </a:solidFill>
                <a:latin typeface="Malgun Gothic"/>
              </a:rPr>
              <a:t>사전 사람 승인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3675888"/>
            <a:ext cx="114300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1">
                <a:solidFill>
                  <a:srgbClr val="9CA7B8"/>
                </a:solidFill>
                <a:latin typeface="Malgun Gothic"/>
              </a:rPr>
              <a:t>AUDIT LOG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663440"/>
            <a:ext cx="10771632" cy="768096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4663440"/>
            <a:ext cx="822960" cy="768096"/>
          </a:xfrm>
          <a:prstGeom prst="roundRect">
            <a:avLst/>
          </a:prstGeom>
          <a:solidFill>
            <a:srgbClr val="F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663440"/>
            <a:ext cx="82296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316"/>
                </a:solidFill>
                <a:latin typeface="Malgun Gothic"/>
              </a:rPr>
              <a:t>L4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663440"/>
            <a:ext cx="141732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Malgun Gothic"/>
              </a:rPr>
              <a:t>CRITICAL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663440"/>
            <a:ext cx="201168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9CA7B8"/>
                </a:solidFill>
                <a:latin typeface="Malgun Gothic"/>
              </a:rPr>
              <a:t>정책·금전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663440"/>
            <a:ext cx="242316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FF6B73"/>
                </a:solidFill>
                <a:latin typeface="Malgun Gothic"/>
              </a:rPr>
              <a:t>자동 실행 금지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4663440"/>
            <a:ext cx="1143000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1">
                <a:solidFill>
                  <a:srgbClr val="9CA7B8"/>
                </a:solidFill>
                <a:latin typeface="Malgun Gothic"/>
              </a:rPr>
              <a:t>AUDIT LOG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65960" y="5788152"/>
            <a:ext cx="8229600" cy="438912"/>
          </a:xfrm>
          <a:prstGeom prst="roundRect">
            <a:avLst/>
          </a:prstGeom>
          <a:solidFill>
            <a:srgbClr val="25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65960" y="5788152"/>
            <a:ext cx="822960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F4F7FB"/>
                </a:solidFill>
                <a:latin typeface="Malgun Gothic"/>
              </a:rPr>
              <a:t>Kill Switch는 모든 등급에 공통 적용하고, 권한·프롬프트·출력 이력을 보존합니다.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9CA7B8"/>
                </a:solidFill>
                <a:latin typeface="Malgun Gothic"/>
              </a:rPr>
              <a:t>AI Agent Operating Model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71316"/>
                </a:solidFill>
                <a:latin typeface="Malgun Gothic"/>
              </a:rPr>
              <a:t>06 ·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Malgun Gothic"/>
              </a:rPr>
              <a:t>가치와 실행 가능성이 모두 높은 두 업무를 1단계에 배치합니다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9CA7B8"/>
                </a:solidFill>
                <a:latin typeface="Malgun Gothic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627632"/>
            <a:ext cx="9601200" cy="4370832"/>
          </a:xfrm>
          <a:prstGeom prst="rect">
            <a:avLst/>
          </a:prstGeom>
          <a:solidFill>
            <a:srgbClr val="171C25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06440" y="1627632"/>
            <a:ext cx="25400" cy="4370831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3813048"/>
            <a:ext cx="9601200" cy="25400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10512"/>
            <a:ext cx="502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1">
                <a:solidFill>
                  <a:srgbClr val="9CA7B8"/>
                </a:solidFill>
                <a:latin typeface="Malgun Gothic"/>
              </a:rPr>
              <a:t>VALUE 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6071616"/>
            <a:ext cx="17830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50" b="1">
                <a:solidFill>
                  <a:srgbClr val="9CA7B8"/>
                </a:solidFill>
                <a:latin typeface="Malgun Gothic"/>
              </a:rPr>
              <a:t>FEASIBILITY →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0" y="2212848"/>
            <a:ext cx="1051560" cy="1051560"/>
          </a:xfrm>
          <a:prstGeom prst="ellipse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2583180"/>
            <a:ext cx="127101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071316"/>
                </a:solidFill>
                <a:latin typeface="Malgun Gothic"/>
              </a:rPr>
              <a:t>주간 보고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2898648"/>
            <a:ext cx="914400" cy="914400"/>
          </a:xfrm>
          <a:prstGeom prst="ellipse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0791" y="3200400"/>
            <a:ext cx="113385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071316"/>
                </a:solidFill>
                <a:latin typeface="Malgun Gothic"/>
              </a:rPr>
              <a:t>VOC 분류</a:t>
            </a:r>
          </a:p>
        </p:txBody>
      </p:sp>
      <p:sp>
        <p:nvSpPr>
          <p:cNvPr id="15" name="Oval 14"/>
          <p:cNvSpPr/>
          <p:nvPr/>
        </p:nvSpPr>
        <p:spPr>
          <a:xfrm>
            <a:off x="6629400" y="2148840"/>
            <a:ext cx="1170432" cy="1170432"/>
          </a:xfrm>
          <a:prstGeom prst="ellipse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578608"/>
            <a:ext cx="1389888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제안서 초안</a:t>
            </a:r>
          </a:p>
        </p:txBody>
      </p:sp>
      <p:sp>
        <p:nvSpPr>
          <p:cNvPr id="17" name="Oval 16"/>
          <p:cNvSpPr/>
          <p:nvPr/>
        </p:nvSpPr>
        <p:spPr>
          <a:xfrm>
            <a:off x="8138160" y="4370832"/>
            <a:ext cx="1024128" cy="1024128"/>
          </a:xfrm>
          <a:prstGeom prst="ellipse">
            <a:avLst/>
          </a:prstGeom>
          <a:solidFill>
            <a:srgbClr val="FFB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2" y="4727448"/>
            <a:ext cx="124358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캠페인 QA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4617720"/>
            <a:ext cx="896112" cy="896112"/>
          </a:xfrm>
          <a:prstGeom prst="ellipse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4910328"/>
            <a:ext cx="1115568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지식 검색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43584" y="1874519"/>
            <a:ext cx="1024128" cy="310896"/>
          </a:xfrm>
          <a:prstGeom prst="roundRect">
            <a:avLst/>
          </a:prstGeom>
          <a:solidFill>
            <a:srgbClr val="243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43584" y="1874519"/>
            <a:ext cx="1024128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42D6E8"/>
                </a:solidFill>
                <a:latin typeface="Malgun Gothic"/>
              </a:rPr>
              <a:t>WAVE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9CA7B8"/>
                </a:solidFill>
                <a:latin typeface="Malgun Gothic"/>
              </a:rPr>
              <a:t>AI Agent Operating Model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547104"/>
            <a:ext cx="51663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50" b="0">
                <a:solidFill>
                  <a:srgbClr val="9CA7B8"/>
                </a:solidFill>
                <a:latin typeface="Malgun Gothic"/>
              </a:rPr>
              <a:t>우선순위는 내부 시나리오 가정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71316"/>
                </a:solidFill>
                <a:latin typeface="Malgun Gothic"/>
              </a:rPr>
              <a:t>07 ·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Malgun Gothic"/>
              </a:rPr>
              <a:t>잠재 시간가치는 3.612억원, 1년 가치/투자 비율은 1.72×입니다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9CA7B8"/>
                </a:solidFill>
                <a:latin typeface="Malgun Gothic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19072"/>
            <a:ext cx="2468880" cy="1481328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19072"/>
            <a:ext cx="100584" cy="1481328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93392"/>
            <a:ext cx="1874519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4F7FB"/>
                </a:solidFill>
                <a:latin typeface="Malgun Gothic"/>
              </a:rPr>
              <a:t>2.1억원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15184"/>
            <a:ext cx="1874519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1">
                <a:solidFill>
                  <a:srgbClr val="9CA7B8"/>
                </a:solidFill>
                <a:latin typeface="Malgun Gothic"/>
              </a:rPr>
              <a:t>1년 총투자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19072"/>
            <a:ext cx="2468880" cy="1481328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719072"/>
            <a:ext cx="100584" cy="1481328"/>
          </a:xfrm>
          <a:prstGeom prst="rect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1993392"/>
            <a:ext cx="1874519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4F7FB"/>
                </a:solidFill>
                <a:latin typeface="Malgun Gothic"/>
              </a:rPr>
              <a:t>3.612억원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615184"/>
            <a:ext cx="1874519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1">
                <a:solidFill>
                  <a:srgbClr val="9CA7B8"/>
                </a:solidFill>
                <a:latin typeface="Malgun Gothic"/>
              </a:rPr>
              <a:t>잠재 연간 시간가치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19072"/>
            <a:ext cx="2468880" cy="1481328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719072"/>
            <a:ext cx="100584" cy="1481328"/>
          </a:xfrm>
          <a:prstGeom prst="rect">
            <a:avLst/>
          </a:prstGeom>
          <a:solidFill>
            <a:srgbClr val="B6E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993392"/>
            <a:ext cx="1874519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4F7FB"/>
                </a:solidFill>
                <a:latin typeface="Malgun Gothic"/>
              </a:rPr>
              <a:t>1.72×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615184"/>
            <a:ext cx="1874519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1">
                <a:solidFill>
                  <a:srgbClr val="9CA7B8"/>
                </a:solidFill>
                <a:latin typeface="Malgun Gothic"/>
              </a:rPr>
              <a:t>단순 가치/투자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719072"/>
            <a:ext cx="2240280" cy="1481328"/>
          </a:xfrm>
          <a:prstGeom prst="roundRect">
            <a:avLst/>
          </a:prstGeom>
          <a:solidFill>
            <a:srgbClr val="25242F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91472" y="1984248"/>
            <a:ext cx="731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1">
                <a:solidFill>
                  <a:srgbClr val="9B7BFF"/>
                </a:solidFill>
                <a:latin typeface="Malgun Gothic"/>
              </a:rPr>
              <a:t>산식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2414016"/>
            <a:ext cx="1627632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F4F7FB"/>
                </a:solidFill>
                <a:latin typeface="Malgun Gothic"/>
              </a:rPr>
              <a:t>8,600h × 42,000원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712463"/>
            <a:ext cx="36576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Malgun Gothic"/>
              </a:rPr>
              <a:t>실현률 민감도 · 시간가치(억원)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279392"/>
            <a:ext cx="566928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9CA7B8"/>
                </a:solidFill>
                <a:latin typeface="Malgun Gothic"/>
              </a:rPr>
              <a:t>50%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4315968"/>
            <a:ext cx="3889400" cy="219456"/>
          </a:xfrm>
          <a:prstGeom prst="roundRect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0032" y="4279392"/>
            <a:ext cx="6858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F4F7FB"/>
                </a:solidFill>
                <a:latin typeface="Malgun Gothic"/>
              </a:rPr>
              <a:t>1.81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809744"/>
            <a:ext cx="566928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9CA7B8"/>
                </a:solidFill>
                <a:latin typeface="Malgun Gothic"/>
              </a:rPr>
              <a:t>70%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4846320"/>
            <a:ext cx="5436565" cy="219456"/>
          </a:xfrm>
          <a:prstGeom prst="roundRect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4809744"/>
            <a:ext cx="6858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F4F7FB"/>
                </a:solidFill>
                <a:latin typeface="Malgun Gothic"/>
              </a:rPr>
              <a:t>2.53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340096"/>
            <a:ext cx="566928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9CA7B8"/>
                </a:solidFill>
                <a:latin typeface="Malgun Gothic"/>
              </a:rPr>
              <a:t>100%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17320" y="5376672"/>
            <a:ext cx="7757312" cy="219456"/>
          </a:xfrm>
          <a:prstGeom prst="roundRect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0032" y="5340096"/>
            <a:ext cx="6858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F4F7FB"/>
                </a:solidFill>
                <a:latin typeface="Malgun Gothic"/>
              </a:rPr>
              <a:t>3.61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3977639"/>
            <a:ext cx="2194560" cy="1572768"/>
          </a:xfrm>
          <a:prstGeom prst="roundRect">
            <a:avLst/>
          </a:prstGeom>
          <a:solidFill>
            <a:srgbClr val="22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55480" y="4270248"/>
            <a:ext cx="658368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1">
                <a:solidFill>
                  <a:srgbClr val="FFB75E"/>
                </a:solidFill>
                <a:latin typeface="Malgun Gothic"/>
              </a:rPr>
              <a:t>주의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4645152"/>
            <a:ext cx="16002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F4F7FB"/>
                </a:solidFill>
                <a:latin typeface="Malgun Gothic"/>
              </a:rPr>
              <a:t>실제 현금 절감이 아닌
잠재 시간가치입니다.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9CA7B8"/>
                </a:solidFill>
                <a:latin typeface="Malgun Gothic"/>
              </a:rPr>
              <a:t>AI Agent Operating Model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547104"/>
            <a:ext cx="51663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50" b="0">
                <a:solidFill>
                  <a:srgbClr val="9CA7B8"/>
                </a:solidFill>
                <a:latin typeface="Malgun Gothic"/>
              </a:rPr>
              <a:t>내부 시나리오 가정 · 세전 단순 비교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71316"/>
                </a:solidFill>
                <a:latin typeface="Malgun Gothic"/>
              </a:rPr>
              <a:t>08 · 90-DAY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Malgun Gothic"/>
              </a:rPr>
              <a:t>각 단계의 산출물과 Scale Gate를 먼저 고정합니다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9CA7B8"/>
                </a:solidFill>
                <a:latin typeface="Malgun Gothic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127248"/>
            <a:ext cx="10149840" cy="50800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2761488"/>
            <a:ext cx="749808" cy="749808"/>
          </a:xfrm>
          <a:prstGeom prst="ellipse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761488"/>
            <a:ext cx="749808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71316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83080"/>
            <a:ext cx="25603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42D6E8"/>
                </a:solidFill>
                <a:latin typeface="Malgun Gothic"/>
              </a:rPr>
              <a:t>D01–20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48840"/>
            <a:ext cx="25603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50" b="1">
                <a:solidFill>
                  <a:srgbClr val="F4F7FB"/>
                </a:solidFill>
                <a:latin typeface="Malgun Gothic"/>
              </a:rPr>
              <a:t>DISCOVER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40480"/>
            <a:ext cx="2560320" cy="1143000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087368"/>
            <a:ext cx="21945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Malgun Gothic"/>
              </a:rPr>
              <a:t>업무·리스크 기준선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166360"/>
            <a:ext cx="25603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9CA7B8"/>
                </a:solidFill>
                <a:latin typeface="Malgun Gothic"/>
              </a:rPr>
              <a:t>CPO</a:t>
            </a:r>
          </a:p>
        </p:txBody>
      </p:sp>
      <p:sp>
        <p:nvSpPr>
          <p:cNvPr id="14" name="Oval 13"/>
          <p:cNvSpPr/>
          <p:nvPr/>
        </p:nvSpPr>
        <p:spPr>
          <a:xfrm>
            <a:off x="4407408" y="2761488"/>
            <a:ext cx="749808" cy="749808"/>
          </a:xfrm>
          <a:prstGeom prst="ellipse">
            <a:avLst/>
          </a:prstGeom>
          <a:solidFill>
            <a:srgbClr val="9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2761488"/>
            <a:ext cx="749808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71316"/>
                </a:solidFill>
                <a:latin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1783080"/>
            <a:ext cx="25603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9B7BFF"/>
                </a:solidFill>
                <a:latin typeface="Malgun Gothic"/>
              </a:rPr>
              <a:t>D21–45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148840"/>
            <a:ext cx="25603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50" b="1">
                <a:solidFill>
                  <a:srgbClr val="F4F7FB"/>
                </a:solidFill>
                <a:latin typeface="Malgun Gothic"/>
              </a:rPr>
              <a:t>BUILD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11296" y="3840480"/>
            <a:ext cx="2560320" cy="1143000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94176" y="4087368"/>
            <a:ext cx="21945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Malgun Gothic"/>
              </a:rPr>
              <a:t>스킬·가드레일·로그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5166360"/>
            <a:ext cx="25603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9CA7B8"/>
                </a:solidFill>
                <a:latin typeface="Malgun Gothic"/>
              </a:rPr>
              <a:t>Tech Lead</a:t>
            </a:r>
          </a:p>
        </p:txBody>
      </p:sp>
      <p:sp>
        <p:nvSpPr>
          <p:cNvPr id="21" name="Oval 20"/>
          <p:cNvSpPr/>
          <p:nvPr/>
        </p:nvSpPr>
        <p:spPr>
          <a:xfrm>
            <a:off x="7260336" y="2761488"/>
            <a:ext cx="749808" cy="749808"/>
          </a:xfrm>
          <a:prstGeom prst="ellipse">
            <a:avLst/>
          </a:prstGeom>
          <a:solidFill>
            <a:srgbClr val="B6E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761488"/>
            <a:ext cx="749808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71316"/>
                </a:solidFill>
                <a:latin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1783080"/>
            <a:ext cx="25603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B6E36F"/>
                </a:solidFill>
                <a:latin typeface="Malgun Gothic"/>
              </a:rPr>
              <a:t>D46–75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148840"/>
            <a:ext cx="25603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50" b="1">
                <a:solidFill>
                  <a:srgbClr val="F4F7FB"/>
                </a:solidFill>
                <a:latin typeface="Malgun Gothic"/>
              </a:rPr>
              <a:t>PILOT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3840480"/>
            <a:ext cx="2560320" cy="1143000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7104" y="4087368"/>
            <a:ext cx="21945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Malgun Gothic"/>
              </a:rPr>
              <a:t>실사용·KPI 측정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5166360"/>
            <a:ext cx="25603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9CA7B8"/>
                </a:solidFill>
                <a:latin typeface="Malgun Gothic"/>
              </a:rPr>
              <a:t>Pilot Owner</a:t>
            </a:r>
          </a:p>
        </p:txBody>
      </p:sp>
      <p:sp>
        <p:nvSpPr>
          <p:cNvPr id="28" name="Oval 27"/>
          <p:cNvSpPr/>
          <p:nvPr/>
        </p:nvSpPr>
        <p:spPr>
          <a:xfrm>
            <a:off x="10113264" y="2761488"/>
            <a:ext cx="749808" cy="749808"/>
          </a:xfrm>
          <a:prstGeom prst="ellipse">
            <a:avLst/>
          </a:prstGeom>
          <a:solidFill>
            <a:srgbClr val="FFB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13264" y="2761488"/>
            <a:ext cx="749808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71316"/>
                </a:solidFill>
                <a:latin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1783080"/>
            <a:ext cx="25603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B75E"/>
                </a:solidFill>
                <a:latin typeface="Malgun Gothic"/>
              </a:rPr>
              <a:t>D76–90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2148840"/>
            <a:ext cx="25603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50" b="1">
                <a:solidFill>
                  <a:srgbClr val="F4F7FB"/>
                </a:solidFill>
                <a:latin typeface="Malgun Gothic"/>
              </a:rPr>
              <a:t>SCALE GATE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17152" y="3840480"/>
            <a:ext cx="2560320" cy="1143000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00032" y="4087368"/>
            <a:ext cx="21945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Malgun Gothic"/>
              </a:rPr>
              <a:t>확산/중단 의사결정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7152" y="5166360"/>
            <a:ext cx="25603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9CA7B8"/>
                </a:solidFill>
                <a:latin typeface="Malgun Gothic"/>
              </a:rPr>
              <a:t>SteerCo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9CA7B8"/>
                </a:solidFill>
                <a:latin typeface="Malgun Gothic"/>
              </a:rPr>
              <a:t>AI Agent Operating Model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71316"/>
                </a:solidFill>
                <a:latin typeface="Malgun Gothic"/>
              </a:rPr>
              <a:t>09 ·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Malgun Gothic"/>
              </a:rPr>
              <a:t>90일 투자는 세 가지 승인과 네 개 성공 게이트로 통제합니다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9CA7B8"/>
                </a:solidFill>
                <a:latin typeface="Malgun Gothi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7360"/>
            <a:ext cx="27432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Malgun Gothic"/>
              </a:rPr>
              <a:t>승인 요청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31720"/>
            <a:ext cx="4800600" cy="621792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331720"/>
            <a:ext cx="438912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42D6E8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31720"/>
            <a:ext cx="3566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F4F7FB"/>
                </a:solidFill>
                <a:latin typeface="Malgun Gothic"/>
              </a:rPr>
              <a:t>1단계 투자 2.1억원 한도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154679"/>
            <a:ext cx="4800600" cy="621792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154679"/>
            <a:ext cx="438912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42D6E8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154679"/>
            <a:ext cx="3566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F4F7FB"/>
                </a:solidFill>
                <a:latin typeface="Malgun Gothic"/>
              </a:rPr>
              <a:t>전담 스쿼드 6명 구성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77639"/>
            <a:ext cx="4800600" cy="621792"/>
          </a:xfrm>
          <a:prstGeom prst="roundRect">
            <a:avLst/>
          </a:prstGeom>
          <a:solidFill>
            <a:srgbClr val="1A1F2A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977639"/>
            <a:ext cx="438912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42D6E8"/>
                </a:solidFill>
                <a:latin typeface="Malgun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77639"/>
            <a:ext cx="3566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F4F7FB"/>
                </a:solidFill>
                <a:latin typeface="Malgun Gothic"/>
              </a:rPr>
              <a:t>최소 권한 데이터 접근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737360"/>
            <a:ext cx="27432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Malgun Gothic"/>
              </a:rPr>
              <a:t>Scale 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331720"/>
            <a:ext cx="2359152" cy="914400"/>
          </a:xfrm>
          <a:prstGeom prst="roundRect">
            <a:avLst/>
          </a:prstGeom>
          <a:solidFill>
            <a:srgbClr val="202A33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496312"/>
            <a:ext cx="5029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1">
                <a:solidFill>
                  <a:srgbClr val="B6E36F"/>
                </a:solidFill>
                <a:latin typeface="Malgun Gothic"/>
              </a:rPr>
              <a:t>G1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88920"/>
            <a:ext cx="19202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F4F7FB"/>
                </a:solidFill>
                <a:latin typeface="Malgun Gothic"/>
              </a:rPr>
              <a:t>채택률 ≥ 60%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14232" y="2331720"/>
            <a:ext cx="2359152" cy="914400"/>
          </a:xfrm>
          <a:prstGeom prst="roundRect">
            <a:avLst/>
          </a:prstGeom>
          <a:solidFill>
            <a:srgbClr val="202A33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97112" y="2496312"/>
            <a:ext cx="5029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1">
                <a:solidFill>
                  <a:srgbClr val="B6E36F"/>
                </a:solidFill>
                <a:latin typeface="Malgun Gothic"/>
              </a:rPr>
              <a:t>G2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2" y="2788920"/>
            <a:ext cx="19202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F4F7FB"/>
                </a:solidFill>
                <a:latin typeface="Malgun Gothic"/>
              </a:rPr>
              <a:t>KPI 2개 이상 개선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538728"/>
            <a:ext cx="2359152" cy="914400"/>
          </a:xfrm>
          <a:prstGeom prst="roundRect">
            <a:avLst/>
          </a:prstGeom>
          <a:solidFill>
            <a:srgbClr val="202A33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703320"/>
            <a:ext cx="5029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1">
                <a:solidFill>
                  <a:srgbClr val="B6E36F"/>
                </a:solidFill>
                <a:latin typeface="Malgun Gothic"/>
              </a:rPr>
              <a:t>G3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995928"/>
            <a:ext cx="19202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F4F7FB"/>
                </a:solidFill>
                <a:latin typeface="Malgun Gothic"/>
              </a:rPr>
              <a:t>고위험 자동 실행 0건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14232" y="3538728"/>
            <a:ext cx="2359152" cy="914400"/>
          </a:xfrm>
          <a:prstGeom prst="roundRect">
            <a:avLst/>
          </a:prstGeom>
          <a:solidFill>
            <a:srgbClr val="202A33"/>
          </a:solidFill>
          <a:ln w="12700">
            <a:solidFill>
              <a:srgbClr val="303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97112" y="3703320"/>
            <a:ext cx="5029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1">
                <a:solidFill>
                  <a:srgbClr val="B6E36F"/>
                </a:solidFill>
                <a:latin typeface="Malgun Gothic"/>
              </a:rPr>
              <a:t>G4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7112" y="3995928"/>
            <a:ext cx="19202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F4F7FB"/>
                </a:solidFill>
                <a:latin typeface="Malgun Gothic"/>
              </a:rPr>
              <a:t>감사 로그 완전성 100%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5257800"/>
            <a:ext cx="10469880" cy="621792"/>
          </a:xfrm>
          <a:prstGeom prst="roundRect">
            <a:avLst/>
          </a:prstGeom>
          <a:solidFill>
            <a:srgbClr val="42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257800"/>
            <a:ext cx="1046988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71316"/>
                </a:solidFill>
                <a:latin typeface="Malgun Gothic"/>
              </a:rPr>
              <a:t>NEXT 72 HOURS  ·  오너 확정 → 킥오프 → 데이터 접근 워크숍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3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9CA7B8"/>
                </a:solidFill>
                <a:latin typeface="Malgun Gothic"/>
              </a:rPr>
              <a:t>AI Agent Operating Model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6547104"/>
            <a:ext cx="51663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50" b="0">
                <a:solidFill>
                  <a:srgbClr val="9CA7B8"/>
                </a:solidFill>
                <a:latin typeface="Malgun Gothic"/>
              </a:rPr>
              <a:t>경영진 의사결정용 · 내부 시나리오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