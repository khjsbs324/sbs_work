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06640" y="0"/>
            <a:ext cx="4782312" cy="6858000"/>
          </a:xfrm>
          <a:prstGeom prst="rect">
            <a:avLst/>
          </a:prstGeom>
          <a:solidFill>
            <a:srgbClr val="0B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92440" y="1188720"/>
            <a:ext cx="3383280" cy="566928"/>
          </a:xfrm>
          <a:prstGeom prst="round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92440" y="2148840"/>
            <a:ext cx="2880360" cy="566928"/>
          </a:xfrm>
          <a:prstGeom prst="round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92440" y="3108960"/>
            <a:ext cx="2331720" cy="566928"/>
          </a:xfrm>
          <a:prstGeom prst="roundRect">
            <a:avLst/>
          </a:prstGeom>
          <a:solidFill>
            <a:srgbClr val="3A8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92440" y="4069080"/>
            <a:ext cx="1783080" cy="566928"/>
          </a:xfrm>
          <a:prstGeom prst="roundRect">
            <a:avLst/>
          </a:prstGeom>
          <a:solidFill>
            <a:srgbClr val="3A8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658368"/>
            <a:ext cx="1691640" cy="310896"/>
          </a:xfrm>
          <a:prstGeom prst="round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8368"/>
            <a:ext cx="16916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62D2B"/>
                </a:solidFill>
                <a:latin typeface="Malgun Gothic"/>
              </a:rPr>
              <a:t>8-WEEK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81328"/>
            <a:ext cx="640080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>
                <a:solidFill>
                  <a:srgbClr val="F5FBFC"/>
                </a:solidFill>
                <a:latin typeface="Malgun Gothic"/>
              </a:rPr>
              <a:t>AI 에이전트
업무 자동화 파일럿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310128"/>
            <a:ext cx="53035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A7C0C8"/>
                </a:solidFill>
                <a:latin typeface="Malgun Gothic"/>
              </a:rPr>
              <a:t>팀장·실무 리더 의사결정용 제안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6108192"/>
            <a:ext cx="38404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A7C0C8"/>
                </a:solidFill>
                <a:latin typeface="Malgun Gothic"/>
              </a:rPr>
              <a:t>내부 검토용 · 가정 기반 예시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65760"/>
            <a:ext cx="1508760" cy="310896"/>
          </a:xfrm>
          <a:prstGeom prst="round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50876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62D2B"/>
                </a:solidFill>
                <a:latin typeface="Malgun Gothic"/>
              </a:rPr>
              <a:t>01 ·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51560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02A38"/>
                </a:solidFill>
                <a:latin typeface="Malgun Gothic"/>
              </a:rPr>
              <a:t>8주 동안 3개 프로세스의 ‘초안–검토’ 구간을 검증합니다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F7380"/>
                </a:solidFill>
                <a:latin typeface="Malgun Gothic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47088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084831"/>
            <a:ext cx="173736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700" b="1">
                <a:solidFill>
                  <a:srgbClr val="102A38"/>
                </a:solidFill>
                <a:latin typeface="Malgun Gothic"/>
              </a:rPr>
              <a:t>420h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670048"/>
            <a:ext cx="17373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5F7380"/>
                </a:solidFill>
                <a:latin typeface="Malgun Gothic"/>
              </a:rPr>
              <a:t>월 반복업무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847088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82112" y="2084831"/>
            <a:ext cx="173736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700" b="1">
                <a:solidFill>
                  <a:srgbClr val="102A38"/>
                </a:solidFill>
                <a:latin typeface="Malgun Gothic"/>
              </a:rPr>
              <a:t>20명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2670048"/>
            <a:ext cx="17373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5F7380"/>
                </a:solidFill>
                <a:latin typeface="Malgun Gothic"/>
              </a:rPr>
              <a:t>파일럿 사용자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1847088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13831" y="2084831"/>
            <a:ext cx="173736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700" b="1">
                <a:solidFill>
                  <a:srgbClr val="102A38"/>
                </a:solidFill>
                <a:latin typeface="Malgun Gothic"/>
              </a:rPr>
              <a:t>3개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13831" y="2670048"/>
            <a:ext cx="17373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5F7380"/>
                </a:solidFill>
                <a:latin typeface="Malgun Gothic"/>
              </a:rPr>
              <a:t>대상 프로세스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847088"/>
            <a:ext cx="3675887" cy="3246120"/>
          </a:xfrm>
          <a:prstGeom prst="roundRect">
            <a:avLst/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148840"/>
            <a:ext cx="297180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F5FBFC"/>
                </a:solidFill>
                <a:latin typeface="Malgun Gothic"/>
              </a:rPr>
              <a:t>오늘 필요한 결정</a:t>
            </a:r>
          </a:p>
        </p:txBody>
      </p:sp>
      <p:sp>
        <p:nvSpPr>
          <p:cNvPr id="17" name="Oval 16"/>
          <p:cNvSpPr/>
          <p:nvPr/>
        </p:nvSpPr>
        <p:spPr>
          <a:xfrm>
            <a:off x="8138160" y="2880360"/>
            <a:ext cx="228600" cy="228600"/>
          </a:xfrm>
          <a:prstGeom prst="ellipse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2779776"/>
            <a:ext cx="248716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50" b="1">
                <a:solidFill>
                  <a:srgbClr val="F5FBFC"/>
                </a:solidFill>
                <a:latin typeface="Malgun Gothic"/>
              </a:rPr>
              <a:t>대상 업무 3개 승인</a:t>
            </a:r>
          </a:p>
        </p:txBody>
      </p:sp>
      <p:sp>
        <p:nvSpPr>
          <p:cNvPr id="19" name="Oval 18"/>
          <p:cNvSpPr/>
          <p:nvPr/>
        </p:nvSpPr>
        <p:spPr>
          <a:xfrm>
            <a:off x="8138160" y="3493008"/>
            <a:ext cx="228600" cy="228600"/>
          </a:xfrm>
          <a:prstGeom prst="ellipse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3392424"/>
            <a:ext cx="248716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50" b="1">
                <a:solidFill>
                  <a:srgbClr val="F5FBFC"/>
                </a:solidFill>
                <a:latin typeface="Malgun Gothic"/>
              </a:rPr>
              <a:t>실무 사용자 20명 배정</a:t>
            </a:r>
          </a:p>
        </p:txBody>
      </p:sp>
      <p:sp>
        <p:nvSpPr>
          <p:cNvPr id="21" name="Oval 20"/>
          <p:cNvSpPr/>
          <p:nvPr/>
        </p:nvSpPr>
        <p:spPr>
          <a:xfrm>
            <a:off x="8138160" y="4105656"/>
            <a:ext cx="228600" cy="228600"/>
          </a:xfrm>
          <a:prstGeom prst="ellipse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8" y="4005072"/>
            <a:ext cx="248716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50" b="1">
                <a:solidFill>
                  <a:srgbClr val="F5FBFC"/>
                </a:solidFill>
                <a:latin typeface="Malgun Gothic"/>
              </a:rPr>
              <a:t>데이터 접근 범위 확정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703320"/>
            <a:ext cx="6629400" cy="1389888"/>
          </a:xfrm>
          <a:prstGeom prst="roundRect">
            <a:avLst/>
          </a:prstGeom>
          <a:solidFill>
            <a:srgbClr val="DF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931920"/>
            <a:ext cx="621792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087C72"/>
                </a:solidFill>
                <a:latin typeface="Malgun Gothic"/>
              </a:rPr>
              <a:t>가설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315968"/>
            <a:ext cx="592531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02A38"/>
                </a:solidFill>
                <a:latin typeface="Malgun Gothic"/>
              </a:rPr>
              <a:t>초안 자동화 + 사람 승인으로 속도와 품질을 동시에 개선할 수 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510528"/>
            <a:ext cx="11000232" cy="12700"/>
          </a:xfrm>
          <a:prstGeom prst="rect">
            <a:avLst/>
          </a:prstGeom>
          <a:solidFill>
            <a:srgbClr val="D5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43891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5F7380"/>
                </a:solidFill>
                <a:latin typeface="Malgun Gothic"/>
              </a:rPr>
              <a:t>AI 에이전트 업무 자동화 파일럿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547104"/>
            <a:ext cx="516636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50" b="0">
                <a:solidFill>
                  <a:srgbClr val="5F7380"/>
                </a:solidFill>
                <a:latin typeface="Malgun Gothic"/>
              </a:rPr>
              <a:t>가정 기반 예시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65760"/>
            <a:ext cx="1508760" cy="310896"/>
          </a:xfrm>
          <a:prstGeom prst="round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50876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62D2B"/>
                </a:solidFill>
                <a:latin typeface="Malgun Gothic"/>
              </a:rPr>
              <a:t>02 ·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51560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02A38"/>
                </a:solidFill>
                <a:latin typeface="Malgun Gothic"/>
              </a:rPr>
              <a:t>수작업·재작업·대기시간이 같은 지점에 겹칩니다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F7380"/>
                </a:solidFill>
                <a:latin typeface="Malgun Gothic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3401568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4173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700" b="1">
                <a:solidFill>
                  <a:srgbClr val="102A38"/>
                </a:solidFill>
                <a:latin typeface="Malgun Gothic"/>
              </a:rPr>
              <a:t>420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139696"/>
            <a:ext cx="7315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5F7380"/>
                </a:solidFill>
                <a:latin typeface="Malgun Gothic"/>
              </a:rPr>
              <a:t>시간/월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2560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5F7380"/>
                </a:solidFill>
                <a:latin typeface="Malgun Gothic"/>
              </a:rPr>
              <a:t>수작업 취합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783080"/>
            <a:ext cx="3401568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011680"/>
            <a:ext cx="14173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700" b="1">
                <a:solidFill>
                  <a:srgbClr val="102A38"/>
                </a:solidFill>
                <a:latin typeface="Malgun Gothic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139696"/>
            <a:ext cx="7315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5F7380"/>
                </a:solidFill>
                <a:latin typeface="Malgun Gothic"/>
              </a:rPr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633472"/>
            <a:ext cx="2560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5F7380"/>
                </a:solidFill>
                <a:latin typeface="Malgun Gothic"/>
              </a:rPr>
              <a:t>재작업률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783080"/>
            <a:ext cx="3401568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011680"/>
            <a:ext cx="14173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700" b="1">
                <a:solidFill>
                  <a:srgbClr val="102A38"/>
                </a:solidFill>
                <a:latin typeface="Malgun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2139696"/>
            <a:ext cx="7315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5F7380"/>
                </a:solidFill>
                <a:latin typeface="Malgun Gothic"/>
              </a:rPr>
              <a:t>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633472"/>
            <a:ext cx="25603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5F7380"/>
                </a:solidFill>
                <a:latin typeface="Malgun Gothic"/>
              </a:rPr>
              <a:t>검토 SLA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11430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1">
                <a:solidFill>
                  <a:srgbClr val="5F7380"/>
                </a:solidFill>
                <a:latin typeface="Malgun Gothic"/>
              </a:rPr>
              <a:t>자료 찾기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57400" y="3739896"/>
            <a:ext cx="8046720" cy="201168"/>
          </a:xfrm>
          <a:prstGeom prst="roundRect">
            <a:avLst/>
          </a:prstGeom>
          <a:solidFill>
            <a:srgbClr val="D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057400" y="3739896"/>
            <a:ext cx="6276441" cy="201168"/>
          </a:xfrm>
          <a:prstGeom prst="roundRect">
            <a:avLst/>
          </a:prstGeom>
          <a:solidFill>
            <a:srgbClr val="3A8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0" y="3703320"/>
            <a:ext cx="43891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102A38"/>
                </a:solidFill>
                <a:latin typeface="Malgun Gothic"/>
              </a:rPr>
              <a:t>78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142231"/>
            <a:ext cx="11430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1">
                <a:solidFill>
                  <a:srgbClr val="5F7380"/>
                </a:solidFill>
                <a:latin typeface="Malgun Gothic"/>
              </a:rPr>
              <a:t>초안 작성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57400" y="4178807"/>
            <a:ext cx="8046720" cy="201168"/>
          </a:xfrm>
          <a:prstGeom prst="roundRect">
            <a:avLst/>
          </a:prstGeom>
          <a:solidFill>
            <a:srgbClr val="D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057400" y="4178807"/>
            <a:ext cx="4988966" cy="201168"/>
          </a:xfrm>
          <a:prstGeom prst="round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0" y="4142231"/>
            <a:ext cx="43891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102A38"/>
                </a:solidFill>
                <a:latin typeface="Malgun Gothic"/>
              </a:rPr>
              <a:t>62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581144"/>
            <a:ext cx="11430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1">
                <a:solidFill>
                  <a:srgbClr val="5F7380"/>
                </a:solidFill>
                <a:latin typeface="Malgun Gothic"/>
              </a:rPr>
              <a:t>형식 맞추기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57400" y="4617720"/>
            <a:ext cx="8046720" cy="201168"/>
          </a:xfrm>
          <a:prstGeom prst="roundRect">
            <a:avLst/>
          </a:prstGeom>
          <a:solidFill>
            <a:srgbClr val="D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057400" y="4617720"/>
            <a:ext cx="3862425" cy="201168"/>
          </a:xfrm>
          <a:prstGeom prst="roundRect">
            <a:avLst/>
          </a:prstGeom>
          <a:solidFill>
            <a:srgbClr val="7E9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0" y="4581144"/>
            <a:ext cx="43891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102A38"/>
                </a:solidFill>
                <a:latin typeface="Malgun Gothic"/>
              </a:rPr>
              <a:t>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020056"/>
            <a:ext cx="11430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1">
                <a:solidFill>
                  <a:srgbClr val="5F7380"/>
                </a:solidFill>
                <a:latin typeface="Malgun Gothic"/>
              </a:rPr>
              <a:t>검토 대기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57400" y="5056632"/>
            <a:ext cx="8046720" cy="201168"/>
          </a:xfrm>
          <a:prstGeom prst="roundRect">
            <a:avLst/>
          </a:prstGeom>
          <a:solidFill>
            <a:srgbClr val="D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057400" y="5056632"/>
            <a:ext cx="6920179" cy="201168"/>
          </a:xfrm>
          <a:prstGeom prst="round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0" y="5020056"/>
            <a:ext cx="43891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102A38"/>
                </a:solidFill>
                <a:latin typeface="Malgun Gothic"/>
              </a:rPr>
              <a:t>86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510528"/>
            <a:ext cx="11000232" cy="12700"/>
          </a:xfrm>
          <a:prstGeom prst="rect">
            <a:avLst/>
          </a:prstGeom>
          <a:solidFill>
            <a:srgbClr val="D5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43891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5F7380"/>
                </a:solidFill>
                <a:latin typeface="Malgun Gothic"/>
              </a:rPr>
              <a:t>AI 에이전트 업무 자동화 파일럿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547104"/>
            <a:ext cx="516636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50" b="0">
                <a:solidFill>
                  <a:srgbClr val="5F7380"/>
                </a:solidFill>
                <a:latin typeface="Malgun Gothic"/>
              </a:rPr>
              <a:t>교육용 가정치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65760"/>
            <a:ext cx="1508760" cy="310896"/>
          </a:xfrm>
          <a:prstGeom prst="round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50876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62D2B"/>
                </a:solidFill>
                <a:latin typeface="Malgun Gothic"/>
              </a:rPr>
              <a:t>03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51560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02A38"/>
                </a:solidFill>
                <a:latin typeface="Malgun Gothic"/>
              </a:rPr>
              <a:t>요청을 받는 순간부터 사람 승인까지 하나의 흐름으로 묶습니다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F7380"/>
                </a:solidFill>
                <a:latin typeface="Malgun Gothic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187451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514600"/>
            <a:ext cx="5029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13B8A6"/>
                </a:solidFill>
                <a:latin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862072"/>
            <a:ext cx="15544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102A38"/>
                </a:solidFill>
                <a:latin typeface="Malgun Gothic"/>
              </a:rPr>
              <a:t>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246120"/>
            <a:ext cx="155448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0">
                <a:solidFill>
                  <a:srgbClr val="5F7380"/>
                </a:solidFill>
                <a:latin typeface="Malgun Gothic"/>
              </a:rPr>
              <a:t>요청·파일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39" y="2816352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3B8A6"/>
                </a:solidFill>
                <a:latin typeface="Malgun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2331720"/>
            <a:ext cx="1874519" cy="1508760"/>
          </a:xfrm>
          <a:prstGeom prst="roundRect">
            <a:avLst/>
          </a:prstGeom>
          <a:solidFill>
            <a:srgbClr val="102A38"/>
          </a:solidFill>
          <a:ln w="12700">
            <a:solidFill>
              <a:srgbClr val="D5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2514600"/>
            <a:ext cx="5029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13B8A6"/>
                </a:solidFill>
                <a:latin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862072"/>
            <a:ext cx="15544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F5FBFC"/>
                </a:solidFill>
                <a:latin typeface="Malgun Gothic"/>
              </a:rPr>
              <a:t>ORCHESTRATOR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3246120"/>
            <a:ext cx="155448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0">
                <a:solidFill>
                  <a:srgbClr val="A7C0C8"/>
                </a:solidFill>
                <a:latin typeface="Malgun Gothic"/>
              </a:rPr>
              <a:t>계획·분기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2816352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3B8A6"/>
                </a:solidFill>
                <a:latin typeface="Malgun Gothi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59" y="2331720"/>
            <a:ext cx="187451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0951" y="2514600"/>
            <a:ext cx="5029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13B8A6"/>
                </a:solidFill>
                <a:latin typeface="Malgun Gothi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1" y="2862072"/>
            <a:ext cx="15544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102A38"/>
                </a:solidFill>
                <a:latin typeface="Malgun Gothic"/>
              </a:rPr>
              <a:t>SKILLS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1" y="3246120"/>
            <a:ext cx="155448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0">
                <a:solidFill>
                  <a:srgbClr val="5F7380"/>
                </a:solidFill>
                <a:latin typeface="Malgun Gothic"/>
              </a:rPr>
              <a:t>업무 절차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79" y="2816352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3B8A6"/>
                </a:solidFill>
                <a:latin typeface="Malgun Gothi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2331720"/>
            <a:ext cx="187451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62671" y="2514600"/>
            <a:ext cx="5029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13B8A6"/>
                </a:solidFill>
                <a:latin typeface="Malgun Gothi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1" y="2862072"/>
            <a:ext cx="15544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102A38"/>
                </a:solidFill>
                <a:latin typeface="Malgun Gothic"/>
              </a:rPr>
              <a:t>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1" y="3246120"/>
            <a:ext cx="155448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0">
                <a:solidFill>
                  <a:srgbClr val="5F7380"/>
                </a:solidFill>
                <a:latin typeface="Malgun Gothic"/>
              </a:rPr>
              <a:t>문서·데이터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816352"/>
            <a:ext cx="4572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3B8A6"/>
                </a:solidFill>
                <a:latin typeface="Malgun Gothic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2331720"/>
            <a:ext cx="1874519" cy="1508760"/>
          </a:xfrm>
          <a:prstGeom prst="roundRect">
            <a:avLst/>
          </a:prstGeom>
          <a:solidFill>
            <a:srgbClr val="102A38"/>
          </a:solidFill>
          <a:ln w="12700">
            <a:solidFill>
              <a:srgbClr val="D5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94392" y="2514600"/>
            <a:ext cx="5029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13B8A6"/>
                </a:solidFill>
                <a:latin typeface="Malgun Gothic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4392" y="2862072"/>
            <a:ext cx="15544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F5FBFC"/>
                </a:solidFill>
                <a:latin typeface="Malgun Gothic"/>
              </a:rPr>
              <a:t>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4392" y="3246120"/>
            <a:ext cx="155448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0">
                <a:solidFill>
                  <a:srgbClr val="A7C0C8"/>
                </a:solidFill>
                <a:latin typeface="Malgun Gothic"/>
              </a:rPr>
              <a:t>사람 승인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20240" y="4462272"/>
            <a:ext cx="8339327" cy="749808"/>
          </a:xfrm>
          <a:prstGeom prst="roundRect">
            <a:avLst/>
          </a:prstGeom>
          <a:solidFill>
            <a:srgbClr val="DF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20240" y="4462272"/>
            <a:ext cx="8339327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87C72"/>
                </a:solidFill>
                <a:latin typeface="Malgun Gothic"/>
              </a:rPr>
              <a:t>자동 실행 범위는 제한하고, 외부 발송·정책 판단은 REVIEW 단계에서 승인합니다.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510528"/>
            <a:ext cx="11000232" cy="12700"/>
          </a:xfrm>
          <a:prstGeom prst="rect">
            <a:avLst/>
          </a:prstGeom>
          <a:solidFill>
            <a:srgbClr val="D5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6547104"/>
            <a:ext cx="43891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5F7380"/>
                </a:solidFill>
                <a:latin typeface="Malgun Gothic"/>
              </a:rPr>
              <a:t>AI 에이전트 업무 자동화 파일럿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65760"/>
            <a:ext cx="1508760" cy="310896"/>
          </a:xfrm>
          <a:prstGeom prst="round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50876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62D2B"/>
                </a:solidFill>
                <a:latin typeface="Malgun Gothic"/>
              </a:rPr>
              <a:t>04 · PRIORITY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51560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02A38"/>
                </a:solidFill>
                <a:latin typeface="Malgun Gothic"/>
              </a:rPr>
              <a:t>효과가 크고 구현이 쉬운 두 업무부터 시작합니다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F7380"/>
                </a:solidFill>
                <a:latin typeface="Malgun Gothic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755648"/>
            <a:ext cx="9509760" cy="4096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52160" y="1755648"/>
            <a:ext cx="25400" cy="4096512"/>
          </a:xfrm>
          <a:prstGeom prst="rect">
            <a:avLst/>
          </a:prstGeom>
          <a:solidFill>
            <a:srgbClr val="D5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3803904"/>
            <a:ext cx="9509760" cy="25400"/>
          </a:xfrm>
          <a:prstGeom prst="rect">
            <a:avLst/>
          </a:prstGeom>
          <a:solidFill>
            <a:srgbClr val="D5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47088"/>
            <a:ext cx="530352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50" b="1">
                <a:solidFill>
                  <a:srgbClr val="5F7380"/>
                </a:solidFill>
                <a:latin typeface="Malgun Gothic"/>
              </a:rPr>
              <a:t>효과 높음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285232"/>
            <a:ext cx="530352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50" b="1">
                <a:solidFill>
                  <a:srgbClr val="5F7380"/>
                </a:solidFill>
                <a:latin typeface="Malgun Gothic"/>
              </a:rPr>
              <a:t>효과 낮음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925312"/>
            <a:ext cx="13716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50" b="1">
                <a:solidFill>
                  <a:srgbClr val="5F7380"/>
                </a:solidFill>
                <a:latin typeface="Malgun Gothic"/>
              </a:rPr>
              <a:t>구현 쉬움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925312"/>
            <a:ext cx="1463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950" b="1">
                <a:solidFill>
                  <a:srgbClr val="5F7380"/>
                </a:solidFill>
                <a:latin typeface="Malgun Gothic"/>
              </a:rPr>
              <a:t>구현 어려움</a:t>
            </a:r>
          </a:p>
        </p:txBody>
      </p:sp>
      <p:sp>
        <p:nvSpPr>
          <p:cNvPr id="13" name="Oval 12"/>
          <p:cNvSpPr/>
          <p:nvPr/>
        </p:nvSpPr>
        <p:spPr>
          <a:xfrm>
            <a:off x="2926080" y="2286000"/>
            <a:ext cx="1005840" cy="1005840"/>
          </a:xfrm>
          <a:prstGeom prst="ellipse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2624327"/>
            <a:ext cx="12801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주간 보고</a:t>
            </a:r>
          </a:p>
        </p:txBody>
      </p:sp>
      <p:sp>
        <p:nvSpPr>
          <p:cNvPr id="15" name="Oval 14"/>
          <p:cNvSpPr/>
          <p:nvPr/>
        </p:nvSpPr>
        <p:spPr>
          <a:xfrm>
            <a:off x="4297680" y="3017520"/>
            <a:ext cx="914400" cy="914400"/>
          </a:xfrm>
          <a:prstGeom prst="ellipse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3310127"/>
            <a:ext cx="11887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VOC 분류</a:t>
            </a:r>
          </a:p>
        </p:txBody>
      </p:sp>
      <p:sp>
        <p:nvSpPr>
          <p:cNvPr id="17" name="Oval 16"/>
          <p:cNvSpPr/>
          <p:nvPr/>
        </p:nvSpPr>
        <p:spPr>
          <a:xfrm>
            <a:off x="6675120" y="2331720"/>
            <a:ext cx="1097280" cy="1097280"/>
          </a:xfrm>
          <a:prstGeom prst="ellipse">
            <a:avLst/>
          </a:prstGeom>
          <a:solidFill>
            <a:srgbClr val="3A8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2715768"/>
            <a:ext cx="13716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제안서 초안</a:t>
            </a:r>
          </a:p>
        </p:txBody>
      </p:sp>
      <p:sp>
        <p:nvSpPr>
          <p:cNvPr id="19" name="Oval 18"/>
          <p:cNvSpPr/>
          <p:nvPr/>
        </p:nvSpPr>
        <p:spPr>
          <a:xfrm>
            <a:off x="8138160" y="4343400"/>
            <a:ext cx="1005840" cy="1005840"/>
          </a:xfrm>
          <a:prstGeom prst="ellipse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4681728"/>
            <a:ext cx="12801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캠페인 QA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4681728"/>
            <a:ext cx="868680" cy="868680"/>
          </a:xfrm>
          <a:prstGeom prst="ellipse">
            <a:avLst/>
          </a:prstGeom>
          <a:solidFill>
            <a:srgbClr val="7E9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79" y="4951476"/>
            <a:ext cx="11430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지식 검색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53312" y="1965960"/>
            <a:ext cx="1078992" cy="310896"/>
          </a:xfrm>
          <a:prstGeom prst="roundRect">
            <a:avLst/>
          </a:prstGeom>
          <a:solidFill>
            <a:srgbClr val="DF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53312" y="1965960"/>
            <a:ext cx="1078992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087C72"/>
                </a:solidFill>
                <a:latin typeface="Malgun Gothic"/>
              </a:rPr>
              <a:t>1차 후보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1000232" cy="12700"/>
          </a:xfrm>
          <a:prstGeom prst="rect">
            <a:avLst/>
          </a:prstGeom>
          <a:solidFill>
            <a:srgbClr val="D5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43891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5F7380"/>
                </a:solidFill>
                <a:latin typeface="Malgun Gothic"/>
              </a:rPr>
              <a:t>AI 에이전트 업무 자동화 파일럿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547104"/>
            <a:ext cx="516636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50" b="0">
                <a:solidFill>
                  <a:srgbClr val="5F7380"/>
                </a:solidFill>
                <a:latin typeface="Malgun Gothic"/>
              </a:rPr>
              <a:t>효과·난이도는 인터뷰 기반 가정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65760"/>
            <a:ext cx="1508760" cy="310896"/>
          </a:xfrm>
          <a:prstGeom prst="round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50876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62D2B"/>
                </a:solidFill>
                <a:latin typeface="Malgun Gothic"/>
              </a:rPr>
              <a:t>05 ·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51560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02A38"/>
                </a:solidFill>
                <a:latin typeface="Malgun Gothic"/>
              </a:rPr>
              <a:t>AI는 초안을 만들고, 책임자는 기준에 따라 승인합니다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F7380"/>
                </a:solidFill>
                <a:latin typeface="Malgun Gothic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1828800" cy="749808"/>
          </a:xfrm>
          <a:prstGeom prst="roundRect">
            <a:avLst/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82880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5FBFC"/>
                </a:solidFill>
                <a:latin typeface="Malgun Gothic"/>
              </a:rPr>
              <a:t>REQUESTER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691640"/>
            <a:ext cx="2743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7792" y="176479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102A38"/>
                </a:solidFill>
                <a:latin typeface="Malgun Gothic"/>
              </a:rPr>
              <a:t>업무 요청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2" y="2057400"/>
            <a:ext cx="22860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50" b="0">
                <a:solidFill>
                  <a:srgbClr val="5F7380"/>
                </a:solidFill>
                <a:latin typeface="Malgun Gothic"/>
              </a:rPr>
              <a:t>목표·자료·기한 입력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40680" y="2057400"/>
            <a:ext cx="1965959" cy="25400"/>
          </a:xfrm>
          <a:prstGeom prst="rect">
            <a:avLst/>
          </a:prstGeom>
          <a:solidFill>
            <a:srgbClr val="D5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24927" y="1810512"/>
            <a:ext cx="960120" cy="493776"/>
          </a:xfrm>
          <a:prstGeom prst="roundRect">
            <a:avLst/>
          </a:prstGeom>
          <a:solidFill>
            <a:srgbClr val="D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4927" y="1810512"/>
            <a:ext cx="960120" cy="4937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02A38"/>
                </a:solidFill>
                <a:latin typeface="Malgun Gothic"/>
              </a:rPr>
              <a:t>사람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679192"/>
            <a:ext cx="1828800" cy="749808"/>
          </a:xfrm>
          <a:prstGeom prst="roundRect">
            <a:avLst/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79192"/>
            <a:ext cx="182880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5FBFC"/>
                </a:solidFill>
                <a:latin typeface="Malgun Gothic"/>
              </a:rPr>
              <a:t>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2679192"/>
            <a:ext cx="2743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792" y="275234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102A38"/>
                </a:solidFill>
                <a:latin typeface="Malgun Gothic"/>
              </a:rPr>
              <a:t>초안 생성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2" y="3044952"/>
            <a:ext cx="22860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50" b="0">
                <a:solidFill>
                  <a:srgbClr val="5F7380"/>
                </a:solidFill>
                <a:latin typeface="Malgun Gothic"/>
              </a:rPr>
              <a:t>규칙 적용·근거 기록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40680" y="3044952"/>
            <a:ext cx="1965959" cy="25400"/>
          </a:xfrm>
          <a:prstGeom prst="rect">
            <a:avLst/>
          </a:prstGeom>
          <a:solidFill>
            <a:srgbClr val="D5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24927" y="2798064"/>
            <a:ext cx="960120" cy="493776"/>
          </a:xfrm>
          <a:prstGeom prst="round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4927" y="2798064"/>
            <a:ext cx="960120" cy="4937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062D2B"/>
                </a:solidFill>
                <a:latin typeface="Malgun Gothic"/>
              </a:rPr>
              <a:t>자동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666744"/>
            <a:ext cx="1828800" cy="749808"/>
          </a:xfrm>
          <a:prstGeom prst="roundRect">
            <a:avLst/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666744"/>
            <a:ext cx="182880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5FBFC"/>
                </a:solidFill>
                <a:latin typeface="Malgun Gothic"/>
              </a:rPr>
              <a:t>REVIEWER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97480" y="3666744"/>
            <a:ext cx="2743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07792" y="3739896"/>
            <a:ext cx="22860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102A38"/>
                </a:solidFill>
                <a:latin typeface="Malgun Gothic"/>
              </a:rPr>
              <a:t>품질 승인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07792" y="4032504"/>
            <a:ext cx="22860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50" b="0">
                <a:solidFill>
                  <a:srgbClr val="5F7380"/>
                </a:solidFill>
                <a:latin typeface="Malgun Gothic"/>
              </a:rPr>
              <a:t>수정·반려·승인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40680" y="4032504"/>
            <a:ext cx="1965959" cy="25400"/>
          </a:xfrm>
          <a:prstGeom prst="rect">
            <a:avLst/>
          </a:prstGeom>
          <a:solidFill>
            <a:srgbClr val="D5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24927" y="3785615"/>
            <a:ext cx="960120" cy="493776"/>
          </a:xfrm>
          <a:prstGeom prst="roundRect">
            <a:avLst/>
          </a:prstGeom>
          <a:solidFill>
            <a:srgbClr val="D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24927" y="3785615"/>
            <a:ext cx="960120" cy="4937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02A38"/>
                </a:solidFill>
                <a:latin typeface="Malgun Gothic"/>
              </a:rPr>
              <a:t>사람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654296"/>
            <a:ext cx="1828800" cy="749808"/>
          </a:xfrm>
          <a:prstGeom prst="roundRect">
            <a:avLst/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654296"/>
            <a:ext cx="182880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5FBFC"/>
                </a:solidFill>
                <a:latin typeface="Malgun Gothic"/>
              </a:rPr>
              <a:t>OWNER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97480" y="4654296"/>
            <a:ext cx="2743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07792" y="4727448"/>
            <a:ext cx="22860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102A38"/>
                </a:solidFill>
                <a:latin typeface="Malgun Gothic"/>
              </a:rPr>
              <a:t>성과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07792" y="5020056"/>
            <a:ext cx="22860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50" b="0">
                <a:solidFill>
                  <a:srgbClr val="5F7380"/>
                </a:solidFill>
                <a:latin typeface="Malgun Gothic"/>
              </a:rPr>
              <a:t>KPI·권한·리스크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40680" y="5020056"/>
            <a:ext cx="1965959" cy="25400"/>
          </a:xfrm>
          <a:prstGeom prst="rect">
            <a:avLst/>
          </a:prstGeom>
          <a:solidFill>
            <a:srgbClr val="D5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24927" y="4773168"/>
            <a:ext cx="960120" cy="493776"/>
          </a:xfrm>
          <a:prstGeom prst="roundRect">
            <a:avLst/>
          </a:prstGeom>
          <a:solidFill>
            <a:srgbClr val="D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24927" y="4773168"/>
            <a:ext cx="960120" cy="4937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02A38"/>
                </a:solidFill>
                <a:latin typeface="Malgun Gothic"/>
              </a:rPr>
              <a:t>사람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23960" y="1691640"/>
            <a:ext cx="2450592" cy="3712463"/>
          </a:xfrm>
          <a:prstGeom prst="roundRect">
            <a:avLst/>
          </a:prstGeom>
          <a:solidFill>
            <a:srgbClr val="FFF5E9"/>
          </a:solidFill>
          <a:ln w="12700">
            <a:solidFill>
              <a:srgbClr val="F2D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98280" y="1993392"/>
            <a:ext cx="1874519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8B511B"/>
                </a:solidFill>
                <a:latin typeface="Malgun Gothic"/>
              </a:rPr>
              <a:t>승인 게이트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2670048"/>
            <a:ext cx="256032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C26A19"/>
                </a:solidFill>
                <a:latin typeface="Malgun Gothic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36608" y="2633472"/>
            <a:ext cx="14173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6F4A27"/>
                </a:solidFill>
                <a:latin typeface="Malgun Gothic"/>
              </a:rPr>
              <a:t>외부 발송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3236976"/>
            <a:ext cx="256032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C26A19"/>
                </a:solidFill>
                <a:latin typeface="Malgun Gothic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36608" y="3200400"/>
            <a:ext cx="14173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6F4A27"/>
                </a:solidFill>
                <a:latin typeface="Malgun Gothic"/>
              </a:rPr>
              <a:t>개인정보 사용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3803904"/>
            <a:ext cx="256032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C26A19"/>
                </a:solidFill>
                <a:latin typeface="Malgun Gothic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36608" y="3767328"/>
            <a:ext cx="14173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6F4A27"/>
                </a:solidFill>
                <a:latin typeface="Malgun Gothic"/>
              </a:rPr>
              <a:t>정책·가격 판단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4370831"/>
            <a:ext cx="256032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C26A19"/>
                </a:solidFill>
                <a:latin typeface="Malgun Gothic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36608" y="4334256"/>
            <a:ext cx="14173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6F4A27"/>
                </a:solidFill>
                <a:latin typeface="Malgun Gothic"/>
              </a:rPr>
              <a:t>대량 변경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6510528"/>
            <a:ext cx="11000232" cy="12700"/>
          </a:xfrm>
          <a:prstGeom prst="rect">
            <a:avLst/>
          </a:prstGeom>
          <a:solidFill>
            <a:srgbClr val="D5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6547104"/>
            <a:ext cx="43891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5F7380"/>
                </a:solidFill>
                <a:latin typeface="Malgun Gothic"/>
              </a:rPr>
              <a:t>AI 에이전트 업무 자동화 파일럿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65760"/>
            <a:ext cx="1508760" cy="310896"/>
          </a:xfrm>
          <a:prstGeom prst="round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50876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62D2B"/>
                </a:solidFill>
                <a:latin typeface="Malgun Gothic"/>
              </a:rPr>
              <a:t>06 ·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51560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02A38"/>
                </a:solidFill>
                <a:latin typeface="Malgun Gothic"/>
              </a:rPr>
              <a:t>8주는 진단–설계–실행–검증의 네 단계로 운영합니다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F7380"/>
                </a:solidFill>
                <a:latin typeface="Malgun Gothic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450592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450592" cy="475488"/>
          </a:xfrm>
          <a:prstGeom prst="round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2450592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W1–2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78608"/>
            <a:ext cx="196596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1">
                <a:solidFill>
                  <a:srgbClr val="102A38"/>
                </a:solidFill>
                <a:latin typeface="Malgun Gothic"/>
              </a:rPr>
              <a:t>진단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236976"/>
            <a:ext cx="7315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1">
                <a:solidFill>
                  <a:srgbClr val="5F7380"/>
                </a:solidFill>
                <a:latin typeface="Malgun Gothic"/>
              </a:rPr>
              <a:t>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493008"/>
            <a:ext cx="19202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02A38"/>
                </a:solidFill>
                <a:latin typeface="Malgun Gothic"/>
              </a:rPr>
              <a:t>Process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005072"/>
            <a:ext cx="7315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1">
                <a:solidFill>
                  <a:srgbClr val="5F7380"/>
                </a:solidFill>
                <a:latin typeface="Malgun Gothic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261104"/>
            <a:ext cx="19202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02A38"/>
                </a:solidFill>
                <a:latin typeface="Malgun Gothic"/>
              </a:rPr>
              <a:t>업무·기준선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38728" y="1828800"/>
            <a:ext cx="2450592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38728" y="1828800"/>
            <a:ext cx="2450592" cy="475488"/>
          </a:xfrm>
          <a:prstGeom prst="round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728" y="1828800"/>
            <a:ext cx="2450592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W3–4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2578608"/>
            <a:ext cx="196596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1">
                <a:solidFill>
                  <a:srgbClr val="102A38"/>
                </a:solidFill>
                <a:latin typeface="Malgun Gothic"/>
              </a:rPr>
              <a:t>설계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3236976"/>
            <a:ext cx="7315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1">
                <a:solidFill>
                  <a:srgbClr val="5F7380"/>
                </a:solidFill>
                <a:latin typeface="Malgun Gothic"/>
              </a:rPr>
              <a:t>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3493008"/>
            <a:ext cx="19202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02A38"/>
                </a:solidFill>
                <a:latin typeface="Malgun Gothic"/>
              </a:rPr>
              <a:t>Agent Squad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4005072"/>
            <a:ext cx="7315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1">
                <a:solidFill>
                  <a:srgbClr val="5F7380"/>
                </a:solidFill>
                <a:latin typeface="Malgun Gothic"/>
              </a:rP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4261104"/>
            <a:ext cx="19202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02A38"/>
                </a:solidFill>
                <a:latin typeface="Malgun Gothic"/>
              </a:rPr>
              <a:t>프롬프트·가드레일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91656" y="1828800"/>
            <a:ext cx="2450592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91656" y="1828800"/>
            <a:ext cx="2450592" cy="475488"/>
          </a:xfrm>
          <a:prstGeom prst="roundRect">
            <a:avLst/>
          </a:prstGeom>
          <a:solidFill>
            <a:srgbClr val="3A8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1656" y="1828800"/>
            <a:ext cx="2450592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W5–6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2578608"/>
            <a:ext cx="196596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1">
                <a:solidFill>
                  <a:srgbClr val="102A38"/>
                </a:solidFill>
                <a:latin typeface="Malgun Gothic"/>
              </a:rPr>
              <a:t>실행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3236976"/>
            <a:ext cx="7315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1">
                <a:solidFill>
                  <a:srgbClr val="5F7380"/>
                </a:solidFill>
                <a:latin typeface="Malgun Gothic"/>
              </a:rPr>
              <a:t>OWNER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3493008"/>
            <a:ext cx="19202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02A38"/>
                </a:solidFill>
                <a:latin typeface="Malgun Gothic"/>
              </a:rPr>
              <a:t>Pilot Users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4005072"/>
            <a:ext cx="7315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1">
                <a:solidFill>
                  <a:srgbClr val="5F7380"/>
                </a:solidFill>
                <a:latin typeface="Malgun Gothic"/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4261104"/>
            <a:ext cx="19202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02A38"/>
                </a:solidFill>
                <a:latin typeface="Malgun Gothic"/>
              </a:rPr>
              <a:t>실사용 로그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44584" y="1828800"/>
            <a:ext cx="2450592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244584" y="1828800"/>
            <a:ext cx="2450592" cy="475488"/>
          </a:xfrm>
          <a:prstGeom prst="roundRect">
            <a:avLst/>
          </a:prstGeom>
          <a:solidFill>
            <a:srgbClr val="3A8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44584" y="1828800"/>
            <a:ext cx="2450592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W7–8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54896" y="2578608"/>
            <a:ext cx="196596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1">
                <a:solidFill>
                  <a:srgbClr val="102A38"/>
                </a:solidFill>
                <a:latin typeface="Malgun Gothic"/>
              </a:rPr>
              <a:t>검증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54896" y="3236976"/>
            <a:ext cx="7315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1">
                <a:solidFill>
                  <a:srgbClr val="5F7380"/>
                </a:solidFill>
                <a:latin typeface="Malgun Gothic"/>
              </a:rPr>
              <a:t>OWNER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54896" y="3493008"/>
            <a:ext cx="19202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02A38"/>
                </a:solidFill>
                <a:latin typeface="Malgun Gothic"/>
              </a:rPr>
              <a:t>PMO + Owner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54896" y="4005072"/>
            <a:ext cx="7315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1">
                <a:solidFill>
                  <a:srgbClr val="5F7380"/>
                </a:solidFill>
                <a:latin typeface="Malgun Gothic"/>
              </a:rPr>
              <a:t>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54896" y="4261104"/>
            <a:ext cx="19202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02A38"/>
                </a:solidFill>
                <a:latin typeface="Malgun Gothic"/>
              </a:rPr>
              <a:t>KPI·확산안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6510528"/>
            <a:ext cx="11000232" cy="12700"/>
          </a:xfrm>
          <a:prstGeom prst="rect">
            <a:avLst/>
          </a:prstGeom>
          <a:solidFill>
            <a:srgbClr val="D5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6547104"/>
            <a:ext cx="43891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5F7380"/>
                </a:solidFill>
                <a:latin typeface="Malgun Gothic"/>
              </a:rPr>
              <a:t>AI 에이전트 업무 자동화 파일럿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65760"/>
            <a:ext cx="1508760" cy="310896"/>
          </a:xfrm>
          <a:prstGeom prst="round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50876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062D2B"/>
                </a:solidFill>
                <a:latin typeface="Malgun Gothic"/>
              </a:rPr>
              <a:t>07 ·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51560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102A38"/>
                </a:solidFill>
                <a:latin typeface="Malgun Gothic"/>
              </a:rPr>
              <a:t>성공을 판단할 KPI와 오늘의 승인 항목을 함께 고정합니다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84048"/>
            <a:ext cx="5029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F7380"/>
                </a:solidFill>
                <a:latin typeface="Malgun Gothic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55648"/>
            <a:ext cx="212140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55648"/>
            <a:ext cx="128016" cy="1572768"/>
          </a:xfrm>
          <a:prstGeom prst="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29968"/>
            <a:ext cx="14630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500" b="1">
                <a:solidFill>
                  <a:srgbClr val="102A38"/>
                </a:solidFill>
                <a:latin typeface="Malgun Gothic"/>
              </a:rPr>
              <a:t>35%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633472"/>
            <a:ext cx="155448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1">
                <a:solidFill>
                  <a:srgbClr val="5F7380"/>
                </a:solidFill>
                <a:latin typeface="Malgun Gothic"/>
              </a:rPr>
              <a:t>초안 시간 절감 목표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81528" y="1755648"/>
            <a:ext cx="212140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81528" y="1755648"/>
            <a:ext cx="128016" cy="1572768"/>
          </a:xfrm>
          <a:prstGeom prst="rect">
            <a:avLst/>
          </a:prstGeom>
          <a:solidFill>
            <a:srgbClr val="3A8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74136" y="2029968"/>
            <a:ext cx="14630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500" b="1">
                <a:solidFill>
                  <a:srgbClr val="102A38"/>
                </a:solidFill>
                <a:latin typeface="Malgun Gothic"/>
              </a:rPr>
              <a:t>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2633472"/>
            <a:ext cx="155448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1">
                <a:solidFill>
                  <a:srgbClr val="5F7380"/>
                </a:solidFill>
                <a:latin typeface="Malgun Gothic"/>
              </a:rPr>
              <a:t>재작업률 목표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77256" y="1755648"/>
            <a:ext cx="212140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77256" y="1755648"/>
            <a:ext cx="128016" cy="1572768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9864" y="2029968"/>
            <a:ext cx="14630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500" b="1">
                <a:solidFill>
                  <a:srgbClr val="102A38"/>
                </a:solidFill>
                <a:latin typeface="Malgun Gothic"/>
              </a:rPr>
              <a:t>1일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9864" y="2633472"/>
            <a:ext cx="155448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1">
                <a:solidFill>
                  <a:srgbClr val="5F7380"/>
                </a:solidFill>
                <a:latin typeface="Malgun Gothic"/>
              </a:rPr>
              <a:t>검토 SLA 목표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755648"/>
            <a:ext cx="3493008" cy="3611880"/>
          </a:xfrm>
          <a:prstGeom prst="roundRect">
            <a:avLst/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057400"/>
            <a:ext cx="27889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F5FBFC"/>
                </a:solidFill>
                <a:latin typeface="Malgun Gothic"/>
              </a:rPr>
              <a:t>승인 요청 3가지</a:t>
            </a:r>
          </a:p>
        </p:txBody>
      </p:sp>
      <p:sp>
        <p:nvSpPr>
          <p:cNvPr id="20" name="Oval 19"/>
          <p:cNvSpPr/>
          <p:nvPr/>
        </p:nvSpPr>
        <p:spPr>
          <a:xfrm>
            <a:off x="8275320" y="2788920"/>
            <a:ext cx="384048" cy="384048"/>
          </a:xfrm>
          <a:prstGeom prst="ellipse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788920"/>
            <a:ext cx="3840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062D2B"/>
                </a:solidFill>
                <a:latin typeface="Malgun Gothic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2770632"/>
            <a:ext cx="20116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50" b="1">
                <a:solidFill>
                  <a:srgbClr val="F5FBFC"/>
                </a:solidFill>
                <a:latin typeface="Malgun Gothic"/>
              </a:rPr>
              <a:t>대상 프로세스 3개</a:t>
            </a:r>
          </a:p>
        </p:txBody>
      </p:sp>
      <p:sp>
        <p:nvSpPr>
          <p:cNvPr id="23" name="Oval 22"/>
          <p:cNvSpPr/>
          <p:nvPr/>
        </p:nvSpPr>
        <p:spPr>
          <a:xfrm>
            <a:off x="8275320" y="3474720"/>
            <a:ext cx="384048" cy="384048"/>
          </a:xfrm>
          <a:prstGeom prst="ellipse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3474720"/>
            <a:ext cx="3840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062D2B"/>
                </a:solidFill>
                <a:latin typeface="Malgun Gothic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6528" y="3456432"/>
            <a:ext cx="20116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50" b="1">
                <a:solidFill>
                  <a:srgbClr val="F5FBFC"/>
                </a:solidFill>
                <a:latin typeface="Malgun Gothic"/>
              </a:rPr>
              <a:t>파일럿 사용자 20명</a:t>
            </a:r>
          </a:p>
        </p:txBody>
      </p:sp>
      <p:sp>
        <p:nvSpPr>
          <p:cNvPr id="26" name="Oval 25"/>
          <p:cNvSpPr/>
          <p:nvPr/>
        </p:nvSpPr>
        <p:spPr>
          <a:xfrm>
            <a:off x="8275320" y="4160520"/>
            <a:ext cx="384048" cy="384048"/>
          </a:xfrm>
          <a:prstGeom prst="ellipse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4160520"/>
            <a:ext cx="3840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062D2B"/>
                </a:solidFill>
                <a:latin typeface="Malgun Gothic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6528" y="4142232"/>
            <a:ext cx="20116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50" b="1">
                <a:solidFill>
                  <a:srgbClr val="F5FBFC"/>
                </a:solidFill>
                <a:latin typeface="Malgun Gothic"/>
              </a:rPr>
              <a:t>8주 운영 스쿼드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840480"/>
            <a:ext cx="6885432" cy="1527048"/>
          </a:xfrm>
          <a:prstGeom prst="roundRect">
            <a:avLst/>
          </a:prstGeom>
          <a:solidFill>
            <a:srgbClr val="DF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114800"/>
            <a:ext cx="12801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087C72"/>
                </a:solidFill>
                <a:latin typeface="Malgun Gothic"/>
              </a:rPr>
              <a:t>성공 게이트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553712"/>
            <a:ext cx="6080760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02A38"/>
                </a:solidFill>
                <a:latin typeface="Malgun Gothic"/>
              </a:rPr>
              <a:t>사용률 ≥ 60%  ·  치명 오류 0건  ·  KPI 2개 이상 개선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510528"/>
            <a:ext cx="11000232" cy="12700"/>
          </a:xfrm>
          <a:prstGeom prst="rect">
            <a:avLst/>
          </a:prstGeom>
          <a:solidFill>
            <a:srgbClr val="D5E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6547104"/>
            <a:ext cx="438912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50" b="0">
                <a:solidFill>
                  <a:srgbClr val="5F7380"/>
                </a:solidFill>
                <a:latin typeface="Malgun Gothic"/>
              </a:rPr>
              <a:t>AI 에이전트 업무 자동화 파일럿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6547104"/>
            <a:ext cx="516636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50" b="0">
                <a:solidFill>
                  <a:srgbClr val="5F7380"/>
                </a:solidFill>
                <a:latin typeface="Malgun Gothic"/>
              </a:rPr>
              <a:t>모든 수치는 가정 기반 예시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