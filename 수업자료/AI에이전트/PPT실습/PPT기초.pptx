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75320" y="960120"/>
            <a:ext cx="3063240" cy="30632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1874519"/>
            <a:ext cx="1234440" cy="1234440"/>
          </a:xfrm>
          <a:prstGeom prst="ellipse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2331720"/>
            <a:ext cx="13716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38360" y="1645920"/>
            <a:ext cx="76200" cy="1371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658368"/>
            <a:ext cx="155448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DAY9 · 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4008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900" b="1">
                <a:solidFill>
                  <a:srgbClr val="14213D"/>
                </a:solidFill>
                <a:latin typeface="Malgun Gothic"/>
              </a:rPr>
              <a:t>AI 에이전트
업무 입문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27248"/>
            <a:ext cx="56692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>
                <a:solidFill>
                  <a:srgbClr val="5B6B88"/>
                </a:solidFill>
                <a:latin typeface="Malgun Gothic"/>
              </a:rPr>
              <a:t>반복 업무를 줄이는 디지털 동료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62472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B6B88"/>
                </a:solidFill>
                <a:latin typeface="Malgun Gothic"/>
              </a:rPr>
              <a:t>기초 실습 결과 예시 · 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Malgun Gothic"/>
              </a:rPr>
              <a:t>AI 에이전트는 ‘목표를 끝까지 수행하는 시스템’입니다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B6B88"/>
                </a:solidFill>
                <a:latin typeface="Malgun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93976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9397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1"/>
            <a:ext cx="294436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Malgun Gothic"/>
              </a:rPr>
              <a:t>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9815"/>
            <a:ext cx="2944368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5B6B88"/>
                </a:solidFill>
                <a:latin typeface="Malgun Gothic"/>
              </a:rPr>
              <a:t>무엇을 끝낼지
명확히 정의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093976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9397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79191"/>
            <a:ext cx="294436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Malgun Gothic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099815"/>
            <a:ext cx="2944368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5B6B88"/>
                </a:solidFill>
                <a:latin typeface="Malgun Gothic"/>
              </a:rPr>
              <a:t>순서를 계획하고
다음 행동 선택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74519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2093976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9397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79191"/>
            <a:ext cx="294436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Malgun Gothic"/>
              </a:rPr>
              <a:t>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99815"/>
            <a:ext cx="2944368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5B6B88"/>
                </a:solidFill>
                <a:latin typeface="Malgun Gothic"/>
              </a:rPr>
              <a:t>파일·검색·스크립트로
실제 작업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800600"/>
            <a:ext cx="8275320" cy="841248"/>
          </a:xfrm>
          <a:prstGeom prst="roundRect">
            <a:avLst/>
          </a:prstGeom>
          <a:solidFill>
            <a:srgbClr val="E7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800600"/>
            <a:ext cx="827532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2F6BFF"/>
                </a:solidFill>
                <a:latin typeface="Malgun Gothic"/>
              </a:rPr>
              <a:t>사람의 요청  +  스스로 계획  +  도구 실행  +  결과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B6B88"/>
                </a:solidFill>
                <a:latin typeface="Malgun Gothic"/>
              </a:rPr>
              <a:t>AI 에이전트 업무 입문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Malgun Gothic"/>
              </a:rPr>
              <a:t>반복 업무에서는 세 곳에서 시간이 새어 나갑니다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B6B88"/>
                </a:solidFill>
                <a:latin typeface="Malgun Gothi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340156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7315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2F6B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96896"/>
            <a:ext cx="2743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Malgun Gothic"/>
              </a:rPr>
              <a:t>찾기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46120"/>
            <a:ext cx="2788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B6B88"/>
                </a:solidFill>
                <a:latin typeface="Malgun Gothic"/>
              </a:rPr>
              <a:t>흩어진 자료와
최신 버전을 찾는 시간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4572000"/>
            <a:ext cx="1508760" cy="310896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57200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2F6BFF"/>
                </a:solidFill>
                <a:latin typeface="Malgun Gothic"/>
              </a:rPr>
              <a:t>매번 다시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55648"/>
            <a:ext cx="340156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011680"/>
            <a:ext cx="7315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2F6BFF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96896"/>
            <a:ext cx="2743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Malgun Gothic"/>
              </a:rPr>
              <a:t>옮기기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246120"/>
            <a:ext cx="2788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B6B88"/>
                </a:solidFill>
                <a:latin typeface="Malgun Gothic"/>
              </a:rPr>
              <a:t>메일·문서·표 사이
수작업 복사와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4572000"/>
            <a:ext cx="1508760" cy="310896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457200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2F6BFF"/>
                </a:solidFill>
                <a:latin typeface="Malgun Gothic"/>
              </a:rPr>
              <a:t>형식 오류 발생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55648"/>
            <a:ext cx="340156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2011680"/>
            <a:ext cx="7315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2F6BFF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596896"/>
            <a:ext cx="2743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Malgun Gothic"/>
              </a:rPr>
              <a:t>확인하기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246120"/>
            <a:ext cx="2788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B6B88"/>
                </a:solidFill>
                <a:latin typeface="Malgun Gothic"/>
              </a:rPr>
              <a:t>누락·오탈자·규칙을
사람이 반복 점검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31352" y="4572000"/>
            <a:ext cx="1508760" cy="310896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457200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2F6BFF"/>
                </a:solidFill>
                <a:latin typeface="Malgun Gothic"/>
              </a:rPr>
              <a:t>검토 대기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B6B88"/>
                </a:solidFill>
                <a:latin typeface="Malgun Gothic"/>
              </a:rPr>
              <a:t>AI 에이전트 업무 입문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5B6B88"/>
                </a:solidFill>
                <a:latin typeface="Malgun Gothic"/>
              </a:rPr>
              <a:t>교육용 상황 예시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03 ·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Malgun Gothic"/>
              </a:rPr>
              <a:t>좋은 결과는 ‘요청 → 계획 → 실행 → 검증’에서 나옵니다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B6B88"/>
                </a:solidFill>
                <a:latin typeface="Malgun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234086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691640"/>
            <a:ext cx="731520" cy="731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14600"/>
            <a:ext cx="1975104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Malgun Gothic"/>
              </a:rPr>
              <a:t>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1883664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0">
                <a:solidFill>
                  <a:srgbClr val="5B6B88"/>
                </a:solidFill>
                <a:latin typeface="Malgun Gothic"/>
              </a:rPr>
              <a:t>목적·대상·완료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43200"/>
            <a:ext cx="5029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2F6BFF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011680"/>
            <a:ext cx="234086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1691640"/>
            <a:ext cx="731520" cy="731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6916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514600"/>
            <a:ext cx="1975104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Malgun Gothic"/>
              </a:rPr>
              <a:t>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108960"/>
            <a:ext cx="1883664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0">
                <a:solidFill>
                  <a:srgbClr val="5B6B88"/>
                </a:solidFill>
                <a:latin typeface="Malgun Gothic"/>
              </a:rPr>
              <a:t>작업 순서와 필요한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743200"/>
            <a:ext cx="5029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2F6BFF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011680"/>
            <a:ext cx="234086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68896" y="1691640"/>
            <a:ext cx="731520" cy="731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16916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514600"/>
            <a:ext cx="1975104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Malgun Gothic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108960"/>
            <a:ext cx="1883664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0">
                <a:solidFill>
                  <a:srgbClr val="5B6B88"/>
                </a:solidFill>
                <a:latin typeface="Malgun Gothic"/>
              </a:rPr>
              <a:t>문서·데이터·파일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743200"/>
            <a:ext cx="5029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2F6BFF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2011680"/>
            <a:ext cx="2340864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21824" y="1691640"/>
            <a:ext cx="731520" cy="731520"/>
          </a:xfrm>
          <a:prstGeom prst="ellipse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1824" y="1691640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514600"/>
            <a:ext cx="1975104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Malgun Gothic"/>
              </a:rPr>
              <a:t>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108960"/>
            <a:ext cx="1883664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0">
                <a:solidFill>
                  <a:srgbClr val="5B6B88"/>
                </a:solidFill>
                <a:latin typeface="Malgun Gothic"/>
              </a:rPr>
              <a:t>누락·형식·품질 점검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4892040"/>
            <a:ext cx="9235440" cy="621792"/>
          </a:xfrm>
          <a:prstGeom prst="roundRect">
            <a:avLst/>
          </a:prstGeom>
          <a:solidFill>
            <a:srgbClr val="E8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892040"/>
            <a:ext cx="923544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87C72"/>
                </a:solidFill>
                <a:latin typeface="Malgun Gothic"/>
              </a:rPr>
              <a:t>핵심: ‘무엇을 만들까?’보다 ‘어떻게 완료를 확인할까?’를 먼저 적습니다.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B6B88"/>
                </a:solidFill>
                <a:latin typeface="Malgun Gothic"/>
              </a:rPr>
              <a:t>AI 에이전트 업무 입문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04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Malgun Gothic"/>
              </a:rPr>
              <a:t>작고 반복적인 업무부터 맡기면 안전하게 시작할 수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B6B88"/>
                </a:solidFill>
                <a:latin typeface="Malgun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16636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011680"/>
            <a:ext cx="749808" cy="109728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749808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2029967"/>
            <a:ext cx="2377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algun Gothic"/>
              </a:rPr>
              <a:t>문서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487168"/>
            <a:ext cx="3520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B88"/>
                </a:solidFill>
                <a:latin typeface="Malgun Gothic"/>
              </a:rPr>
              <a:t>긴 회의록을
결정·할 일로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755648"/>
            <a:ext cx="516636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2011680"/>
            <a:ext cx="749808" cy="1097280"/>
          </a:xfrm>
          <a:prstGeom prst="round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749808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3" y="2029967"/>
            <a:ext cx="2377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algun Gothic"/>
              </a:rPr>
              <a:t>이메일 초안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2487168"/>
            <a:ext cx="3520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B88"/>
                </a:solidFill>
                <a:latin typeface="Malgun Gothic"/>
              </a:rPr>
              <a:t>대상과 목적에 맞춘
1차 문안 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16636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4005072"/>
            <a:ext cx="749808" cy="109728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05072"/>
            <a:ext cx="749808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4023359"/>
            <a:ext cx="2377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algun Gothic"/>
              </a:rPr>
              <a:t>자료 조사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6232" y="4480559"/>
            <a:ext cx="3520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B88"/>
                </a:solidFill>
                <a:latin typeface="Malgun Gothic"/>
              </a:rPr>
              <a:t>질문별 근거와
출처 후보 수집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749039"/>
            <a:ext cx="516636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59" y="4005072"/>
            <a:ext cx="749808" cy="1097280"/>
          </a:xfrm>
          <a:prstGeom prst="roundRec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005072"/>
            <a:ext cx="749808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3" y="4023359"/>
            <a:ext cx="2377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algun Gothic"/>
              </a:rPr>
              <a:t>보고서 정리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4480559"/>
            <a:ext cx="3520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B6B88"/>
                </a:solidFill>
                <a:latin typeface="Malgun Gothic"/>
              </a:rPr>
              <a:t>표·문장·목차의
형식을 일관되게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B6B88"/>
                </a:solidFill>
                <a:latin typeface="Malgun Gothic"/>
              </a:rPr>
              <a:t>AI 에이전트 업무 입문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05 ·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Malgun Gothic"/>
              </a:rPr>
              <a:t>7일 안에 ‘작은 성공’을 만드는 실행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B6B88"/>
                </a:solidFill>
                <a:latin typeface="Malgun Gothi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761488"/>
            <a:ext cx="10131552" cy="508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2450592"/>
            <a:ext cx="621792" cy="6217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450592"/>
            <a:ext cx="62179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18688"/>
            <a:ext cx="19385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F6BFF"/>
                </a:solidFill>
                <a:latin typeface="Malgun Gothic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66160"/>
            <a:ext cx="193852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Malgun Gothic"/>
              </a:rPr>
              <a:t>업무 1개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41648"/>
            <a:ext cx="1938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5B6B88"/>
                </a:solidFill>
                <a:latin typeface="Malgun Gothic"/>
              </a:rPr>
              <a:t>주 2회 이상 반복</a:t>
            </a:r>
          </a:p>
        </p:txBody>
      </p:sp>
      <p:sp>
        <p:nvSpPr>
          <p:cNvPr id="12" name="Oval 11"/>
          <p:cNvSpPr/>
          <p:nvPr/>
        </p:nvSpPr>
        <p:spPr>
          <a:xfrm>
            <a:off x="3584448" y="2450592"/>
            <a:ext cx="621792" cy="6217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50592"/>
            <a:ext cx="62179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18688"/>
            <a:ext cx="19385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F6BFF"/>
                </a:solidFill>
                <a:latin typeface="Malgun Gothic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66160"/>
            <a:ext cx="193852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Malgun Gothic"/>
              </a:rPr>
              <a:t>완료 기준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41648"/>
            <a:ext cx="1938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5B6B88"/>
                </a:solidFill>
                <a:latin typeface="Malgun Gothic"/>
              </a:rPr>
              <a:t>예시 결과 포함</a:t>
            </a:r>
          </a:p>
        </p:txBody>
      </p:sp>
      <p:sp>
        <p:nvSpPr>
          <p:cNvPr id="17" name="Oval 16"/>
          <p:cNvSpPr/>
          <p:nvPr/>
        </p:nvSpPr>
        <p:spPr>
          <a:xfrm>
            <a:off x="5852159" y="2450592"/>
            <a:ext cx="621792" cy="6217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9" y="2450592"/>
            <a:ext cx="62179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218688"/>
            <a:ext cx="19385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F6BFF"/>
                </a:solidFill>
                <a:latin typeface="Malgun Gothic"/>
              </a:rPr>
              <a:t>DAY 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566160"/>
            <a:ext cx="193852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Malgun Gothic"/>
              </a:rPr>
              <a:t>초안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4041648"/>
            <a:ext cx="1938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5B6B88"/>
                </a:solidFill>
                <a:latin typeface="Malgun Gothic"/>
              </a:rPr>
              <a:t>사람이 즉시 검토</a:t>
            </a:r>
          </a:p>
        </p:txBody>
      </p:sp>
      <p:sp>
        <p:nvSpPr>
          <p:cNvPr id="22" name="Oval 21"/>
          <p:cNvSpPr/>
          <p:nvPr/>
        </p:nvSpPr>
        <p:spPr>
          <a:xfrm>
            <a:off x="8119872" y="2450592"/>
            <a:ext cx="621792" cy="6217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2450592"/>
            <a:ext cx="62179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218688"/>
            <a:ext cx="19385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F6BFF"/>
                </a:solidFill>
                <a:latin typeface="Malgun Gothic"/>
              </a:rPr>
              <a:t>DAY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3566160"/>
            <a:ext cx="193852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Malgun Gothic"/>
              </a:rPr>
              <a:t>실패 조건 보완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4041648"/>
            <a:ext cx="1938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5B6B88"/>
                </a:solidFill>
                <a:latin typeface="Malgun Gothic"/>
              </a:rPr>
              <a:t>금지·예외 추가</a:t>
            </a:r>
          </a:p>
        </p:txBody>
      </p:sp>
      <p:sp>
        <p:nvSpPr>
          <p:cNvPr id="27" name="Oval 26"/>
          <p:cNvSpPr/>
          <p:nvPr/>
        </p:nvSpPr>
        <p:spPr>
          <a:xfrm>
            <a:off x="10387584" y="2450592"/>
            <a:ext cx="621792" cy="621792"/>
          </a:xfrm>
          <a:prstGeom prst="ellipse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87584" y="2450592"/>
            <a:ext cx="62179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6" y="3218688"/>
            <a:ext cx="19385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F6BFF"/>
                </a:solidFill>
                <a:latin typeface="Malgun Gothic"/>
              </a:rPr>
              <a:t>DAY 6–7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6" y="3566160"/>
            <a:ext cx="193852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Malgun Gothic"/>
              </a:rPr>
              <a:t>재실행·공유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4041648"/>
            <a:ext cx="193852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5B6B88"/>
                </a:solidFill>
                <a:latin typeface="Malgun Gothic"/>
              </a:rPr>
              <a:t>전후 차이 기록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074920"/>
            <a:ext cx="8549640" cy="62179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74920"/>
            <a:ext cx="854964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실습 과제  ·  오늘 반복한 업무 하나를 4단계 프롬프트로 바꾸기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9E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B6B88"/>
                </a:solidFill>
                <a:latin typeface="Malgun Gothic"/>
              </a:rPr>
              <a:t>AI 에이전트 업무 입문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