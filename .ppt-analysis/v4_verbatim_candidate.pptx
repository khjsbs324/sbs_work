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323" r:id="rId2"/>
    <p:sldId id="272" r:id="rId3"/>
    <p:sldId id="363" r:id="rId4"/>
    <p:sldId id="403" r:id="rId58"/>
    <p:sldId id="364" r:id="rId5"/>
    <p:sldId id="404" r:id="rId59"/>
    <p:sldId id="405" r:id="rId60"/>
    <p:sldId id="406" r:id="rId61"/>
    <p:sldId id="325" r:id="rId6"/>
    <p:sldId id="407" r:id="rId62"/>
    <p:sldId id="369" r:id="rId7"/>
    <p:sldId id="439" r:id="rId51"/>
    <p:sldId id="440" r:id="rId50"/>
    <p:sldId id="368" r:id="rId8"/>
    <p:sldId id="365" r:id="rId9"/>
    <p:sldId id="410" r:id="rId65"/>
    <p:sldId id="380" r:id="rId10"/>
    <p:sldId id="411" r:id="rId66"/>
    <p:sldId id="366" r:id="rId11"/>
    <p:sldId id="441" r:id="rId49"/>
    <p:sldId id="346" r:id="rId12"/>
    <p:sldId id="442" r:id="rId48"/>
    <p:sldId id="376" r:id="rId13"/>
    <p:sldId id="416" r:id="rId71"/>
    <p:sldId id="377" r:id="rId14"/>
    <p:sldId id="417" r:id="rId72"/>
    <p:sldId id="374" r:id="rId15"/>
    <p:sldId id="418" r:id="rId73"/>
    <p:sldId id="419" r:id="rId74"/>
    <p:sldId id="375" r:id="rId16"/>
    <p:sldId id="420" r:id="rId75"/>
    <p:sldId id="421" r:id="rId76"/>
    <p:sldId id="370" r:id="rId17"/>
    <p:sldId id="422" r:id="rId77"/>
    <p:sldId id="367" r:id="rId18"/>
    <p:sldId id="347" r:id="rId19"/>
    <p:sldId id="423" r:id="rId78"/>
    <p:sldId id="424" r:id="rId79"/>
    <p:sldId id="425" r:id="rId80"/>
    <p:sldId id="426" r:id="rId81"/>
    <p:sldId id="348" r:id="rId20"/>
    <p:sldId id="428" r:id="rId83"/>
    <p:sldId id="360" r:id="rId21"/>
    <p:sldId id="350" r:id="rId22"/>
    <p:sldId id="433" r:id="rId88"/>
    <p:sldId id="434" r:id="rId89"/>
    <p:sldId id="435" r:id="rId90"/>
    <p:sldId id="443" r:id="rId47"/>
    <p:sldId id="444" r:id="rId63"/>
    <p:sldId id="353" r:id="rId23"/>
    <p:sldId id="438" r:id="rId93"/>
    <p:sldId id="326" r:id="rId24"/>
    <p:sldId id="445" r:id="rId64"/>
    <p:sldId id="446" r:id="rId46"/>
    <p:sldId id="352" r:id="rId25"/>
    <p:sldId id="343" r:id="rId26"/>
    <p:sldId id="447" r:id="rId45"/>
    <p:sldId id="448" r:id="rId67"/>
    <p:sldId id="449" r:id="rId68"/>
    <p:sldId id="344" r:id="rId27"/>
    <p:sldId id="453" r:id="rId43"/>
    <p:sldId id="450" r:id="rId69"/>
    <p:sldId id="345" r:id="rId28"/>
    <p:sldId id="451" r:id="rId70"/>
    <p:sldId id="452" r:id="rId44"/>
  </p:sldIdLst>
  <p:sldSz cx="12192000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7B87"/>
    <a:srgbClr val="D9D9D9"/>
    <a:srgbClr val="FFFFFF"/>
    <a:srgbClr val="282828"/>
    <a:srgbClr val="000E74"/>
    <a:srgbClr val="21B1A4"/>
    <a:srgbClr val="595959"/>
    <a:srgbClr val="A9D18E"/>
    <a:srgbClr val="203864"/>
    <a:srgbClr val="1C98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9.xml"/><Relationship Id="rId7" Type="http://schemas.openxmlformats.org/officeDocument/2006/relationships/slide" Target="slides/slide11.xml"/><Relationship Id="rId8" Type="http://schemas.openxmlformats.org/officeDocument/2006/relationships/slide" Target="slides/slide14.xml"/><Relationship Id="rId9" Type="http://schemas.openxmlformats.org/officeDocument/2006/relationships/slide" Target="slides/slide15.xml"/><Relationship Id="rId10" Type="http://schemas.openxmlformats.org/officeDocument/2006/relationships/slide" Target="slides/slide17.xml"/><Relationship Id="rId11" Type="http://schemas.openxmlformats.org/officeDocument/2006/relationships/slide" Target="slides/slide19.xml"/><Relationship Id="rId12" Type="http://schemas.openxmlformats.org/officeDocument/2006/relationships/slide" Target="slides/slide21.xml"/><Relationship Id="rId13" Type="http://schemas.openxmlformats.org/officeDocument/2006/relationships/slide" Target="slides/slide23.xml"/><Relationship Id="rId14" Type="http://schemas.openxmlformats.org/officeDocument/2006/relationships/slide" Target="slides/slide25.xml"/><Relationship Id="rId15" Type="http://schemas.openxmlformats.org/officeDocument/2006/relationships/slide" Target="slides/slide27.xml"/><Relationship Id="rId16" Type="http://schemas.openxmlformats.org/officeDocument/2006/relationships/slide" Target="slides/slide30.xml"/><Relationship Id="rId17" Type="http://schemas.openxmlformats.org/officeDocument/2006/relationships/slide" Target="slides/slide33.xml"/><Relationship Id="rId18" Type="http://schemas.openxmlformats.org/officeDocument/2006/relationships/slide" Target="slides/slide35.xml"/><Relationship Id="rId19" Type="http://schemas.openxmlformats.org/officeDocument/2006/relationships/slide" Target="slides/slide36.xml"/><Relationship Id="rId20" Type="http://schemas.openxmlformats.org/officeDocument/2006/relationships/slide" Target="slides/slide41.xml"/><Relationship Id="rId21" Type="http://schemas.openxmlformats.org/officeDocument/2006/relationships/slide" Target="slides/slide43.xml"/><Relationship Id="rId22" Type="http://schemas.openxmlformats.org/officeDocument/2006/relationships/slide" Target="slides/slide44.xml"/><Relationship Id="rId23" Type="http://schemas.openxmlformats.org/officeDocument/2006/relationships/slide" Target="slides/slide50.xml"/><Relationship Id="rId24" Type="http://schemas.openxmlformats.org/officeDocument/2006/relationships/slide" Target="slides/slide52.xml"/><Relationship Id="rId25" Type="http://schemas.openxmlformats.org/officeDocument/2006/relationships/slide" Target="slides/slide55.xml"/><Relationship Id="rId26" Type="http://schemas.openxmlformats.org/officeDocument/2006/relationships/slide" Target="slides/slide56.xml"/><Relationship Id="rId27" Type="http://schemas.openxmlformats.org/officeDocument/2006/relationships/slide" Target="slides/slide60.xml"/><Relationship Id="rId28" Type="http://schemas.openxmlformats.org/officeDocument/2006/relationships/slide" Target="slides/slide62.xml"/><Relationship Id="rId43" Type="http://schemas.openxmlformats.org/officeDocument/2006/relationships/slide" Target="slides/slide65.xml"/><Relationship Id="rId44" Type="http://schemas.openxmlformats.org/officeDocument/2006/relationships/slide" Target="slides/slide64.xml"/><Relationship Id="rId45" Type="http://schemas.openxmlformats.org/officeDocument/2006/relationships/slide" Target="slides/slide57.xml"/><Relationship Id="rId46" Type="http://schemas.openxmlformats.org/officeDocument/2006/relationships/slide" Target="slides/slide54.xml"/><Relationship Id="rId47" Type="http://schemas.openxmlformats.org/officeDocument/2006/relationships/slide" Target="slides/slide48.xml"/><Relationship Id="rId48" Type="http://schemas.openxmlformats.org/officeDocument/2006/relationships/slide" Target="slides/slide22.xml"/><Relationship Id="rId49" Type="http://schemas.openxmlformats.org/officeDocument/2006/relationships/slide" Target="slides/slide20.xml"/><Relationship Id="rId50" Type="http://schemas.openxmlformats.org/officeDocument/2006/relationships/slide" Target="slides/slide13.xml"/><Relationship Id="rId51" Type="http://schemas.openxmlformats.org/officeDocument/2006/relationships/slide" Target="slides/slide12.xml"/><Relationship Id="rId52" Type="http://schemas.openxmlformats.org/officeDocument/2006/relationships/notesMaster" Target="notesMasters/notesMaster1.xml"/><Relationship Id="rId53" Type="http://schemas.openxmlformats.org/officeDocument/2006/relationships/handoutMaster" Target="handoutMasters/handout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openxmlformats.org/officeDocument/2006/relationships/slide" Target="slides/slide4.xml"/><Relationship Id="rId59" Type="http://schemas.openxmlformats.org/officeDocument/2006/relationships/slide" Target="slides/slide6.xml"/><Relationship Id="rId60" Type="http://schemas.openxmlformats.org/officeDocument/2006/relationships/slide" Target="slides/slide7.xml"/><Relationship Id="rId61" Type="http://schemas.openxmlformats.org/officeDocument/2006/relationships/slide" Target="slides/slide8.xml"/><Relationship Id="rId62" Type="http://schemas.openxmlformats.org/officeDocument/2006/relationships/slide" Target="slides/slide10.xml"/><Relationship Id="rId63" Type="http://schemas.openxmlformats.org/officeDocument/2006/relationships/slide" Target="slides/slide49.xml"/><Relationship Id="rId64" Type="http://schemas.openxmlformats.org/officeDocument/2006/relationships/slide" Target="slides/slide53.xml"/><Relationship Id="rId65" Type="http://schemas.openxmlformats.org/officeDocument/2006/relationships/slide" Target="slides/slide16.xml"/><Relationship Id="rId66" Type="http://schemas.openxmlformats.org/officeDocument/2006/relationships/slide" Target="slides/slide18.xml"/><Relationship Id="rId67" Type="http://schemas.openxmlformats.org/officeDocument/2006/relationships/slide" Target="slides/slide58.xml"/><Relationship Id="rId68" Type="http://schemas.openxmlformats.org/officeDocument/2006/relationships/slide" Target="slides/slide59.xml"/><Relationship Id="rId69" Type="http://schemas.openxmlformats.org/officeDocument/2006/relationships/slide" Target="slides/slide61.xml"/><Relationship Id="rId70" Type="http://schemas.openxmlformats.org/officeDocument/2006/relationships/slide" Target="slides/slide63.xml"/><Relationship Id="rId71" Type="http://schemas.openxmlformats.org/officeDocument/2006/relationships/slide" Target="slides/slide24.xml"/><Relationship Id="rId72" Type="http://schemas.openxmlformats.org/officeDocument/2006/relationships/slide" Target="slides/slide26.xml"/><Relationship Id="rId73" Type="http://schemas.openxmlformats.org/officeDocument/2006/relationships/slide" Target="slides/slide28.xml"/><Relationship Id="rId74" Type="http://schemas.openxmlformats.org/officeDocument/2006/relationships/slide" Target="slides/slide29.xml"/><Relationship Id="rId75" Type="http://schemas.openxmlformats.org/officeDocument/2006/relationships/slide" Target="slides/slide31.xml"/><Relationship Id="rId76" Type="http://schemas.openxmlformats.org/officeDocument/2006/relationships/slide" Target="slides/slide32.xml"/><Relationship Id="rId77" Type="http://schemas.openxmlformats.org/officeDocument/2006/relationships/slide" Target="slides/slide34.xml"/><Relationship Id="rId78" Type="http://schemas.openxmlformats.org/officeDocument/2006/relationships/slide" Target="slides/slide37.xml"/><Relationship Id="rId79" Type="http://schemas.openxmlformats.org/officeDocument/2006/relationships/slide" Target="slides/slide38.xml"/><Relationship Id="rId80" Type="http://schemas.openxmlformats.org/officeDocument/2006/relationships/slide" Target="slides/slide39.xml"/><Relationship Id="rId81" Type="http://schemas.openxmlformats.org/officeDocument/2006/relationships/slide" Target="slides/slide40.xml"/><Relationship Id="rId83" Type="http://schemas.openxmlformats.org/officeDocument/2006/relationships/slide" Target="slides/slide42.xml"/><Relationship Id="rId88" Type="http://schemas.openxmlformats.org/officeDocument/2006/relationships/slide" Target="slides/slide45.xml"/><Relationship Id="rId89" Type="http://schemas.openxmlformats.org/officeDocument/2006/relationships/slide" Target="slides/slide46.xml"/><Relationship Id="rId90" Type="http://schemas.openxmlformats.org/officeDocument/2006/relationships/slide" Target="slides/slide47.xml"/><Relationship Id="rId93" Type="http://schemas.openxmlformats.org/officeDocument/2006/relationships/slide" Target="slides/slide5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9786" cy="498693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053BCB10-224D-45EA-A70F-21E4F07F0E6B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440647"/>
            <a:ext cx="2949786" cy="498692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EC2180A1-0950-4FD7-B841-6AA1F22F9B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5740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9786" cy="498693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B91D9E88-D975-4BCF-A84A-2E3895983E9C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5" rIns="91431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83307"/>
            <a:ext cx="5445760" cy="3913614"/>
          </a:xfrm>
          <a:prstGeom prst="rect">
            <a:avLst/>
          </a:prstGeom>
        </p:spPr>
        <p:txBody>
          <a:bodyPr vert="horz" lIns="91431" tIns="45715" rIns="91431" bIns="45715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40647"/>
            <a:ext cx="2949786" cy="498692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494AF622-1872-4085-BF23-7BAFAEA08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721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A10577FD-D4C8-4CC3-876E-D735E7FB7C48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607135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9FE99-345C-4F31-8F31-E93DD3AC1919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828309" y="6472463"/>
            <a:ext cx="3349171" cy="363764"/>
          </a:xfrm>
        </p:spPr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118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70A9-C6B6-4C07-BECE-DE40A2457EA2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709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4D875-B3E9-4F45-B2DE-C809E7BFF002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324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BD140-85C8-44B1-8F0B-5DEC1B6D8EA7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265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65A25-2B9B-44B7-BF58-27B8D3FCAB2D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92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6F12C-61C6-4BA5-92AF-B961D6FB9AF2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614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6A1B4-5C7A-4C8D-BCF6-C374BB2991AF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055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A3E5-5AAB-4969-BC2C-11A69DBE5B00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229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D6B8A-FCE2-40C5-BBAD-10BB42FC8098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909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167E7-EA4B-4E8D-9F9B-611B60547ECB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768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B770-7FC1-4664-957B-8B858EFE0CB5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1844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8E9B0-B330-4921-A533-4FBCB68B8805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13801" y="6472464"/>
            <a:ext cx="3349171" cy="3637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315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530744E8-56C7-4C96-8641-8F39C132F0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00" t="6354" r="3400" b="88141"/>
          <a:stretch/>
        </p:blipFill>
        <p:spPr>
          <a:xfrm>
            <a:off x="5404117" y="2801256"/>
            <a:ext cx="1383765" cy="57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362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125507-D1E4-4C24-861D-835FDB94E268}"/>
              </a:ext>
            </a:extLst>
          </p:cNvPr>
          <p:cNvSpPr txBox="1"/>
          <p:nvPr/>
        </p:nvSpPr>
        <p:spPr>
          <a:xfrm>
            <a:off x="533400" y="1016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40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CONTENTS</a:t>
            </a:r>
            <a:endParaRPr lang="ko-KR" altLang="en-US" sz="850" b="1" spc="-40">
              <a:solidFill>
                <a:srgbClr val="8AA6C7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F67689-A723-4185-A90A-A1FCB8036476}"/>
              </a:ext>
            </a:extLst>
          </p:cNvPr>
          <p:cNvSpPr txBox="1"/>
          <p:nvPr/>
        </p:nvSpPr>
        <p:spPr>
          <a:xfrm>
            <a:off x="533400" y="4953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1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컨택</a:t>
            </a:r>
            <a:r>
              <a:rPr lang="en-US" altLang="ko-KR" sz="2700" b="1" spc="-11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&amp;</a:t>
            </a:r>
            <a:r>
              <a:rPr lang="ko-KR" altLang="en-US" sz="2700" b="1" spc="-11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노하우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90E2F383-96B4-456F-88F5-CE0AF8180DC8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F58C6D6F-BB0A-48BD-AC9E-70EFE1A07475}"/>
              </a:ext>
            </a:extLst>
          </p:cNvPr>
          <p:cNvCxnSpPr/>
          <p:nvPr/>
        </p:nvCxnSpPr>
        <p:spPr>
          <a:xfrm>
            <a:off x="2527300" y="2108200"/>
            <a:ext cx="304800" cy="0"/>
          </a:xfrm>
          <a:prstGeom prst="line">
            <a:avLst/>
          </a:prstGeom>
          <a:ln w="21590">
            <a:solidFill>
              <a:srgbClr val="0B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9ABB29F-E613-4BFC-B8D7-2E07FA983541}"/>
              </a:ext>
            </a:extLst>
          </p:cNvPr>
          <p:cNvCxnSpPr/>
          <p:nvPr/>
        </p:nvCxnSpPr>
        <p:spPr>
          <a:xfrm>
            <a:off x="2832100" y="1524000"/>
            <a:ext cx="0" cy="1079500"/>
          </a:xfrm>
          <a:prstGeom prst="line">
            <a:avLst/>
          </a:prstGeom>
          <a:ln w="21590">
            <a:solidFill>
              <a:srgbClr val="0B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06526DE3-4718-47D4-A05C-04C5FDF28B16}"/>
              </a:ext>
            </a:extLst>
          </p:cNvPr>
          <p:cNvCxnSpPr/>
          <p:nvPr/>
        </p:nvCxnSpPr>
        <p:spPr>
          <a:xfrm>
            <a:off x="2832100" y="1524000"/>
            <a:ext cx="292100" cy="0"/>
          </a:xfrm>
          <a:prstGeom prst="line">
            <a:avLst/>
          </a:prstGeom>
          <a:ln w="21590">
            <a:solidFill>
              <a:srgbClr val="0B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BFF9BDCA-8418-4F4E-BF56-DBA1942FA72D}"/>
              </a:ext>
            </a:extLst>
          </p:cNvPr>
          <p:cNvCxnSpPr/>
          <p:nvPr/>
        </p:nvCxnSpPr>
        <p:spPr>
          <a:xfrm>
            <a:off x="2832100" y="2603500"/>
            <a:ext cx="292100" cy="0"/>
          </a:xfrm>
          <a:prstGeom prst="line">
            <a:avLst/>
          </a:prstGeom>
          <a:ln w="21590">
            <a:solidFill>
              <a:srgbClr val="0B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F1534AA-D9F2-461A-9687-8DE4848F5652}"/>
              </a:ext>
            </a:extLst>
          </p:cNvPr>
          <p:cNvCxnSpPr/>
          <p:nvPr/>
        </p:nvCxnSpPr>
        <p:spPr>
          <a:xfrm>
            <a:off x="2527300" y="4940300"/>
            <a:ext cx="304800" cy="0"/>
          </a:xfrm>
          <a:prstGeom prst="line">
            <a:avLst/>
          </a:prstGeom>
          <a:ln w="21590">
            <a:solidFill>
              <a:srgbClr val="0B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094171C1-1EE9-451B-9773-72E91A5666BA}"/>
              </a:ext>
            </a:extLst>
          </p:cNvPr>
          <p:cNvCxnSpPr/>
          <p:nvPr/>
        </p:nvCxnSpPr>
        <p:spPr>
          <a:xfrm>
            <a:off x="2832100" y="4356100"/>
            <a:ext cx="0" cy="1079500"/>
          </a:xfrm>
          <a:prstGeom prst="line">
            <a:avLst/>
          </a:prstGeom>
          <a:ln w="21590">
            <a:solidFill>
              <a:srgbClr val="0B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6DC647B5-DAE7-459E-AB56-E4F061839D93}"/>
              </a:ext>
            </a:extLst>
          </p:cNvPr>
          <p:cNvCxnSpPr/>
          <p:nvPr/>
        </p:nvCxnSpPr>
        <p:spPr>
          <a:xfrm>
            <a:off x="2832100" y="4356100"/>
            <a:ext cx="292100" cy="0"/>
          </a:xfrm>
          <a:prstGeom prst="line">
            <a:avLst/>
          </a:prstGeom>
          <a:ln w="21590">
            <a:solidFill>
              <a:srgbClr val="0B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9BF4151E-461D-4E93-9295-60D3FDBB449F}"/>
              </a:ext>
            </a:extLst>
          </p:cNvPr>
          <p:cNvCxnSpPr/>
          <p:nvPr/>
        </p:nvCxnSpPr>
        <p:spPr>
          <a:xfrm>
            <a:off x="2832100" y="5435600"/>
            <a:ext cx="292100" cy="0"/>
          </a:xfrm>
          <a:prstGeom prst="line">
            <a:avLst/>
          </a:prstGeom>
          <a:ln w="21590">
            <a:solidFill>
              <a:srgbClr val="0B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021B6821-8CB0-434C-BA89-3B41B2FFA32D}"/>
              </a:ext>
            </a:extLst>
          </p:cNvPr>
          <p:cNvSpPr/>
          <p:nvPr/>
        </p:nvSpPr>
        <p:spPr>
          <a:xfrm>
            <a:off x="596900" y="1155700"/>
            <a:ext cx="1930400" cy="1955800"/>
          </a:xfrm>
          <a:prstGeom prst="roundRect">
            <a:avLst/>
          </a:prstGeom>
          <a:solidFill>
            <a:srgbClr val="064682"/>
          </a:solidFill>
          <a:ln w="1524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B9FFA8E7-F395-46B7-A7A1-4212AEB70315}"/>
              </a:ext>
            </a:extLst>
          </p:cNvPr>
          <p:cNvSpPr/>
          <p:nvPr/>
        </p:nvSpPr>
        <p:spPr>
          <a:xfrm>
            <a:off x="1206500" y="1384300"/>
            <a:ext cx="711200" cy="711200"/>
          </a:xfrm>
          <a:prstGeom prst="ellipse">
            <a:avLst/>
          </a:prstGeom>
          <a:noFill/>
          <a:ln w="2286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2AF9B36-A10E-48FA-8946-4CE06DA11893}"/>
              </a:ext>
            </a:extLst>
          </p:cNvPr>
          <p:cNvCxnSpPr/>
          <p:nvPr/>
        </p:nvCxnSpPr>
        <p:spPr>
          <a:xfrm>
            <a:off x="1562100" y="1600200"/>
            <a:ext cx="0" cy="3175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898849FA-56BD-4BCB-93CC-6D5DA4E0A4AB}"/>
              </a:ext>
            </a:extLst>
          </p:cNvPr>
          <p:cNvCxnSpPr/>
          <p:nvPr/>
        </p:nvCxnSpPr>
        <p:spPr>
          <a:xfrm>
            <a:off x="1308100" y="1600200"/>
            <a:ext cx="203200" cy="50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E9563F24-186E-47C5-B997-03AF43A1DFD7}"/>
              </a:ext>
            </a:extLst>
          </p:cNvPr>
          <p:cNvCxnSpPr/>
          <p:nvPr/>
        </p:nvCxnSpPr>
        <p:spPr>
          <a:xfrm>
            <a:off x="1308100" y="1600200"/>
            <a:ext cx="0" cy="2794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257263DC-164B-4D49-88D4-3051360D8171}"/>
              </a:ext>
            </a:extLst>
          </p:cNvPr>
          <p:cNvCxnSpPr/>
          <p:nvPr/>
        </p:nvCxnSpPr>
        <p:spPr>
          <a:xfrm>
            <a:off x="1308100" y="1879600"/>
            <a:ext cx="203200" cy="381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0804901-A674-4B8C-A477-AEB74F8A4AE9}"/>
              </a:ext>
            </a:extLst>
          </p:cNvPr>
          <p:cNvCxnSpPr/>
          <p:nvPr/>
        </p:nvCxnSpPr>
        <p:spPr>
          <a:xfrm flipH="1">
            <a:off x="1612900" y="1600200"/>
            <a:ext cx="203200" cy="50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154A30D1-40AE-43E8-892A-976EBF00CBB1}"/>
              </a:ext>
            </a:extLst>
          </p:cNvPr>
          <p:cNvCxnSpPr/>
          <p:nvPr/>
        </p:nvCxnSpPr>
        <p:spPr>
          <a:xfrm>
            <a:off x="1816100" y="1600200"/>
            <a:ext cx="0" cy="2794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703E8A0-38DA-49DA-83F5-992A335447A8}"/>
              </a:ext>
            </a:extLst>
          </p:cNvPr>
          <p:cNvCxnSpPr/>
          <p:nvPr/>
        </p:nvCxnSpPr>
        <p:spPr>
          <a:xfrm flipH="1">
            <a:off x="1612900" y="1879600"/>
            <a:ext cx="203200" cy="381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6A7D2679-1CF3-440B-B535-89CCCCEC9FF3}"/>
              </a:ext>
            </a:extLst>
          </p:cNvPr>
          <p:cNvSpPr txBox="1"/>
          <p:nvPr/>
        </p:nvSpPr>
        <p:spPr>
          <a:xfrm>
            <a:off x="749300" y="22733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900" b="1" spc="-7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컨택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C800628B-35C9-45BD-A28E-2FA342357C42}"/>
              </a:ext>
            </a:extLst>
          </p:cNvPr>
          <p:cNvSpPr/>
          <p:nvPr/>
        </p:nvSpPr>
        <p:spPr>
          <a:xfrm>
            <a:off x="596900" y="3987800"/>
            <a:ext cx="1930400" cy="1955800"/>
          </a:xfrm>
          <a:prstGeom prst="roundRect">
            <a:avLst/>
          </a:prstGeom>
          <a:solidFill>
            <a:srgbClr val="064682"/>
          </a:solidFill>
          <a:ln w="1524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92CD30FA-E213-47FA-B58D-6DBDC8A64B00}"/>
              </a:ext>
            </a:extLst>
          </p:cNvPr>
          <p:cNvSpPr/>
          <p:nvPr/>
        </p:nvSpPr>
        <p:spPr>
          <a:xfrm>
            <a:off x="1206500" y="4216400"/>
            <a:ext cx="711200" cy="711200"/>
          </a:xfrm>
          <a:prstGeom prst="ellipse">
            <a:avLst/>
          </a:prstGeom>
          <a:noFill/>
          <a:ln w="2286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FD046043-C2E9-439D-9351-9B2C681AB1C0}"/>
              </a:ext>
            </a:extLst>
          </p:cNvPr>
          <p:cNvSpPr/>
          <p:nvPr/>
        </p:nvSpPr>
        <p:spPr>
          <a:xfrm>
            <a:off x="1295400" y="4445000"/>
            <a:ext cx="533400" cy="317500"/>
          </a:xfrm>
          <a:prstGeom prst="roundRect">
            <a:avLst/>
          </a:prstGeom>
          <a:noFill/>
          <a:ln w="2032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4C9538AD-1E26-4D98-9A84-9F583C631E3C}"/>
              </a:ext>
            </a:extLst>
          </p:cNvPr>
          <p:cNvCxnSpPr/>
          <p:nvPr/>
        </p:nvCxnSpPr>
        <p:spPr>
          <a:xfrm>
            <a:off x="1333500" y="4546600"/>
            <a:ext cx="4572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타원 74">
            <a:extLst>
              <a:ext uri="{FF2B5EF4-FFF2-40B4-BE49-F238E27FC236}">
                <a16:creationId xmlns:a16="http://schemas.microsoft.com/office/drawing/2014/main" id="{A7F85FB6-8660-4CF0-8DE1-4408192E264A}"/>
              </a:ext>
            </a:extLst>
          </p:cNvPr>
          <p:cNvSpPr/>
          <p:nvPr/>
        </p:nvSpPr>
        <p:spPr>
          <a:xfrm>
            <a:off x="1384300" y="4622800"/>
            <a:ext cx="88900" cy="889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6CC11AB-FF7F-43B1-8CE9-9D310F74FC12}"/>
              </a:ext>
            </a:extLst>
          </p:cNvPr>
          <p:cNvSpPr txBox="1"/>
          <p:nvPr/>
        </p:nvSpPr>
        <p:spPr>
          <a:xfrm>
            <a:off x="749300" y="51054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900" b="1" spc="-7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운영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446D5074-29B4-41C9-BD8B-D05774C2C914}"/>
              </a:ext>
            </a:extLst>
          </p:cNvPr>
          <p:cNvSpPr/>
          <p:nvPr/>
        </p:nvSpPr>
        <p:spPr>
          <a:xfrm>
            <a:off x="3124200" y="1104900"/>
            <a:ext cx="4000500" cy="8382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AED2A788-B077-42D6-A4A7-E90365ECE3EE}"/>
              </a:ext>
            </a:extLst>
          </p:cNvPr>
          <p:cNvSpPr/>
          <p:nvPr/>
        </p:nvSpPr>
        <p:spPr>
          <a:xfrm>
            <a:off x="3302000" y="1282700"/>
            <a:ext cx="482600" cy="4826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30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01</a:t>
            </a:r>
            <a:endParaRPr lang="ko-KR" altLang="en-US" sz="1400" b="1" spc="-30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DD33639-4D1F-4EC3-A881-C052ED45054F}"/>
              </a:ext>
            </a:extLst>
          </p:cNvPr>
          <p:cNvSpPr txBox="1"/>
          <p:nvPr/>
        </p:nvSpPr>
        <p:spPr>
          <a:xfrm>
            <a:off x="3911600" y="1295400"/>
            <a:ext cx="294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700" b="1" spc="-6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국비지원 종류</a:t>
            </a:r>
          </a:p>
        </p:txBody>
      </p:sp>
      <p:sp>
        <p:nvSpPr>
          <p:cNvPr id="80" name="이등변 삼각형 79">
            <a:extLst>
              <a:ext uri="{FF2B5EF4-FFF2-40B4-BE49-F238E27FC236}">
                <a16:creationId xmlns:a16="http://schemas.microsoft.com/office/drawing/2014/main" id="{8EA805E5-3B9C-4E0C-AC72-9F1C82A1462B}"/>
              </a:ext>
            </a:extLst>
          </p:cNvPr>
          <p:cNvSpPr/>
          <p:nvPr/>
        </p:nvSpPr>
        <p:spPr>
          <a:xfrm rot="5400000">
            <a:off x="7353300" y="1447800"/>
            <a:ext cx="152400" cy="165100"/>
          </a:xfrm>
          <a:prstGeom prst="triangle">
            <a:avLst/>
          </a:prstGeom>
          <a:solidFill>
            <a:srgbClr val="0A4F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85AAF1CF-613B-4D2C-821F-19728280C243}"/>
              </a:ext>
            </a:extLst>
          </p:cNvPr>
          <p:cNvSpPr/>
          <p:nvPr/>
        </p:nvSpPr>
        <p:spPr>
          <a:xfrm>
            <a:off x="7683500" y="1104900"/>
            <a:ext cx="3937000" cy="8382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63500" rIns="177800" bIns="63500" rtlCol="0" anchor="ctr">
            <a:noAutofit/>
          </a:bodyPr>
          <a:lstStyle/>
          <a:p>
            <a:r>
              <a:rPr lang="ko-KR" altLang="en-US" sz="1450" b="1" spc="-4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지원 유형과 카드 발급 기준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484004BB-36A5-4A76-A455-B15956DBCC61}"/>
              </a:ext>
            </a:extLst>
          </p:cNvPr>
          <p:cNvSpPr/>
          <p:nvPr/>
        </p:nvSpPr>
        <p:spPr>
          <a:xfrm>
            <a:off x="3124200" y="2184400"/>
            <a:ext cx="4000500" cy="8382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9E7DA09D-6DF9-4537-A24C-4368509E922F}"/>
              </a:ext>
            </a:extLst>
          </p:cNvPr>
          <p:cNvSpPr/>
          <p:nvPr/>
        </p:nvSpPr>
        <p:spPr>
          <a:xfrm>
            <a:off x="3302000" y="2362200"/>
            <a:ext cx="482600" cy="4826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30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02</a:t>
            </a:r>
            <a:endParaRPr lang="ko-KR" altLang="en-US" sz="1400" b="1" spc="-30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379B800-AFA0-4D4F-9950-E8B6A2FB4120}"/>
              </a:ext>
            </a:extLst>
          </p:cNvPr>
          <p:cNvSpPr txBox="1"/>
          <p:nvPr/>
        </p:nvSpPr>
        <p:spPr>
          <a:xfrm>
            <a:off x="3911600" y="2374900"/>
            <a:ext cx="294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700" b="1" spc="-6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컨택 스피치</a:t>
            </a:r>
          </a:p>
        </p:txBody>
      </p:sp>
      <p:sp>
        <p:nvSpPr>
          <p:cNvPr id="85" name="이등변 삼각형 84">
            <a:extLst>
              <a:ext uri="{FF2B5EF4-FFF2-40B4-BE49-F238E27FC236}">
                <a16:creationId xmlns:a16="http://schemas.microsoft.com/office/drawing/2014/main" id="{22684D47-9732-443A-9FD8-542A6EC9CC0D}"/>
              </a:ext>
            </a:extLst>
          </p:cNvPr>
          <p:cNvSpPr/>
          <p:nvPr/>
        </p:nvSpPr>
        <p:spPr>
          <a:xfrm rot="5400000">
            <a:off x="7353300" y="2527300"/>
            <a:ext cx="152400" cy="165100"/>
          </a:xfrm>
          <a:prstGeom prst="triangle">
            <a:avLst/>
          </a:prstGeom>
          <a:solidFill>
            <a:srgbClr val="0A4F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387E8F73-FC5E-436A-A979-88AACF8BF417}"/>
              </a:ext>
            </a:extLst>
          </p:cNvPr>
          <p:cNvSpPr/>
          <p:nvPr/>
        </p:nvSpPr>
        <p:spPr>
          <a:xfrm>
            <a:off x="7683500" y="2184400"/>
            <a:ext cx="3937000" cy="8382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63500" rIns="177800" bIns="63500" rtlCol="0" anchor="ctr">
            <a:noAutofit/>
          </a:bodyPr>
          <a:lstStyle/>
          <a:p>
            <a:r>
              <a:rPr lang="ko-KR" altLang="en-US" sz="1450" b="1" spc="-4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상황별 문의 응대와 방문 유도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34B1E51A-5448-4CD5-93A5-18730573D8F1}"/>
              </a:ext>
            </a:extLst>
          </p:cNvPr>
          <p:cNvSpPr/>
          <p:nvPr/>
        </p:nvSpPr>
        <p:spPr>
          <a:xfrm>
            <a:off x="3124200" y="3937000"/>
            <a:ext cx="4000500" cy="8382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990483C3-0AA7-495E-A61E-C9375E39A4FD}"/>
              </a:ext>
            </a:extLst>
          </p:cNvPr>
          <p:cNvSpPr/>
          <p:nvPr/>
        </p:nvSpPr>
        <p:spPr>
          <a:xfrm>
            <a:off x="3302000" y="4114800"/>
            <a:ext cx="482600" cy="4826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30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03</a:t>
            </a:r>
            <a:endParaRPr lang="ko-KR" altLang="en-US" sz="1400" b="1" spc="-30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56744F8-06E6-4B2B-9C9D-B883FD47F2D5}"/>
              </a:ext>
            </a:extLst>
          </p:cNvPr>
          <p:cNvSpPr txBox="1"/>
          <p:nvPr/>
        </p:nvSpPr>
        <p:spPr>
          <a:xfrm>
            <a:off x="3911600" y="4127500"/>
            <a:ext cx="294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700" b="1" spc="-6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스피치</a:t>
            </a:r>
          </a:p>
        </p:txBody>
      </p:sp>
      <p:sp>
        <p:nvSpPr>
          <p:cNvPr id="90" name="이등변 삼각형 89">
            <a:extLst>
              <a:ext uri="{FF2B5EF4-FFF2-40B4-BE49-F238E27FC236}">
                <a16:creationId xmlns:a16="http://schemas.microsoft.com/office/drawing/2014/main" id="{E8F07863-BA17-45BF-A00B-092E372770A9}"/>
              </a:ext>
            </a:extLst>
          </p:cNvPr>
          <p:cNvSpPr/>
          <p:nvPr/>
        </p:nvSpPr>
        <p:spPr>
          <a:xfrm rot="5400000">
            <a:off x="7353300" y="4279900"/>
            <a:ext cx="152400" cy="165100"/>
          </a:xfrm>
          <a:prstGeom prst="triangle">
            <a:avLst/>
          </a:prstGeom>
          <a:solidFill>
            <a:srgbClr val="0A4F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E3591302-4070-4A3D-846C-9DADCEFFE60E}"/>
              </a:ext>
            </a:extLst>
          </p:cNvPr>
          <p:cNvSpPr/>
          <p:nvPr/>
        </p:nvSpPr>
        <p:spPr>
          <a:xfrm>
            <a:off x="7683500" y="3937000"/>
            <a:ext cx="3937000" cy="8382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63500" rIns="177800" bIns="63500" rtlCol="0" anchor="ctr">
            <a:noAutofit/>
          </a:bodyPr>
          <a:lstStyle/>
          <a:p>
            <a:r>
              <a:rPr lang="ko-KR" altLang="en-US" sz="1450" b="1" spc="-4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설계와 국취제 활용</a:t>
            </a: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EF3285EB-B5D4-42EE-9CC5-2129AE275991}"/>
              </a:ext>
            </a:extLst>
          </p:cNvPr>
          <p:cNvSpPr/>
          <p:nvPr/>
        </p:nvSpPr>
        <p:spPr>
          <a:xfrm>
            <a:off x="3124200" y="5016500"/>
            <a:ext cx="4000500" cy="8382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7A7ACE67-AF55-489C-8EC7-AEBDCF42AFFD}"/>
              </a:ext>
            </a:extLst>
          </p:cNvPr>
          <p:cNvSpPr/>
          <p:nvPr/>
        </p:nvSpPr>
        <p:spPr>
          <a:xfrm>
            <a:off x="3302000" y="5194300"/>
            <a:ext cx="482600" cy="4826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30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04</a:t>
            </a:r>
            <a:endParaRPr lang="ko-KR" altLang="en-US" sz="1400" b="1" spc="-30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8377536-EBD2-45D1-8647-9BCAE7130E77}"/>
              </a:ext>
            </a:extLst>
          </p:cNvPr>
          <p:cNvSpPr txBox="1"/>
          <p:nvPr/>
        </p:nvSpPr>
        <p:spPr>
          <a:xfrm>
            <a:off x="3911600" y="5207000"/>
            <a:ext cx="294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700" b="1" spc="-6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</a:t>
            </a:r>
            <a:r>
              <a:rPr lang="en-US" altLang="ko-KR" sz="1700" b="1" spc="-6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+ </a:t>
            </a:r>
            <a:r>
              <a:rPr lang="ko-KR" altLang="en-US" sz="1700" b="1" spc="-6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</a:p>
        </p:txBody>
      </p:sp>
      <p:sp>
        <p:nvSpPr>
          <p:cNvPr id="95" name="이등변 삼각형 94">
            <a:extLst>
              <a:ext uri="{FF2B5EF4-FFF2-40B4-BE49-F238E27FC236}">
                <a16:creationId xmlns:a16="http://schemas.microsoft.com/office/drawing/2014/main" id="{BA4C23C5-C6BC-4DEA-973F-1F8C71F4F4A0}"/>
              </a:ext>
            </a:extLst>
          </p:cNvPr>
          <p:cNvSpPr/>
          <p:nvPr/>
        </p:nvSpPr>
        <p:spPr>
          <a:xfrm rot="5400000">
            <a:off x="7353300" y="5359400"/>
            <a:ext cx="152400" cy="165100"/>
          </a:xfrm>
          <a:prstGeom prst="triangle">
            <a:avLst/>
          </a:prstGeom>
          <a:solidFill>
            <a:srgbClr val="0A4F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C8D5F6FC-05F2-49E7-B379-3CF7902946D3}"/>
              </a:ext>
            </a:extLst>
          </p:cNvPr>
          <p:cNvSpPr/>
          <p:nvPr/>
        </p:nvSpPr>
        <p:spPr>
          <a:xfrm>
            <a:off x="7683500" y="5016500"/>
            <a:ext cx="3937000" cy="8382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63500" rIns="177800" bIns="63500" rtlCol="0" anchor="ctr">
            <a:noAutofit/>
          </a:bodyPr>
          <a:lstStyle/>
          <a:p>
            <a:r>
              <a:rPr lang="ko-KR" altLang="en-US" sz="1450" b="1" spc="-4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일반과정과 국비과정 연결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9A12731-CD33-4AFD-8986-4B750F64D097}"/>
              </a:ext>
            </a:extLst>
          </p:cNvPr>
          <p:cNvSpPr txBox="1"/>
          <p:nvPr/>
        </p:nvSpPr>
        <p:spPr>
          <a:xfrm>
            <a:off x="609600" y="6248400"/>
            <a:ext cx="10985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050" spc="-35">
                <a:solidFill>
                  <a:srgbClr val="7B8794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컨택부터 상담 운영까지 한 흐름으로 정리한 실무 목차</a:t>
            </a:r>
          </a:p>
        </p:txBody>
      </p:sp>
    </p:spTree>
    <p:extLst>
      <p:ext uri="{BB962C8B-B14F-4D97-AF65-F5344CB8AC3E}">
        <p14:creationId xmlns:p14="http://schemas.microsoft.com/office/powerpoint/2010/main" val="138726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1. 국비지원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국비지원 종류 · 훈련 유형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03-1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482600"/>
          </a:xfrm>
          <a:prstGeom prst="rect">
            <a:avLst/>
          </a:prstGeom>
          <a:solidFill>
            <a:srgbClr val="064682"/>
          </a:solidFill>
          <a:ln w="12700">
            <a:solidFill>
              <a:srgbClr val="06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훈련 유형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1955800"/>
            <a:ext cx="106045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8" name="Card"/>
          <p:cNvSpPr/>
          <p:nvPr/>
        </p:nvSpPr>
        <p:spPr>
          <a:xfrm>
            <a:off x="939800" y="21082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549400" y="20828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국가기간 · 국가전략산업직종 훈련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549400" y="2451100"/>
            <a:ext cx="9690100" cy="520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훈련비 90% 이상 지원, 유형에 따라 100% 지원</a:t>
            </a:r>
          </a:p>
        </p:txBody>
      </p:sp>
      <p:sp>
        <p:nvSpPr>
          <p:cNvPr id="11" name="Card"/>
          <p:cNvSpPr/>
          <p:nvPr/>
        </p:nvSpPr>
        <p:spPr>
          <a:xfrm>
            <a:off x="787400" y="3251200"/>
            <a:ext cx="106045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2" name="Card"/>
          <p:cNvSpPr/>
          <p:nvPr/>
        </p:nvSpPr>
        <p:spPr>
          <a:xfrm>
            <a:off x="939800" y="34036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549400" y="33782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실업자 계좌제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549400" y="3746500"/>
            <a:ext cx="9690100" cy="520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유형에 따라 자부담금 발생</a:t>
            </a:r>
          </a:p>
        </p:txBody>
      </p:sp>
      <p:sp>
        <p:nvSpPr>
          <p:cNvPr id="15" name="Card"/>
          <p:cNvSpPr/>
          <p:nvPr/>
        </p:nvSpPr>
        <p:spPr>
          <a:xfrm>
            <a:off x="787400" y="4546600"/>
            <a:ext cx="106045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6" name="Card"/>
          <p:cNvSpPr/>
          <p:nvPr/>
        </p:nvSpPr>
        <p:spPr>
          <a:xfrm>
            <a:off x="939800" y="4699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549400" y="46736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근로자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549400" y="5041900"/>
            <a:ext cx="9690100" cy="520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유형에 따라 자부담금 발생</a:t>
            </a:r>
          </a:p>
        </p:txBody>
      </p:sp>
    </p:spTree>
    <p:extLst>
      <p:ext uri="{BB962C8B-B14F-4D97-AF65-F5344CB8AC3E}">
        <p14:creationId xmlns:p14="http://schemas.microsoft.com/office/powerpoint/2010/main" val="4225659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1. 국비지원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국비지원 종류 · 카드 발급 유형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03-2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482600"/>
          </a:xfrm>
          <a:prstGeom prst="rect">
            <a:avLst/>
          </a:prstGeom>
          <a:solidFill>
            <a:srgbClr val="064682"/>
          </a:solidFill>
          <a:ln w="12700">
            <a:solidFill>
              <a:srgbClr val="06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카드 발급 유형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1955800"/>
            <a:ext cx="106045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8" name="Card"/>
          <p:cNvSpPr/>
          <p:nvPr/>
        </p:nvSpPr>
        <p:spPr>
          <a:xfrm>
            <a:off x="939800" y="21082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04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549400" y="20828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국민 내일배움카드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549400" y="2451100"/>
            <a:ext cx="9690100" cy="1028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• 훈련비 300만원 지원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• 자부담비용은 직종평균 취업률(과거3년 평균)에 따라 15~55% 자부담하여야 함.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• 자부담비율은 직종평균 취업률(고용24 기준)에 따라 15~55% 자부담해야 함</a:t>
            </a:r>
          </a:p>
        </p:txBody>
      </p:sp>
      <p:sp>
        <p:nvSpPr>
          <p:cNvPr id="11" name="Card"/>
          <p:cNvSpPr/>
          <p:nvPr/>
        </p:nvSpPr>
        <p:spPr>
          <a:xfrm>
            <a:off x="787400" y="3835400"/>
            <a:ext cx="106045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2" name="Card"/>
          <p:cNvSpPr/>
          <p:nvPr/>
        </p:nvSpPr>
        <p:spPr>
          <a:xfrm>
            <a:off x="939800" y="39878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05-1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549400" y="39624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국민취업지원제도 · 1유형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549400" y="4330700"/>
            <a:ext cx="9690100" cy="4191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구직촉진수당 : 월60만 최대6개월 = 360만원</a:t>
            </a:r>
          </a:p>
        </p:txBody>
      </p:sp>
      <p:sp>
        <p:nvSpPr>
          <p:cNvPr id="15" name="Card"/>
          <p:cNvSpPr/>
          <p:nvPr/>
        </p:nvSpPr>
        <p:spPr>
          <a:xfrm>
            <a:off x="787400" y="5105400"/>
            <a:ext cx="106045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6" name="Card"/>
          <p:cNvSpPr/>
          <p:nvPr/>
        </p:nvSpPr>
        <p:spPr>
          <a:xfrm>
            <a:off x="939800" y="52578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05-2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549400" y="52324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국민취업지원제도 · 2유형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549400" y="5600700"/>
            <a:ext cx="9690100" cy="4953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• 참여수당 : 15만원 + 프로그램에 따라 3~10만원 추가 지급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• 참여장려수당: 1회 2만원 X 최대 5회 = 10만원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1. 국비지원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국비지원 대상 및 지원한도 · 지원대상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04-1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1168400" y="1270000"/>
            <a:ext cx="9842500" cy="6985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356A"/>
                </a:solidFill>
                <a:latin typeface="Noto Sans KR"/>
              </a:rPr>
              <a:t>300만원 기본 지원, 최대 500만원까지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2197100"/>
            <a:ext cx="10604500" cy="10668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356A"/>
                </a:solidFill>
                <a:latin typeface="Noto Sans KR"/>
              </a:rPr>
              <a:t>지원대상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356A"/>
                </a:solidFill>
                <a:latin typeface="Noto Sans KR"/>
              </a:rPr>
              <a:t>업무 능력을 키우고 싶은 누구나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356A"/>
                </a:solidFill>
                <a:latin typeface="Noto Sans KR"/>
              </a:rPr>
              <a:t>대학(원)생도 졸업까지 남은 수업연한이 2년 이내면 발급 가능</a:t>
            </a:r>
          </a:p>
        </p:txBody>
      </p:sp>
      <p:sp>
        <p:nvSpPr>
          <p:cNvPr id="8" name="Card"/>
          <p:cNvSpPr/>
          <p:nvPr/>
        </p:nvSpPr>
        <p:spPr>
          <a:xfrm>
            <a:off x="787400" y="3530600"/>
            <a:ext cx="10604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지원 제외 대상(요약) · 1</a:t>
            </a:r>
          </a:p>
        </p:txBody>
      </p:sp>
      <p:sp>
        <p:nvSpPr>
          <p:cNvPr id="9" name="Card"/>
          <p:cNvSpPr/>
          <p:nvPr/>
        </p:nvSpPr>
        <p:spPr>
          <a:xfrm>
            <a:off x="787400" y="4076700"/>
            <a:ext cx="106045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01  공무원, 사립학교 교직원</a:t>
            </a:r>
          </a:p>
        </p:txBody>
      </p:sp>
      <p:sp>
        <p:nvSpPr>
          <p:cNvPr id="10" name="Card"/>
          <p:cNvSpPr/>
          <p:nvPr/>
        </p:nvSpPr>
        <p:spPr>
          <a:xfrm>
            <a:off x="787400" y="4432300"/>
            <a:ext cx="106045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02  75세 이상</a:t>
            </a:r>
          </a:p>
        </p:txBody>
      </p:sp>
      <p:sp>
        <p:nvSpPr>
          <p:cNvPr id="11" name="Card"/>
          <p:cNvSpPr/>
          <p:nvPr/>
        </p:nvSpPr>
        <p:spPr>
          <a:xfrm>
            <a:off x="787400" y="4787900"/>
            <a:ext cx="106045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03  대규모기업 근로자(월 임금 300만원 이상·만 45세 미만)</a:t>
            </a:r>
          </a:p>
        </p:txBody>
      </p:sp>
      <p:sp>
        <p:nvSpPr>
          <p:cNvPr id="12" name="Card"/>
          <p:cNvSpPr/>
          <p:nvPr/>
        </p:nvSpPr>
        <p:spPr>
          <a:xfrm>
            <a:off x="787400" y="5143500"/>
            <a:ext cx="106045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04  월 소득 500만원 이상 특수형태근로종사자</a:t>
            </a:r>
          </a:p>
        </p:txBody>
      </p:sp>
      <p:sp>
        <p:nvSpPr>
          <p:cNvPr id="13" name="Card"/>
          <p:cNvSpPr/>
          <p:nvPr/>
        </p:nvSpPr>
        <p:spPr>
          <a:xfrm>
            <a:off x="787400" y="5499100"/>
            <a:ext cx="106045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05  사업기간 1년 미만이거나 연 매출 4억원 이상 자영업자</a:t>
            </a:r>
          </a:p>
        </p:txBody>
      </p:sp>
      <p:sp>
        <p:nvSpPr>
          <p:cNvPr id="14" name="Card"/>
          <p:cNvSpPr/>
          <p:nvPr/>
        </p:nvSpPr>
        <p:spPr>
          <a:xfrm>
            <a:off x="787400" y="5854700"/>
            <a:ext cx="106045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06  사업기간 1년 미만이거나 월 소득 300만원 이상 법인대표</a:t>
            </a:r>
          </a:p>
        </p:txBody>
      </p:sp>
    </p:spTree>
    <p:extLst>
      <p:ext uri="{BB962C8B-B14F-4D97-AF65-F5344CB8AC3E}">
        <p14:creationId xmlns:p14="http://schemas.microsoft.com/office/powerpoint/2010/main" val="2623890681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1. 국비지원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국비지원 대상 및 지원한도 · 지원 제외 대상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04-2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4572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지원 제외 대상(요약) · 2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1917700"/>
            <a:ext cx="10604500" cy="5842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07  월 소득 300만원 이상 비영리단체 대표</a:t>
            </a:r>
          </a:p>
        </p:txBody>
      </p:sp>
      <p:sp>
        <p:nvSpPr>
          <p:cNvPr id="8" name="Card"/>
          <p:cNvSpPr/>
          <p:nvPr/>
        </p:nvSpPr>
        <p:spPr>
          <a:xfrm>
            <a:off x="787400" y="2616200"/>
            <a:ext cx="1060450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08  졸업까지 2년 이상 남은 대학(원)생</a:t>
            </a:r>
          </a:p>
        </p:txBody>
      </p:sp>
      <p:sp>
        <p:nvSpPr>
          <p:cNvPr id="9" name="Card"/>
          <p:cNvSpPr/>
          <p:nvPr/>
        </p:nvSpPr>
        <p:spPr>
          <a:xfrm>
            <a:off x="787400" y="3314700"/>
            <a:ext cx="10604500" cy="5842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09  생계급여 수급자(단, 조건부 수급자·조건부 유예자는 가능)</a:t>
            </a:r>
          </a:p>
        </p:txBody>
      </p:sp>
      <p:sp>
        <p:nvSpPr>
          <p:cNvPr id="10" name="Card"/>
          <p:cNvSpPr/>
          <p:nvPr/>
        </p:nvSpPr>
        <p:spPr>
          <a:xfrm>
            <a:off x="787400" y="4013200"/>
            <a:ext cx="1060450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10  다른 부처·지자체에서 훈련비를 지원받는 사람</a:t>
            </a:r>
          </a:p>
        </p:txBody>
      </p:sp>
      <p:sp>
        <p:nvSpPr>
          <p:cNvPr id="11" name="Card"/>
          <p:cNvSpPr/>
          <p:nvPr/>
        </p:nvSpPr>
        <p:spPr>
          <a:xfrm>
            <a:off x="787400" y="4711700"/>
            <a:ext cx="10604500" cy="5842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11  부정수급자 등</a:t>
            </a:r>
          </a:p>
        </p:txBody>
      </p:sp>
      <p:sp>
        <p:nvSpPr>
          <p:cNvPr id="12" name="Card"/>
          <p:cNvSpPr/>
          <p:nvPr/>
        </p:nvSpPr>
        <p:spPr>
          <a:xfrm>
            <a:off x="787400" y="5562600"/>
            <a:ext cx="10604500" cy="381000"/>
          </a:xfrm>
          <a:prstGeom prst="rect">
            <a:avLst/>
          </a:prstGeom>
          <a:solidFill>
            <a:srgbClr val="064682"/>
          </a:solidFill>
          <a:ln w="12700">
            <a:solidFill>
              <a:srgbClr val="06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KR"/>
              </a:rPr>
              <a:t>훈련비 지원율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1. 국비지원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국비지원 대상 및 지원한도 · 훈련비 지원율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04-3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787400" y="1282700"/>
            <a:ext cx="10604500" cy="457200"/>
          </a:xfrm>
          <a:prstGeom prst="rect">
            <a:avLst/>
          </a:prstGeom>
          <a:solidFill>
            <a:srgbClr val="064682"/>
          </a:solidFill>
          <a:ln w="12700">
            <a:solidFill>
              <a:srgbClr val="06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훈련비 지원율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1943100"/>
            <a:ext cx="106045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8" name="Card"/>
          <p:cNvSpPr/>
          <p:nvPr/>
        </p:nvSpPr>
        <p:spPr>
          <a:xfrm>
            <a:off x="939800" y="20955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549400" y="20701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지원율 1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549400" y="2438400"/>
            <a:ext cx="9690100" cy="2413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일반 참여자 45~85%</a:t>
            </a:r>
          </a:p>
        </p:txBody>
      </p:sp>
      <p:sp>
        <p:nvSpPr>
          <p:cNvPr id="11" name="Card"/>
          <p:cNvSpPr/>
          <p:nvPr/>
        </p:nvSpPr>
        <p:spPr>
          <a:xfrm>
            <a:off x="787400" y="2933700"/>
            <a:ext cx="106045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2" name="Card"/>
          <p:cNvSpPr/>
          <p:nvPr/>
        </p:nvSpPr>
        <p:spPr>
          <a:xfrm>
            <a:off x="939800" y="30861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549400" y="30607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지원율 2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549400" y="3429000"/>
            <a:ext cx="9690100" cy="2413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국민취업지원제도 I유형, II유형 중 특정계층 등 일반 자부담 적용자 80~100%</a:t>
            </a:r>
          </a:p>
        </p:txBody>
      </p:sp>
      <p:sp>
        <p:nvSpPr>
          <p:cNvPr id="15" name="Card"/>
          <p:cNvSpPr/>
          <p:nvPr/>
        </p:nvSpPr>
        <p:spPr>
          <a:xfrm>
            <a:off x="787400" y="3924300"/>
            <a:ext cx="106045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6" name="Card"/>
          <p:cNvSpPr/>
          <p:nvPr/>
        </p:nvSpPr>
        <p:spPr>
          <a:xfrm>
            <a:off x="939800" y="40767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549400" y="40513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지원율 3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549400" y="4419600"/>
            <a:ext cx="9690100" cy="2413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국민취업지원제도 II유형(청년·중장년 등) 50~85%</a:t>
            </a:r>
          </a:p>
        </p:txBody>
      </p:sp>
      <p:sp>
        <p:nvSpPr>
          <p:cNvPr id="19" name="Card"/>
          <p:cNvSpPr/>
          <p:nvPr/>
        </p:nvSpPr>
        <p:spPr>
          <a:xfrm>
            <a:off x="787400" y="4914900"/>
            <a:ext cx="106045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20" name="Card"/>
          <p:cNvSpPr/>
          <p:nvPr/>
        </p:nvSpPr>
        <p:spPr>
          <a:xfrm>
            <a:off x="939800" y="50673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04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549400" y="50419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지원율 4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549400" y="5410200"/>
            <a:ext cx="9690100" cy="2413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근로장려금(EITC) 수급자 72.5~92.5%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1. 국비지원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국비지원 대상 및 지원한도 · 추가 지원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04-4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1168400" y="1282700"/>
            <a:ext cx="9842500" cy="6350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356A"/>
                </a:solidFill>
                <a:latin typeface="Noto Sans KR"/>
              </a:rPr>
              <a:t>300만원 소진 시 200만원 추가 / 총 500만원 한도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2146300"/>
            <a:ext cx="10604500" cy="457200"/>
          </a:xfrm>
          <a:prstGeom prst="rect">
            <a:avLst/>
          </a:prstGeom>
          <a:solidFill>
            <a:srgbClr val="064682"/>
          </a:solidFill>
          <a:ln w="12700">
            <a:solidFill>
              <a:srgbClr val="06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추가 지원 대상자</a:t>
            </a:r>
          </a:p>
        </p:txBody>
      </p:sp>
      <p:sp>
        <p:nvSpPr>
          <p:cNvPr id="8" name="Card"/>
          <p:cNvSpPr/>
          <p:nvPr/>
        </p:nvSpPr>
        <p:spPr>
          <a:xfrm>
            <a:off x="787400" y="2755900"/>
            <a:ext cx="10604500" cy="3429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01  기간제·파견·단시간·일용근로자로 재직 중인 피보험자</a:t>
            </a:r>
          </a:p>
        </p:txBody>
      </p:sp>
      <p:sp>
        <p:nvSpPr>
          <p:cNvPr id="9" name="Card"/>
          <p:cNvSpPr/>
          <p:nvPr/>
        </p:nvSpPr>
        <p:spPr>
          <a:xfrm>
            <a:off x="787400" y="3162300"/>
            <a:ext cx="10604500" cy="34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02  고용위기지역·선제대응지역 지원대상자, 특별고용지원업종 종사자</a:t>
            </a:r>
          </a:p>
        </p:txBody>
      </p:sp>
      <p:sp>
        <p:nvSpPr>
          <p:cNvPr id="10" name="Card"/>
          <p:cNvSpPr/>
          <p:nvPr/>
        </p:nvSpPr>
        <p:spPr>
          <a:xfrm>
            <a:off x="787400" y="3568700"/>
            <a:ext cx="10604500" cy="3429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03  출소(예정)자</a:t>
            </a:r>
          </a:p>
        </p:txBody>
      </p:sp>
      <p:sp>
        <p:nvSpPr>
          <p:cNvPr id="11" name="Card"/>
          <p:cNvSpPr/>
          <p:nvPr/>
        </p:nvSpPr>
        <p:spPr>
          <a:xfrm>
            <a:off x="787400" y="3975100"/>
            <a:ext cx="10604500" cy="34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04  기초생활수급자 및 차상위계층</a:t>
            </a:r>
          </a:p>
        </p:txBody>
      </p:sp>
      <p:sp>
        <p:nvSpPr>
          <p:cNvPr id="12" name="Card"/>
          <p:cNvSpPr/>
          <p:nvPr/>
        </p:nvSpPr>
        <p:spPr>
          <a:xfrm>
            <a:off x="787400" y="4381500"/>
            <a:ext cx="10604500" cy="3429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05  장애인</a:t>
            </a:r>
          </a:p>
        </p:txBody>
      </p:sp>
      <p:sp>
        <p:nvSpPr>
          <p:cNvPr id="13" name="Card"/>
          <p:cNvSpPr/>
          <p:nvPr/>
        </p:nvSpPr>
        <p:spPr>
          <a:xfrm>
            <a:off x="787400" y="4787900"/>
            <a:ext cx="10604500" cy="34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06  자립준비청년, 한부모가족 해당자</a:t>
            </a:r>
          </a:p>
        </p:txBody>
      </p:sp>
      <p:sp>
        <p:nvSpPr>
          <p:cNvPr id="14" name="Card"/>
          <p:cNvSpPr/>
          <p:nvPr/>
        </p:nvSpPr>
        <p:spPr>
          <a:xfrm>
            <a:off x="787400" y="5194300"/>
            <a:ext cx="10604500" cy="3429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07  북한이탈주민, 아프간 특별기여자</a:t>
            </a:r>
          </a:p>
        </p:txBody>
      </p:sp>
      <p:sp>
        <p:nvSpPr>
          <p:cNvPr id="15" name="Card"/>
          <p:cNvSpPr/>
          <p:nvPr/>
        </p:nvSpPr>
        <p:spPr>
          <a:xfrm>
            <a:off x="787400" y="5600700"/>
            <a:ext cx="10604500" cy="34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08  청소년복지지원법에 따른 가정밖 청소년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787400" y="6197600"/>
            <a:ext cx="10604500" cy="190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B8794"/>
                </a:solidFill>
                <a:latin typeface="Noto Sans KR"/>
              </a:rPr>
              <a:t>※ 고용24 기준 요약 정리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1. 국비지원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내일배움카드 vs 국민취업지원제도 · 내일배움카드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05-1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1168400" y="1270000"/>
            <a:ext cx="9842500" cy="609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356A"/>
                </a:solidFill>
                <a:latin typeface="Noto Sans KR"/>
              </a:rPr>
              <a:t>선지급 후 수업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2070100"/>
            <a:ext cx="10604500" cy="3937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장점</a:t>
            </a:r>
          </a:p>
        </p:txBody>
      </p:sp>
      <p:sp>
        <p:nvSpPr>
          <p:cNvPr id="8" name="Card"/>
          <p:cNvSpPr/>
          <p:nvPr/>
        </p:nvSpPr>
        <p:spPr>
          <a:xfrm>
            <a:off x="787400" y="2603500"/>
            <a:ext cx="5143500" cy="7874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1E2B38"/>
                </a:solidFill>
                <a:latin typeface="Noto Sans KR"/>
              </a:rPr>
              <a:t>01  최초 발급 시 카드에 300만원 충전, 구직자/재직자/사업자 참여 가능</a:t>
            </a:r>
          </a:p>
        </p:txBody>
      </p:sp>
      <p:sp>
        <p:nvSpPr>
          <p:cNvPr id="9" name="Card"/>
          <p:cNvSpPr/>
          <p:nvPr/>
        </p:nvSpPr>
        <p:spPr>
          <a:xfrm>
            <a:off x="6121400" y="2603500"/>
            <a:ext cx="51435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1E2B38"/>
                </a:solidFill>
                <a:latin typeface="Noto Sans KR"/>
              </a:rPr>
              <a:t>02  적합한 과정일 경우 적은 자부담, 취업 연계</a:t>
            </a:r>
          </a:p>
        </p:txBody>
      </p:sp>
      <p:sp>
        <p:nvSpPr>
          <p:cNvPr id="10" name="Card"/>
          <p:cNvSpPr/>
          <p:nvPr/>
        </p:nvSpPr>
        <p:spPr>
          <a:xfrm>
            <a:off x="787400" y="4495800"/>
            <a:ext cx="10604500" cy="393700"/>
          </a:xfrm>
          <a:prstGeom prst="rect">
            <a:avLst/>
          </a:prstGeom>
          <a:solidFill>
            <a:srgbClr val="064682"/>
          </a:solidFill>
          <a:ln w="12700">
            <a:solidFill>
              <a:srgbClr val="06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단점</a:t>
            </a:r>
          </a:p>
        </p:txBody>
      </p:sp>
      <p:sp>
        <p:nvSpPr>
          <p:cNvPr id="11" name="Card"/>
          <p:cNvSpPr/>
          <p:nvPr/>
        </p:nvSpPr>
        <p:spPr>
          <a:xfrm>
            <a:off x="787400" y="5029200"/>
            <a:ext cx="5143500" cy="4318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E2B38"/>
                </a:solidFill>
                <a:latin typeface="Noto Sans KR"/>
              </a:rPr>
              <a:t>• 정해진 수업 내 과정조율 불가</a:t>
            </a:r>
          </a:p>
        </p:txBody>
      </p:sp>
      <p:sp>
        <p:nvSpPr>
          <p:cNvPr id="12" name="Card"/>
          <p:cNvSpPr/>
          <p:nvPr/>
        </p:nvSpPr>
        <p:spPr>
          <a:xfrm>
            <a:off x="6121400" y="5029200"/>
            <a:ext cx="5143500" cy="43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E2B38"/>
                </a:solidFill>
                <a:latin typeface="Noto Sans KR"/>
              </a:rPr>
              <a:t>• 고용24 등록 된 과정만 사용 가능</a:t>
            </a:r>
          </a:p>
        </p:txBody>
      </p:sp>
      <p:sp>
        <p:nvSpPr>
          <p:cNvPr id="13" name="Card"/>
          <p:cNvSpPr/>
          <p:nvPr/>
        </p:nvSpPr>
        <p:spPr>
          <a:xfrm>
            <a:off x="787400" y="5537200"/>
            <a:ext cx="5143500" cy="4318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E2B38"/>
                </a:solidFill>
                <a:latin typeface="Noto Sans KR"/>
              </a:rPr>
              <a:t>• 국비 수강료 전액 결제 불가능 (15~55% 부담)</a:t>
            </a:r>
          </a:p>
        </p:txBody>
      </p:sp>
      <p:sp>
        <p:nvSpPr>
          <p:cNvPr id="14" name="Card"/>
          <p:cNvSpPr/>
          <p:nvPr/>
        </p:nvSpPr>
        <p:spPr>
          <a:xfrm>
            <a:off x="6121400" y="5537200"/>
            <a:ext cx="5143500" cy="43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E2B38"/>
                </a:solidFill>
                <a:latin typeface="Noto Sans KR"/>
              </a:rPr>
              <a:t>• 100% 대면으로 진행되며 출결 미달 시 탈락</a:t>
            </a:r>
          </a:p>
        </p:txBody>
      </p:sp>
      <p:sp>
        <p:nvSpPr>
          <p:cNvPr id="15" name="Card"/>
          <p:cNvSpPr/>
          <p:nvPr/>
        </p:nvSpPr>
        <p:spPr>
          <a:xfrm>
            <a:off x="787400" y="6045200"/>
            <a:ext cx="5143500" cy="4318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E2B38"/>
                </a:solidFill>
                <a:latin typeface="Noto Sans KR"/>
              </a:rPr>
              <a:t>• 기초부터 진행하여 전공자에겐 부적합</a:t>
            </a:r>
          </a:p>
        </p:txBody>
      </p:sp>
    </p:spTree>
    <p:extLst>
      <p:ext uri="{BB962C8B-B14F-4D97-AF65-F5344CB8AC3E}">
        <p14:creationId xmlns:p14="http://schemas.microsoft.com/office/powerpoint/2010/main" val="2550660537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1. 국비지원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내일배움카드 vs 국민취업지원제도 · 국민취업지원제도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05-2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1168400" y="1270000"/>
            <a:ext cx="9842500" cy="609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356A"/>
                </a:solidFill>
                <a:latin typeface="Noto Sans KR"/>
              </a:rPr>
              <a:t>선수업 후 지급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2070100"/>
            <a:ext cx="10604500" cy="3937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장점</a:t>
            </a:r>
          </a:p>
        </p:txBody>
      </p:sp>
      <p:sp>
        <p:nvSpPr>
          <p:cNvPr id="8" name="Card"/>
          <p:cNvSpPr/>
          <p:nvPr/>
        </p:nvSpPr>
        <p:spPr>
          <a:xfrm>
            <a:off x="787400" y="2603500"/>
            <a:ext cx="5143500" cy="7874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1E2B38"/>
                </a:solidFill>
                <a:latin typeface="Noto Sans KR"/>
              </a:rPr>
              <a:t>01  스케줄, 과정 조율 가능, 모든 과목에 적용할 수 있음</a:t>
            </a:r>
          </a:p>
        </p:txBody>
      </p:sp>
      <p:sp>
        <p:nvSpPr>
          <p:cNvPr id="9" name="Card"/>
          <p:cNvSpPr/>
          <p:nvPr/>
        </p:nvSpPr>
        <p:spPr>
          <a:xfrm>
            <a:off x="6121400" y="2603500"/>
            <a:ext cx="51435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1E2B38"/>
                </a:solidFill>
                <a:latin typeface="Noto Sans KR"/>
              </a:rPr>
              <a:t>02  촉진수당 360만원 전액 수강료 사용 가능</a:t>
            </a:r>
          </a:p>
        </p:txBody>
      </p:sp>
      <p:sp>
        <p:nvSpPr>
          <p:cNvPr id="10" name="Card"/>
          <p:cNvSpPr/>
          <p:nvPr/>
        </p:nvSpPr>
        <p:spPr>
          <a:xfrm>
            <a:off x="787400" y="3517900"/>
            <a:ext cx="5143500" cy="7874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1E2B38"/>
                </a:solidFill>
                <a:latin typeface="Noto Sans KR"/>
              </a:rPr>
              <a:t>03  비대면으로 진행해도 수당 지급</a:t>
            </a:r>
          </a:p>
        </p:txBody>
      </p:sp>
      <p:sp>
        <p:nvSpPr>
          <p:cNvPr id="11" name="Card"/>
          <p:cNvSpPr/>
          <p:nvPr/>
        </p:nvSpPr>
        <p:spPr>
          <a:xfrm>
            <a:off x="6121400" y="3517900"/>
            <a:ext cx="51435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1E2B38"/>
                </a:solidFill>
                <a:latin typeface="Noto Sans KR"/>
              </a:rPr>
              <a:t>04  취업 성공 수당 150만원까지 수급 가능</a:t>
            </a:r>
          </a:p>
        </p:txBody>
      </p:sp>
      <p:sp>
        <p:nvSpPr>
          <p:cNvPr id="12" name="Card"/>
          <p:cNvSpPr/>
          <p:nvPr/>
        </p:nvSpPr>
        <p:spPr>
          <a:xfrm>
            <a:off x="787400" y="4495800"/>
            <a:ext cx="10604500" cy="393700"/>
          </a:xfrm>
          <a:prstGeom prst="rect">
            <a:avLst/>
          </a:prstGeom>
          <a:solidFill>
            <a:srgbClr val="064682"/>
          </a:solidFill>
          <a:ln w="12700">
            <a:solidFill>
              <a:srgbClr val="06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단점</a:t>
            </a:r>
          </a:p>
        </p:txBody>
      </p:sp>
      <p:sp>
        <p:nvSpPr>
          <p:cNvPr id="13" name="Card"/>
          <p:cNvSpPr/>
          <p:nvPr/>
        </p:nvSpPr>
        <p:spPr>
          <a:xfrm>
            <a:off x="787400" y="5029200"/>
            <a:ext cx="5143500" cy="4318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E2B38"/>
                </a:solidFill>
                <a:latin typeface="Noto Sans KR"/>
              </a:rPr>
              <a:t>• 선 납부 후 수당 지급으로 인한 부담 증가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국비 문의의 흐름 · 원문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06-1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1244600"/>
            <a:ext cx="11112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“국비되나요?”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카드발급 받으셨어요?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사용해보셨을까요? → 네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사용해봤던 사람들은 국비의 단점 (피드백안되는점, 일을병행할수없는점, 수업기간이 긴점) 을 잘 알고있기때문에, 이 부분만 살짝만 건들어준다면, 국비타파가 쉽다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ex) 국비수업을 들어봐서 아시겠지만, 수업시간이 고정이 되어있어서 지금상황에서는 활용이 안되실꺼에요. 그러면 본원자체에 국비카드 소지자 분들은 저희가 따로 20%~40% 정도 할인적용해서 자부담금내시고 수업 들으실수있으세요</a:t>
            </a:r>
          </a:p>
        </p:txBody>
      </p:sp>
    </p:spTree>
    <p:extLst>
      <p:ext uri="{BB962C8B-B14F-4D97-AF65-F5344CB8AC3E}">
        <p14:creationId xmlns:p14="http://schemas.microsoft.com/office/powerpoint/2010/main" val="1711405080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국비 문의의 흐름 · 원문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06-2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1244600"/>
            <a:ext cx="11112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E2B38"/>
                </a:solidFill>
                <a:latin typeface="Noto Sans KR"/>
              </a:rPr>
              <a:t>사용해보셨을까요? → 아니요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E2B38"/>
                </a:solidFill>
                <a:latin typeface="Noto Sans KR"/>
              </a:rPr>
              <a:t>앞서 말했듯이 카드는 발급을 받았지만 활용하지 못하는 경우가 많다. 이럴경우 문의자의 수업 목적, 시간대, 기간을 파악하여 반대로 국비카드를 지금도 역시나 사용하지 못하신다라는 인식을 심어줄것!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E2B38"/>
                </a:solidFill>
                <a:latin typeface="Noto Sans KR"/>
              </a:rPr>
              <a:t>문의자 상황 : 알바를 하면서 국비카드 사용되나요? / 직장을 다니고있는데 주말반이나, 저녁반으로 가능한가요?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E2B38"/>
                </a:solidFill>
                <a:latin typeface="Noto Sans KR"/>
              </a:rPr>
              <a:t>ex) 국비수업은 9시 ~ 16시까지 수업에만 활용가능하신데 그 시간 수업 들어오실수있으세요?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E2B38"/>
                </a:solidFill>
                <a:latin typeface="Noto Sans KR"/>
              </a:rPr>
              <a:t>=&gt; 직장인들 참여불가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E2B38"/>
                </a:solidFill>
                <a:latin typeface="Noto Sans KR"/>
              </a:rPr>
              <a:t>국비수업은 취업위주 수업이기때문에 저녁반이나, 주말반은 수업이 없습니다 =&gt; 직장인들 참여불가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국비 문의의 흐름 · 원문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06-3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1244600"/>
            <a:ext cx="11112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l">
              <a:spcAft>
                <a:spcPts val="100"/>
              </a:spcAft>
            </a:pPr>
            <a:r>
              <a:rPr sz="1170" b="0">
                <a:solidFill>
                  <a:srgbClr val="1E2B38"/>
                </a:solidFill>
                <a:latin typeface="Noto Sans KR"/>
              </a:rPr>
              <a:t>발급신청은 하셨어요? → 네</a:t>
            </a:r>
          </a:p>
          <a:p>
            <a:pPr algn="l">
              <a:spcAft>
                <a:spcPts val="100"/>
              </a:spcAft>
            </a:pPr>
            <a:r>
              <a:rPr sz="1170" b="0">
                <a:solidFill>
                  <a:srgbClr val="1E2B38"/>
                </a:solidFill>
                <a:latin typeface="Noto Sans KR"/>
              </a:rPr>
              <a:t>내배카로 신청하셨을까요, 국민취업지원제도로 신청하셨을까요?</a:t>
            </a:r>
          </a:p>
          <a:p>
            <a:pPr algn="l">
              <a:spcAft>
                <a:spcPts val="100"/>
              </a:spcAft>
            </a:pPr>
            <a:r>
              <a:rPr sz="1170" b="0">
                <a:solidFill>
                  <a:srgbClr val="1E2B38"/>
                </a:solidFill>
                <a:latin typeface="Noto Sans KR"/>
              </a:rPr>
              <a:t>먼저는 국비종류 파악이 먼저! 내배카로 신청했을경우 90%이상 그럴경우, 국취제가 좋고, 활용하실수있는 범위가 넓다고 하여서 국취제로 신청하게끔 진행</a:t>
            </a:r>
          </a:p>
          <a:p>
            <a:pPr algn="l">
              <a:spcAft>
                <a:spcPts val="100"/>
              </a:spcAft>
            </a:pPr>
            <a:r>
              <a:rPr sz="1170" b="0">
                <a:solidFill>
                  <a:srgbClr val="1E2B38"/>
                </a:solidFill>
                <a:latin typeface="Noto Sans KR"/>
              </a:rPr>
              <a:t>☆ 국취제의 장점 어필</a:t>
            </a:r>
          </a:p>
          <a:p>
            <a:pPr algn="l">
              <a:spcAft>
                <a:spcPts val="100"/>
              </a:spcAft>
            </a:pPr>
            <a:r>
              <a:rPr sz="117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170" b="0">
                <a:solidFill>
                  <a:srgbClr val="1E2B38"/>
                </a:solidFill>
                <a:latin typeface="Noto Sans KR"/>
              </a:rPr>
              <a:t>ex) 내배카 활용하실려면 지금 일 그만두시고 오전부터 낮까지 6개월동안 수업 들어가야하는데 다른일을 병행을 할수없기때문에, 국취제를 활용해서 이직or취업준비하시면서 간단한 알바는 다른 취업준비를 하실수있기때문에 국취제로 신청하면됩니다~</a:t>
            </a:r>
          </a:p>
          <a:p>
            <a:pPr algn="l">
              <a:spcAft>
                <a:spcPts val="100"/>
              </a:spcAft>
            </a:pPr>
            <a:r>
              <a:rPr sz="117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170" b="0">
                <a:solidFill>
                  <a:srgbClr val="1E2B38"/>
                </a:solidFill>
                <a:latin typeface="Noto Sans KR"/>
              </a:rPr>
              <a:t>발급신청은 하셨어요? → 아니요</a:t>
            </a:r>
          </a:p>
          <a:p>
            <a:pPr algn="l">
              <a:spcAft>
                <a:spcPts val="100"/>
              </a:spcAft>
            </a:pPr>
            <a:r>
              <a:rPr sz="1170" b="0">
                <a:solidFill>
                  <a:srgbClr val="1E2B38"/>
                </a:solidFill>
                <a:latin typeface="Noto Sans KR"/>
              </a:rPr>
              <a:t>국비의 종류가 많기때문에, 이야기를 통해서 본인에게 맞는 국비나라지원을 파악해줄께요</a:t>
            </a:r>
          </a:p>
          <a:p>
            <a:pPr algn="l">
              <a:spcAft>
                <a:spcPts val="100"/>
              </a:spcAft>
            </a:pPr>
            <a:r>
              <a:rPr sz="117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170" b="0">
                <a:solidFill>
                  <a:srgbClr val="1E2B38"/>
                </a:solidFill>
                <a:latin typeface="Noto Sans KR"/>
              </a:rPr>
              <a:t>★ 제일쉬운 컨택 및 상담, 등록의 상황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국비 문의자 유형 · 원문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1244600"/>
            <a:ext cx="11112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국비문의자 유형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내일배움카드 1회이상 사용자 15%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내일배움카드 소지자 40%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내일배움카드 미소지자 45%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“국비” 겁먹지말고, 자신있게 컨택하자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“국비지원제도, 국비가능한가요?”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우리가 어떠한 물건을 살때 “혹시 현금으로 하면 할인되나요?”라는 질문과 동일!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만약, 현금으로 할인이 될 경우에는 안살것인가?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NO! 구매목적이 있었다면, 현금과 카드는 의미는 없다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그러나, 소비자 입장에서는 좀더 할인되는 방법을 찾고 싶을뿐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없다면 그대로 구매한다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실제로 문의준 DB를 컨택을 해보면, 내배카 or 국취제를 아는 정확히 문의자는 없다.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배움에 목적이 있다면, 국비는 크게 문제될건 없다.</a:t>
            </a:r>
          </a:p>
        </p:txBody>
      </p:sp>
    </p:spTree>
    <p:extLst>
      <p:ext uri="{BB962C8B-B14F-4D97-AF65-F5344CB8AC3E}">
        <p14:creationId xmlns:p14="http://schemas.microsoft.com/office/powerpoint/2010/main" val="3629638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구직자 컨택 스피치 · 1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08-1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95400"/>
            <a:ext cx="11112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533400" y="1295400"/>
            <a:ext cx="11112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전액국비만 찾는 경우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787400" y="1905000"/>
            <a:ext cx="10604500" cy="13716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“유형에 따라 자부담 비율이 차이가 발생합니다. 일반적으로 구직자나 특정계층(저소득층, 장애인 등)인 경우 전액 국비 가능합니다.”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“특정계층 외 일부 유형에 따라 자부담이 발생할 수 있는데 발생한다면 얼마나 발생하는지는 세부적인 조회가 필요해 방문 시 정확히 안내해드리겠습니다.”</a:t>
            </a:r>
          </a:p>
        </p:txBody>
      </p:sp>
      <p:sp>
        <p:nvSpPr>
          <p:cNvPr id="9" name="Card"/>
          <p:cNvSpPr/>
          <p:nvPr/>
        </p:nvSpPr>
        <p:spPr>
          <a:xfrm>
            <a:off x="533400" y="3708400"/>
            <a:ext cx="11112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0" name="Card"/>
          <p:cNvSpPr/>
          <p:nvPr/>
        </p:nvSpPr>
        <p:spPr>
          <a:xfrm>
            <a:off x="533400" y="3708400"/>
            <a:ext cx="11112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내배카 발급 후 상담 희망하는 경우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787400" y="4318000"/>
            <a:ext cx="10604500" cy="13716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“내배카 발급 시 희망 직종을 선택해야하기 때문에 상담 후 직종 선택 및 희망 교육과정 설정 후 발급하시는 것이 좋습니다”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“내배카 과정은 매달 개강하지 않기 때문에 수령 후 상담 진행할 시 2~3개월 뒤 과정으로 참여해야할 수 있습니다.”</a:t>
            </a:r>
          </a:p>
        </p:txBody>
      </p:sp>
    </p:spTree>
    <p:extLst>
      <p:ext uri="{BB962C8B-B14F-4D97-AF65-F5344CB8AC3E}">
        <p14:creationId xmlns:p14="http://schemas.microsoft.com/office/powerpoint/2010/main" val="3111577911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구직자 컨택 스피치 · 2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08-2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95400"/>
            <a:ext cx="11112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533400" y="1295400"/>
            <a:ext cx="11112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국비지원 시 금액을 물어보는 경우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787400" y="1905000"/>
            <a:ext cx="10604500" cy="13716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“유형에 따라 자부담이 다릅니다. 배움카드 사용해보신적 있으실까요?” -&gt; 있다면 기존에 얼마나 납부했는지? / 없다면 상담 시 정확히 조회 가능으로 안내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“원수강료는 50만원인데 국비지원 시 (할인가 적용) 30~40만원입니다.” -&gt; 정확한 금액을 오픈하지 않고 대략적인 금액 오픈으로 상담 유도</a:t>
            </a:r>
          </a:p>
        </p:txBody>
      </p:sp>
      <p:sp>
        <p:nvSpPr>
          <p:cNvPr id="9" name="Card"/>
          <p:cNvSpPr/>
          <p:nvPr/>
        </p:nvSpPr>
        <p:spPr>
          <a:xfrm>
            <a:off x="533400" y="3708400"/>
            <a:ext cx="11112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0" name="Card"/>
          <p:cNvSpPr/>
          <p:nvPr/>
        </p:nvSpPr>
        <p:spPr>
          <a:xfrm>
            <a:off x="533400" y="3708400"/>
            <a:ext cx="11112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상담 날짜를 당기고 싶을 경우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787400" y="4318000"/>
            <a:ext cx="10604500" cy="13716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“국민취업지원제도는 예산이 정해져 있기 때문에 빠르게 신청하시는 것이 안정적으로 6개월 전체 수령 가능합니다.”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“예산이 소진이 가까워질 수록 조건이 까다로워지거나 조기 종료 가능성 있으니 오늘(내일) 상담 오셔서 안내 후 신청까지 안내해드리겠습니다.”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“내일배움카드 수업은 매 달 개강하지 않고 참여 절차가 있고 개강 후 참여는 어렵기 때문에 빠른 상담 후 고민해보시는게 좋습니다.”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재직자 컨택 스피치 · 1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09-1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95400"/>
            <a:ext cx="11112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533400" y="1295400"/>
            <a:ext cx="11112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전액국비만 찾는 경우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787400" y="1905000"/>
            <a:ext cx="10604500" cy="13716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“국비지원은 취업률 향상이 목적이라 재직자보단 구직자에게 지원이 많습니다. 재직자는 전액 국비는 없으나 일부 자부담 납부하면 됩니다.”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“재직자도 자부담을 최소로 납부하려면 구직자 과정인 오전～오후 수업으로 참여해야 합니다. 저녁은 재직자 과정이기 때문에 자부담이 발생합니다.”</a:t>
            </a:r>
          </a:p>
        </p:txBody>
      </p:sp>
      <p:sp>
        <p:nvSpPr>
          <p:cNvPr id="9" name="Card"/>
          <p:cNvSpPr/>
          <p:nvPr/>
        </p:nvSpPr>
        <p:spPr>
          <a:xfrm>
            <a:off x="533400" y="3708400"/>
            <a:ext cx="11112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0" name="Card"/>
          <p:cNvSpPr/>
          <p:nvPr/>
        </p:nvSpPr>
        <p:spPr>
          <a:xfrm>
            <a:off x="533400" y="3708400"/>
            <a:ext cx="11112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타학원과 비교하는 경우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787400" y="4318000"/>
            <a:ext cx="10604500" cy="13716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“각 교육기관마다 주력으로 운영하는 과정이 상이합니다. 본원의 경우 000과정은 메인 과정이고 일반과정+국비과정 모두 운영하고 있습니다.”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“많은 국비교육들이 인원 미달로 폐강, 연기가 되는데 본원의 경우에는 조기마감이 되는 경우가 많아 비대면으로 참여하시는 분들도 많습니다.”</a:t>
            </a:r>
          </a:p>
        </p:txBody>
      </p:sp>
    </p:spTree>
    <p:extLst>
      <p:ext uri="{BB962C8B-B14F-4D97-AF65-F5344CB8AC3E}">
        <p14:creationId xmlns:p14="http://schemas.microsoft.com/office/powerpoint/2010/main" val="1223776660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재직자 컨택 스피치 · 2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09-2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95400"/>
            <a:ext cx="11112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533400" y="1295400"/>
            <a:ext cx="11112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국비지원 시 금액을 물어보는 경우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787400" y="1905000"/>
            <a:ext cx="10604500" cy="13716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“재직자는 공무원, 대기업 종사자는 국비 불가하며 일반 재직자의 경우 가구단위 소득에 따라 유형은 달라집니다.”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“재직자는 보통 교육과정이나 유형에 따라 30~70%까지는 지원받고 30~70%는 본인 부담입니다. 단과보다는 정규과정이 지원율이 높습니다.”</a:t>
            </a:r>
          </a:p>
        </p:txBody>
      </p:sp>
      <p:sp>
        <p:nvSpPr>
          <p:cNvPr id="9" name="Card"/>
          <p:cNvSpPr/>
          <p:nvPr/>
        </p:nvSpPr>
        <p:spPr>
          <a:xfrm>
            <a:off x="533400" y="3708400"/>
            <a:ext cx="11112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0" name="Card"/>
          <p:cNvSpPr/>
          <p:nvPr/>
        </p:nvSpPr>
        <p:spPr>
          <a:xfrm>
            <a:off x="533400" y="3708400"/>
            <a:ext cx="11112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국비 개설되지 않는 과정을 문의하는 경우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787400" y="4318000"/>
            <a:ext cx="10604500" cy="13716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“컴활 과정은 취업연계 과정이 아니기 때문에 국비과정은 개설이 어렵습니다. 웹디자인, IT개발, 건축인테리어 등이 4~6개월 과정으로 개설됩니다.”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“드로잉은 관련 국가자격증도 없고 국가에서 지원하는 직종이 아니기 때문에 국비과정 개설이 어렵습니다.”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“3D 과정은 정규 국비과정에 포함되어 있는데 3D만 개별적으로 국비는 개설이 어렵습니다.”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페이스북 DB 컨택 스피치 · 원문 DB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10-1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1270000"/>
            <a:ext cx="11112500" cy="22606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지점 : 대전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이름 : 함승범(4325163)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상담결과 : 완납 6,030,000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핸드폰 : 010-4802-1595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문의과목 : 드로잉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DB등록일자 기준 : 2025-08-01 오후 5:00:13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담당자 : [대전추천2-1]김호영2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학과 : 아트웍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출처 : 디비추천(함승보 010-8543-1595)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400" y="3759200"/>
            <a:ext cx="111125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지점 : 대전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이름 : 함승보(4324482)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상담결과 : 완납 6,930,000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핸드폰 : 010-8543-1595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문의과목 : 영상편집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DB등록일자 기준 : 2025-08-01 오전 9:17:45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담당자 : [대전페북2-1]김호영2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학과 : 모션/영상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출처 : [페이스북Meta]_(대전) 국비 영상편집</a:t>
            </a:r>
          </a:p>
        </p:txBody>
      </p:sp>
    </p:spTree>
    <p:extLst>
      <p:ext uri="{BB962C8B-B14F-4D97-AF65-F5344CB8AC3E}">
        <p14:creationId xmlns:p14="http://schemas.microsoft.com/office/powerpoint/2010/main" val="1449758529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페이스북 DB 컨택 스피치 · 원문 상담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10-2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1244600"/>
            <a:ext cx="11112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l">
              <a:spcAft>
                <a:spcPts val="100"/>
              </a:spcAft>
            </a:pPr>
            <a:r>
              <a:rPr sz="1130" b="0">
                <a:solidFill>
                  <a:srgbClr val="1E2B38"/>
                </a:solidFill>
                <a:latin typeface="Noto Sans KR"/>
              </a:rPr>
              <a:t>상담예정 08.01 ★16:00</a:t>
            </a:r>
          </a:p>
          <a:p>
            <a:pPr algn="l">
              <a:spcAft>
                <a:spcPts val="100"/>
              </a:spcAft>
            </a:pPr>
            <a:r>
              <a:rPr sz="1130" b="0">
                <a:solidFill>
                  <a:srgbClr val="1E2B38"/>
                </a:solidFill>
                <a:latin typeface="Noto Sans KR"/>
              </a:rPr>
              <a:t>*컨택자 : 김호영</a:t>
            </a:r>
          </a:p>
          <a:p>
            <a:pPr algn="l">
              <a:spcAft>
                <a:spcPts val="100"/>
              </a:spcAft>
            </a:pPr>
            <a:r>
              <a:rPr sz="1130" b="0">
                <a:solidFill>
                  <a:srgbClr val="1E2B38"/>
                </a:solidFill>
                <a:latin typeface="Noto Sans KR"/>
              </a:rPr>
              <a:t>*본인확인 및 문의여부 체크 : 본인</a:t>
            </a:r>
          </a:p>
          <a:p>
            <a:pPr algn="l">
              <a:spcAft>
                <a:spcPts val="100"/>
              </a:spcAft>
            </a:pPr>
            <a:r>
              <a:rPr sz="1130" b="0">
                <a:solidFill>
                  <a:srgbClr val="1E2B38"/>
                </a:solidFill>
                <a:latin typeface="Noto Sans KR"/>
              </a:rPr>
              <a:t>*배워보시려는 계기 및 수강 희망 시기 : 취미 및 취업</a:t>
            </a:r>
          </a:p>
          <a:p>
            <a:pPr algn="l">
              <a:spcAft>
                <a:spcPts val="100"/>
              </a:spcAft>
            </a:pPr>
            <a:r>
              <a:rPr sz="1130" b="0">
                <a:solidFill>
                  <a:srgbClr val="1E2B38"/>
                </a:solidFill>
                <a:latin typeface="Noto Sans KR"/>
              </a:rPr>
              <a:t>*분야 경험 및 수강 경험 여부 : 프리미어 다뤄봄</a:t>
            </a:r>
          </a:p>
          <a:p>
            <a:pPr algn="l">
              <a:spcAft>
                <a:spcPts val="100"/>
              </a:spcAft>
            </a:pPr>
            <a:r>
              <a:rPr sz="1130" b="0">
                <a:solidFill>
                  <a:srgbClr val="1E2B38"/>
                </a:solidFill>
                <a:latin typeface="Noto Sans KR"/>
              </a:rPr>
              <a:t>*현재 거주지 및 평소 스케줄 어떤지 (가용시간체크) : 태평동</a:t>
            </a:r>
          </a:p>
          <a:p>
            <a:pPr algn="l">
              <a:spcAft>
                <a:spcPts val="100"/>
              </a:spcAft>
            </a:pPr>
            <a:r>
              <a:rPr sz="1130" b="0">
                <a:solidFill>
                  <a:srgbClr val="1E2B38"/>
                </a:solidFill>
                <a:latin typeface="Noto Sans KR"/>
              </a:rPr>
              <a:t>*상담 명분 제시 및 상담 일정 확정 : 국비체크</a:t>
            </a:r>
          </a:p>
          <a:p>
            <a:pPr algn="l">
              <a:spcAft>
                <a:spcPts val="100"/>
              </a:spcAft>
            </a:pPr>
            <a:r>
              <a:rPr sz="1130" b="0">
                <a:solidFill>
                  <a:srgbClr val="1E2B38"/>
                </a:solidFill>
                <a:latin typeface="Noto Sans KR"/>
              </a:rPr>
              <a:t>*이외 상담내용 :</a:t>
            </a:r>
          </a:p>
          <a:p>
            <a:pPr algn="l">
              <a:spcAft>
                <a:spcPts val="100"/>
              </a:spcAft>
            </a:pPr>
            <a:r>
              <a:rPr sz="1130" b="0">
                <a:solidFill>
                  <a:srgbClr val="1E2B38"/>
                </a:solidFill>
                <a:latin typeface="Noto Sans KR"/>
              </a:rPr>
              <a:t>미디어콘텐츠학과 1학년 다니다가 자퇴했다고 함 -&gt; 적성은 맞으나 학교가 맞지 않음</a:t>
            </a:r>
          </a:p>
          <a:p>
            <a:pPr algn="l">
              <a:spcAft>
                <a:spcPts val="100"/>
              </a:spcAft>
            </a:pPr>
            <a:r>
              <a:rPr sz="1130" b="0">
                <a:solidFill>
                  <a:srgbClr val="1E2B38"/>
                </a:solidFill>
                <a:latin typeface="Noto Sans KR"/>
              </a:rPr>
              <a:t>프리미어는 조금 다룰 수 있고 나머진 해보기만 했었다고 하였음</a:t>
            </a:r>
          </a:p>
          <a:p>
            <a:pPr algn="l">
              <a:spcAft>
                <a:spcPts val="100"/>
              </a:spcAft>
            </a:pPr>
            <a:r>
              <a:rPr sz="1130" b="0">
                <a:solidFill>
                  <a:srgbClr val="1E2B38"/>
                </a:solidFill>
                <a:latin typeface="Noto Sans KR"/>
              </a:rPr>
              <a:t>군대는 가지 않았지만 아직 예정은 없다고 하였음 -&gt; 취업, 취미 둘 다 생각중이라고 함</a:t>
            </a:r>
          </a:p>
          <a:p>
            <a:pPr algn="l">
              <a:spcAft>
                <a:spcPts val="100"/>
              </a:spcAft>
            </a:pPr>
            <a:r>
              <a:rPr sz="1130" b="0">
                <a:solidFill>
                  <a:srgbClr val="1E2B38"/>
                </a:solidFill>
                <a:latin typeface="Noto Sans KR"/>
              </a:rPr>
              <a:t>2D 영상편집 외에도 다른 과정들이 많다고 안내해드렸고 국비 과정 설명해드리기로 하였음</a:t>
            </a:r>
          </a:p>
          <a:p>
            <a:pPr algn="l">
              <a:spcAft>
                <a:spcPts val="100"/>
              </a:spcAft>
            </a:pPr>
            <a:r>
              <a:rPr sz="1130" b="0">
                <a:solidFill>
                  <a:srgbClr val="1E2B38"/>
                </a:solidFill>
                <a:latin typeface="Noto Sans KR"/>
              </a:rPr>
              <a:t>2시에 둔산동 헬스 레슨이 있어서 온다고 했으며 오전 수업은 선호하지 않음</a:t>
            </a:r>
          </a:p>
          <a:p>
            <a:pPr algn="l">
              <a:spcAft>
                <a:spcPts val="100"/>
              </a:spcAft>
            </a:pPr>
            <a:r>
              <a:rPr sz="1130" b="0">
                <a:solidFill>
                  <a:srgbClr val="1E2B38"/>
                </a:solidFill>
                <a:latin typeface="Noto Sans KR"/>
              </a:rPr>
              <a:t>9월부터 수업 희망하고 오전 수업 희망하지 않아 영상계좌제 비교하면서 설명할 예정</a:t>
            </a:r>
          </a:p>
          <a:p>
            <a:pPr algn="l">
              <a:spcAft>
                <a:spcPts val="100"/>
              </a:spcAft>
            </a:pPr>
            <a:r>
              <a:rPr sz="1130" b="0">
                <a:solidFill>
                  <a:srgbClr val="1E2B38"/>
                </a:solidFill>
                <a:latin typeface="Noto Sans KR"/>
              </a:rPr>
              <a:t>**수강료 / 시간표에 대한 나의 응대 : X</a:t>
            </a:r>
          </a:p>
          <a:p>
            <a:pPr algn="l">
              <a:spcAft>
                <a:spcPts val="100"/>
              </a:spcAft>
            </a:pPr>
            <a:r>
              <a:rPr sz="1130" b="0">
                <a:solidFill>
                  <a:srgbClr val="1E2B38"/>
                </a:solidFill>
                <a:latin typeface="Noto Sans KR"/>
              </a:rPr>
              <a:t>*같이 방문하실 지인 / 기타 특이사항 : X</a:t>
            </a:r>
          </a:p>
          <a:p>
            <a:pPr algn="l">
              <a:spcAft>
                <a:spcPts val="100"/>
              </a:spcAft>
            </a:pPr>
            <a:r>
              <a:rPr sz="1130" b="0">
                <a:solidFill>
                  <a:srgbClr val="1E2B38"/>
                </a:solidFill>
                <a:latin typeface="Noto Sans KR"/>
              </a:rPr>
              <a:t>*통화시간 : 6분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실업급여 수령자 컨택 스피치 · 원문 상담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11-1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1244600"/>
            <a:ext cx="11112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*컨택자 : 김호영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*본인확인 및 문의여부체크 : 본인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*배워보시려는 계기 및 수강 희망 시기 : 취업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*분야 경험 및 수강 경험 여부 : X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*현재 거주지 및 평소 스케줄 어떻게 (가용시간체크) : 대전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*상담 명분 제시 및 상담 일정 확정 : 익일 2시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*이외 상담내용 :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유선으로 연결되었고 영상이 아닌 웹디자인 국비 궁금하다고 함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1년 전에 뷰티과정 1년 국비로 수강했고 추가로 금액도 지불했다고 함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전에 근무하면서 가볍게 디자인을 경험할 일이 있었는데 잘 맞는 것 같아서 해보려고 함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실업급여 수령 중인데 이제 2회차를 받는다고 함 -&gt; 매월 5일 기준이고 6개월 받는다고 함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실업급여랑 국비랑 병행 안되는지 여쭤봐서 실업급여 받기 위해서는 구직활동 필요하니까 수업 듣는거 좋다고 안내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내배카 잔액이랑 체크해드리기 위해 익일 상담 도와드리기로 함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**수강료 / 시간표에 대한 나의 응대 : X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*같이 방문하실 지인 / 기타 특이사항 : X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*통화시간 : 7분</a:t>
            </a:r>
          </a:p>
        </p:txBody>
      </p:sp>
    </p:spTree>
    <p:extLst>
      <p:ext uri="{BB962C8B-B14F-4D97-AF65-F5344CB8AC3E}">
        <p14:creationId xmlns:p14="http://schemas.microsoft.com/office/powerpoint/2010/main" val="425844696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실업급여 수령자 컨택 스피치 · 원문 대화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11-2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1244600"/>
            <a:ext cx="11112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★박지유(오피스)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멘토님 저 실업급여 제출서류가 필요한데 수강 신청서랑 mos, 지금 듣고있는 컴활2급 출석부 좀 보내주세요~!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오후 1:48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몇 일부터 몇 일까지 필요하실까요?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오후 1:48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★박지유(오피스)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Mos랑 컴활 처음 수강날부터 내일까지 막날까지요!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오후 1:49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구직자 국비문의 상담 · 핵심 1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12-1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95400"/>
            <a:ext cx="11112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533400" y="1295400"/>
            <a:ext cx="11112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국비만 맞출 때의 리스크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787400" y="1905000"/>
            <a:ext cx="10604500" cy="13716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• 당장 등록은 가능해도 이후 불안요소가 생길 수 있습니다.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• 국취제 상담센터의 제동, 우유부단함, 수강 환불 가능성을 미리 고려해야 합니다.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• 국비 수강의 특성과 정규과정의 장단점을 함께 비교해줘야 합니다.</a:t>
            </a:r>
          </a:p>
        </p:txBody>
      </p:sp>
      <p:sp>
        <p:nvSpPr>
          <p:cNvPr id="9" name="Card"/>
          <p:cNvSpPr/>
          <p:nvPr/>
        </p:nvSpPr>
        <p:spPr>
          <a:xfrm>
            <a:off x="533400" y="3708400"/>
            <a:ext cx="11112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0" name="Card"/>
          <p:cNvSpPr/>
          <p:nvPr/>
        </p:nvSpPr>
        <p:spPr>
          <a:xfrm>
            <a:off x="533400" y="3708400"/>
            <a:ext cx="11112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정규과정 후 국비 활용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787400" y="4318000"/>
            <a:ext cx="10604500" cy="13716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• 정규과정으로 기본기를 잡은 뒤 국비 수강을 고려하도록 안내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• 프로젝트 수업, 놓쳤던 내용 복습, 국비 무료교육의 이점을 어필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• 첫 공부의 리스크를 이후 국비 수강으로 보완할 수 있다는 안정감 제공</a:t>
            </a:r>
          </a:p>
        </p:txBody>
      </p:sp>
    </p:spTree>
    <p:extLst>
      <p:ext uri="{BB962C8B-B14F-4D97-AF65-F5344CB8AC3E}">
        <p14:creationId xmlns:p14="http://schemas.microsoft.com/office/powerpoint/2010/main" val="3533301715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구직자 국비문의 상담 · 핵심 2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12-2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95400"/>
            <a:ext cx="11112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533400" y="1295400"/>
            <a:ext cx="11112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국민취업지원제도 활용 주의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787400" y="1905000"/>
            <a:ext cx="10604500" cy="13716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• 국민취업지원제도는 강력한 무기가 될 수 있습니다.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• 단, 수강생을 위해 알아봐 준 제도처럼 안내하는 것이 좋습니다.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• “60만원씩 6개월 수당”처럼 환급 형식으로만 설명하면 환불 위험이 커질 수 있습니다.</a:t>
            </a:r>
          </a:p>
        </p:txBody>
      </p:sp>
      <p:sp>
        <p:nvSpPr>
          <p:cNvPr id="9" name="Card"/>
          <p:cNvSpPr/>
          <p:nvPr/>
        </p:nvSpPr>
        <p:spPr>
          <a:xfrm>
            <a:off x="533400" y="3708400"/>
            <a:ext cx="11112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0" name="Card"/>
          <p:cNvSpPr/>
          <p:nvPr/>
        </p:nvSpPr>
        <p:spPr>
          <a:xfrm>
            <a:off x="533400" y="3708400"/>
            <a:ext cx="11112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멘토의 설득 역할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787400" y="4318000"/>
            <a:ext cx="10604500" cy="13716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• 수강생의 니즈를 맞추는 것도 중요하지만, 한계를 부수는 설득 능력도 필요합니다.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• 전문성 있는 멘토로 납득되면 정규과정 후 국비 수강 방향도 자연스럽게 설득됩니다.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• 보이지 않는 교육의 가치를 보이게 만들어주는 것이 상담의 핵심입니다.</a:t>
            </a:r>
          </a:p>
        </p:txBody>
      </p:sp>
      <p:sp>
        <p:nvSpPr>
          <p:cNvPr id="12" name="Card"/>
          <p:cNvSpPr/>
          <p:nvPr/>
        </p:nvSpPr>
        <p:spPr>
          <a:xfrm>
            <a:off x="1168400" y="5880100"/>
            <a:ext cx="9842500" cy="4445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수강생의 목표에 집중해 상담하면, 국비가 되지 않는 상황도 더 적합한 대안을 찾는 계기가 될 수 있습니다.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구직자 국비문의 상담 · 핵심 이해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13-1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482600"/>
          </a:xfrm>
          <a:prstGeom prst="rect">
            <a:avLst/>
          </a:prstGeom>
          <a:solidFill>
            <a:srgbClr val="064682"/>
          </a:solidFill>
          <a:ln w="12700">
            <a:solidFill>
              <a:srgbClr val="06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구직자 국비의 목적은 취업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1955800"/>
            <a:ext cx="106045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8" name="Card"/>
          <p:cNvSpPr/>
          <p:nvPr/>
        </p:nvSpPr>
        <p:spPr>
          <a:xfrm>
            <a:off x="939800" y="21082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549400" y="20828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이해 1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549400" y="2451100"/>
            <a:ext cx="9690100" cy="520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국비의 가장 큰 목적은 직무능력 개발을 통한 취업입니다.</a:t>
            </a:r>
          </a:p>
        </p:txBody>
      </p:sp>
      <p:sp>
        <p:nvSpPr>
          <p:cNvPr id="11" name="Card"/>
          <p:cNvSpPr/>
          <p:nvPr/>
        </p:nvSpPr>
        <p:spPr>
          <a:xfrm>
            <a:off x="787400" y="3251200"/>
            <a:ext cx="106045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2" name="Card"/>
          <p:cNvSpPr/>
          <p:nvPr/>
        </p:nvSpPr>
        <p:spPr>
          <a:xfrm>
            <a:off x="939800" y="34036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549400" y="33782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이해 2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549400" y="3746500"/>
            <a:ext cx="9690100" cy="520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국비과정은 정해진 커리큘럼과 지정된 훈련기간을 수료해야 지원되는 학교형 시스템입니다.</a:t>
            </a:r>
          </a:p>
        </p:txBody>
      </p:sp>
      <p:sp>
        <p:nvSpPr>
          <p:cNvPr id="15" name="Card"/>
          <p:cNvSpPr/>
          <p:nvPr/>
        </p:nvSpPr>
        <p:spPr>
          <a:xfrm>
            <a:off x="787400" y="4546600"/>
            <a:ext cx="106045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6" name="Card"/>
          <p:cNvSpPr/>
          <p:nvPr/>
        </p:nvSpPr>
        <p:spPr>
          <a:xfrm>
            <a:off x="939800" y="4699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549400" y="46736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이해 3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549400" y="5041900"/>
            <a:ext cx="9690100" cy="520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한 과정을 깊게 배우기보다 실무 활용 학습과 포트폴리오 제작에 초점이 맞춰져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43686603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구직자 국비문의 상담 · 상담 단계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13-2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787400" y="1295400"/>
            <a:ext cx="10604500" cy="132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939800" y="14478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549400" y="14224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1. 컨디션 파악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549400" y="1790700"/>
            <a:ext cx="9690100" cy="698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• 국비만으로 해결 가능한 학습자인지 확인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• 일반과정을 함께 연결할 필요가 있는지 판단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• 학생의 성향과 취업 가능성을 상담 초반에 파악</a:t>
            </a:r>
          </a:p>
        </p:txBody>
      </p:sp>
      <p:sp>
        <p:nvSpPr>
          <p:cNvPr id="10" name="Card"/>
          <p:cNvSpPr/>
          <p:nvPr/>
        </p:nvSpPr>
        <p:spPr>
          <a:xfrm>
            <a:off x="787400" y="2768600"/>
            <a:ext cx="10604500" cy="132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1" name="Card"/>
          <p:cNvSpPr/>
          <p:nvPr/>
        </p:nvSpPr>
        <p:spPr>
          <a:xfrm>
            <a:off x="939800" y="2921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549400" y="28956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2. 유형별 방향 설정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549400" y="3263900"/>
            <a:ext cx="9690100" cy="698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• 뚜 부러진 학습자: 국비 + 필요한 일반과정 병행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• 우유부단하거나 취업이 어려워 보이는 경우: 정규과정 전환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• 이후 국비 수강까지 고려할 수 있게 흐름 설정</a:t>
            </a:r>
          </a:p>
        </p:txBody>
      </p:sp>
      <p:sp>
        <p:nvSpPr>
          <p:cNvPr id="14" name="Card"/>
          <p:cNvSpPr/>
          <p:nvPr/>
        </p:nvSpPr>
        <p:spPr>
          <a:xfrm>
            <a:off x="787400" y="4241800"/>
            <a:ext cx="10604500" cy="132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5" name="Card"/>
          <p:cNvSpPr/>
          <p:nvPr/>
        </p:nvSpPr>
        <p:spPr>
          <a:xfrm>
            <a:off x="939800" y="43942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549400" y="43688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3. 기대효과 제시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549400" y="4737100"/>
            <a:ext cx="9690100" cy="698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• 학습자 상황에 맞춘 대안을 먼저 제시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• 과정 선택으로 얻을 수 있는 결과를 명확하게 설명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• 국비 니즈보다 취업 가능성과 학습 안정성을 중심으로 안내</a:t>
            </a:r>
          </a:p>
        </p:txBody>
      </p:sp>
      <p:sp>
        <p:nvSpPr>
          <p:cNvPr id="18" name="Card"/>
          <p:cNvSpPr/>
          <p:nvPr/>
        </p:nvSpPr>
        <p:spPr>
          <a:xfrm>
            <a:off x="1168400" y="5880100"/>
            <a:ext cx="9842500" cy="4445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국비 니즈만 맞추기보다, 학습자의 취업 가능성과 과정 적합성을 기준으로 상담 방향을 잡는 것이 중요합니다.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재직자 국비문의 상담 · 기본 이해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14-1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"/>
          <p:cNvSpPr txBox="1"/>
          <p:nvPr/>
        </p:nvSpPr>
        <p:spPr>
          <a:xfrm>
            <a:off x="533400" y="1117600"/>
            <a:ext cx="111125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7B8794"/>
                </a:solidFill>
                <a:latin typeface="Noto Sans KR"/>
              </a:rPr>
              <a:t>국비 문의 유형에 따라 응대 스피치와 상담 방향을 달리하는 가이드</a:t>
            </a:r>
          </a:p>
        </p:txBody>
      </p:sp>
      <p:sp>
        <p:nvSpPr>
          <p:cNvPr id="7" name="Card"/>
          <p:cNvSpPr/>
          <p:nvPr/>
        </p:nvSpPr>
        <p:spPr>
          <a:xfrm>
            <a:off x="533400" y="1371600"/>
            <a:ext cx="11112500" cy="431800"/>
          </a:xfrm>
          <a:prstGeom prst="rect">
            <a:avLst/>
          </a:prstGeom>
          <a:solidFill>
            <a:srgbClr val="064682"/>
          </a:solidFill>
          <a:ln w="12700">
            <a:solidFill>
              <a:srgbClr val="06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국비를 정확히 모를 경우</a:t>
            </a:r>
          </a:p>
        </p:txBody>
      </p:sp>
      <p:sp>
        <p:nvSpPr>
          <p:cNvPr id="8" name="Card"/>
          <p:cNvSpPr/>
          <p:nvPr/>
        </p:nvSpPr>
        <p:spPr>
          <a:xfrm>
            <a:off x="787400" y="1917700"/>
            <a:ext cx="106045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9" name="Card"/>
          <p:cNvSpPr/>
          <p:nvPr/>
        </p:nvSpPr>
        <p:spPr>
          <a:xfrm>
            <a:off x="939800" y="20701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549400" y="20447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기본 포인트 1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549400" y="2413000"/>
            <a:ext cx="9690100" cy="393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국비를 단순히 ‘국가에서 수강료를 지원해주는 제도’ 정도로만 아는 경우가 많다.</a:t>
            </a:r>
          </a:p>
        </p:txBody>
      </p:sp>
      <p:sp>
        <p:nvSpPr>
          <p:cNvPr id="12" name="Card"/>
          <p:cNvSpPr/>
          <p:nvPr/>
        </p:nvSpPr>
        <p:spPr>
          <a:xfrm>
            <a:off x="787400" y="3060700"/>
            <a:ext cx="106045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3" name="Card"/>
          <p:cNvSpPr/>
          <p:nvPr/>
        </p:nvSpPr>
        <p:spPr>
          <a:xfrm>
            <a:off x="939800" y="32131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549400" y="31877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기본 포인트 2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1549400" y="3556000"/>
            <a:ext cx="9690100" cy="393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내일배움카드를 발급만 받았거나, 알기만 하거나, 아예 잘 모르는 경우도 있다.</a:t>
            </a:r>
          </a:p>
        </p:txBody>
      </p:sp>
      <p:sp>
        <p:nvSpPr>
          <p:cNvPr id="16" name="Card"/>
          <p:cNvSpPr/>
          <p:nvPr/>
        </p:nvSpPr>
        <p:spPr>
          <a:xfrm>
            <a:off x="787400" y="4203700"/>
            <a:ext cx="106045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7" name="Card"/>
          <p:cNvSpPr/>
          <p:nvPr/>
        </p:nvSpPr>
        <p:spPr>
          <a:xfrm>
            <a:off x="939800" y="43561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549400" y="43307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기본 포인트 3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549400" y="4699000"/>
            <a:ext cx="9690100" cy="393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재직자는 내일배움카드 사용 시 자부담이 발생할 수 있으므로 조회 후 안내가 필요하다.</a:t>
            </a:r>
          </a:p>
        </p:txBody>
      </p:sp>
      <p:sp>
        <p:nvSpPr>
          <p:cNvPr id="20" name="Card"/>
          <p:cNvSpPr/>
          <p:nvPr/>
        </p:nvSpPr>
        <p:spPr>
          <a:xfrm>
            <a:off x="787400" y="5346700"/>
            <a:ext cx="106045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21" name="Card"/>
          <p:cNvSpPr/>
          <p:nvPr/>
        </p:nvSpPr>
        <p:spPr>
          <a:xfrm>
            <a:off x="939800" y="54991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04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549400" y="54737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기본 포인트 4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549400" y="5842000"/>
            <a:ext cx="9690100" cy="393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이 경우에는 내배카에서 일반과정 전환을 자연스럽게 유도하는 스피치가 효과적이다.</a:t>
            </a:r>
          </a:p>
        </p:txBody>
      </p:sp>
    </p:spTree>
    <p:extLst>
      <p:ext uri="{BB962C8B-B14F-4D97-AF65-F5344CB8AC3E}">
        <p14:creationId xmlns:p14="http://schemas.microsoft.com/office/powerpoint/2010/main" val="2352926213"/>
      </p:ext>
    </p:extLst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재직자 국비문의 상담 · 스피치 1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14-2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4572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스피치 1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1917700"/>
            <a:ext cx="10604500" cy="17145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설명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국비는 취업률 향상을 위해 훈련비를 지원하는 제도입니다. 재직자는 지원이 어렵거나 자부담 비율이 높을 수 있습니다. 또 국비과정은 과정 편성을 자유롭게 바꾸기 어렵고, 불필요한 과정이 함께 편성되어 원수강료와 실 자부담이 커질 수 있습니다.</a:t>
            </a:r>
          </a:p>
        </p:txBody>
      </p:sp>
      <p:sp>
        <p:nvSpPr>
          <p:cNvPr id="8" name="Card"/>
          <p:cNvSpPr/>
          <p:nvPr/>
        </p:nvSpPr>
        <p:spPr>
          <a:xfrm>
            <a:off x="787400" y="3848100"/>
            <a:ext cx="10604500" cy="15875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응대 포인트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따라서 ○○님은 일반과정으로 들어가셔서 프로모션 적용을 받으시는 편이 더 저렴할 수 있습니다.</a:t>
            </a:r>
          </a:p>
        </p:txBody>
      </p:sp>
      <p:sp>
        <p:nvSpPr>
          <p:cNvPr id="9" name="Card"/>
          <p:cNvSpPr/>
          <p:nvPr/>
        </p:nvSpPr>
        <p:spPr>
          <a:xfrm>
            <a:off x="1422400" y="5778500"/>
            <a:ext cx="9334500" cy="444500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A356A"/>
                </a:solidFill>
                <a:latin typeface="Noto Sans KR"/>
              </a:rPr>
              <a:t>재직자 상담에서는 국비 가능 여부보다 실제 비용, 일정, 그리고 목표에 맞는 선택지를 중심으로 안내하는 것이 중요합니다.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재직자 국비문의 상담 · 스피치 2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14-3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457200"/>
          </a:xfrm>
          <a:prstGeom prst="rect">
            <a:avLst/>
          </a:prstGeom>
          <a:solidFill>
            <a:srgbClr val="064682"/>
          </a:solidFill>
          <a:ln w="12700">
            <a:solidFill>
              <a:srgbClr val="06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스피치 2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1917700"/>
            <a:ext cx="10604500" cy="17145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설명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국비과정은 취업과정 중심으로 개설되기 때문에 보통 일 4~5시간, 6개월 과정처럼 운영됩니다. 그래서 재직자에게 맞는 시간과 기간으로 유연하게 맞추기 어렵고, 시간대가 제한되어 개설이 불안정할 수 있습니다.</a:t>
            </a:r>
          </a:p>
        </p:txBody>
      </p:sp>
      <p:sp>
        <p:nvSpPr>
          <p:cNvPr id="8" name="Card"/>
          <p:cNvSpPr/>
          <p:nvPr/>
        </p:nvSpPr>
        <p:spPr>
          <a:xfrm>
            <a:off x="787400" y="3848100"/>
            <a:ext cx="10604500" cy="15875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응대 포인트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따라서 ○○님은 일반과정으로 들어가셔야 스케줄을 훨씬 더 원활하게 맞추실 수 있습니다.</a:t>
            </a:r>
          </a:p>
        </p:txBody>
      </p:sp>
      <p:sp>
        <p:nvSpPr>
          <p:cNvPr id="9" name="Card"/>
          <p:cNvSpPr/>
          <p:nvPr/>
        </p:nvSpPr>
        <p:spPr>
          <a:xfrm>
            <a:off x="1422400" y="5778500"/>
            <a:ext cx="9334500" cy="444500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A356A"/>
                </a:solidFill>
                <a:latin typeface="Noto Sans KR"/>
              </a:rPr>
              <a:t>재직자 상담에서는 국비 가능 여부보다 실제 비용, 일정, 그리고 목표에 맞는 선택지를 중심으로 안내하는 것이 중요합니다.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재직자 국비문의 상담 · 스피치 3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15-1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"/>
          <p:cNvSpPr txBox="1"/>
          <p:nvPr/>
        </p:nvSpPr>
        <p:spPr>
          <a:xfrm>
            <a:off x="533400" y="1117600"/>
            <a:ext cx="111125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7B8794"/>
                </a:solidFill>
                <a:latin typeface="Noto Sans KR"/>
              </a:rPr>
              <a:t>추가 응대 스피치와 상담 핵심 포인트</a:t>
            </a:r>
          </a:p>
        </p:txBody>
      </p:sp>
      <p:sp>
        <p:nvSpPr>
          <p:cNvPr id="7" name="Card"/>
          <p:cNvSpPr/>
          <p:nvPr/>
        </p:nvSpPr>
        <p:spPr>
          <a:xfrm>
            <a:off x="533400" y="1371600"/>
            <a:ext cx="11112500" cy="10414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유형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할인이 목적이라기보다 ‘국가 지원을 받고 싶다’는 명분을 중요하게 생각하는 재직자 유형</a:t>
            </a:r>
          </a:p>
        </p:txBody>
      </p:sp>
      <p:sp>
        <p:nvSpPr>
          <p:cNvPr id="8" name="Card"/>
          <p:cNvSpPr/>
          <p:nvPr/>
        </p:nvSpPr>
        <p:spPr>
          <a:xfrm>
            <a:off x="533400" y="2514600"/>
            <a:ext cx="1111250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9" name="Card"/>
          <p:cNvSpPr/>
          <p:nvPr/>
        </p:nvSpPr>
        <p:spPr>
          <a:xfrm>
            <a:off x="685800" y="2667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295400" y="26416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응대 포인트 1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295400" y="3009900"/>
            <a:ext cx="10198100" cy="3429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프로모션 할인보다 교육청 지원, 장학 지원, 기관 지원처럼 ‘지원 명분’을 활용하는 방식이 효과적일 수 있다.</a:t>
            </a:r>
          </a:p>
        </p:txBody>
      </p:sp>
      <p:sp>
        <p:nvSpPr>
          <p:cNvPr id="12" name="Card"/>
          <p:cNvSpPr/>
          <p:nvPr/>
        </p:nvSpPr>
        <p:spPr>
          <a:xfrm>
            <a:off x="533400" y="3606800"/>
            <a:ext cx="1111250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3" name="Card"/>
          <p:cNvSpPr/>
          <p:nvPr/>
        </p:nvSpPr>
        <p:spPr>
          <a:xfrm>
            <a:off x="685800" y="37592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295400" y="37338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응대 포인트 2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1295400" y="4102100"/>
            <a:ext cx="10198100" cy="3429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국비 제도는 다양하지만, 내일배움카드는 청년층 구직자 중심으로 지원되는 경우가 많다.</a:t>
            </a:r>
          </a:p>
        </p:txBody>
      </p:sp>
      <p:sp>
        <p:nvSpPr>
          <p:cNvPr id="16" name="Card"/>
          <p:cNvSpPr/>
          <p:nvPr/>
        </p:nvSpPr>
        <p:spPr>
          <a:xfrm>
            <a:off x="533400" y="4699000"/>
            <a:ext cx="1111250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7" name="Card"/>
          <p:cNvSpPr/>
          <p:nvPr/>
        </p:nvSpPr>
        <p:spPr>
          <a:xfrm>
            <a:off x="685800" y="48514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295400" y="48260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응대 포인트 3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295400" y="5194300"/>
            <a:ext cx="10198100" cy="3429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재직자에게는 참여가 어려운 과정과 낮 시간대 과정이 많으므로, 개인 맞춤 커리큘럼과 적용 가능한 지원 제도를 함께 확인해드리는 방향으로 안내한다.</a:t>
            </a:r>
          </a:p>
        </p:txBody>
      </p:sp>
    </p:spTree>
    <p:extLst>
      <p:ext uri="{BB962C8B-B14F-4D97-AF65-F5344CB8AC3E}">
        <p14:creationId xmlns:p14="http://schemas.microsoft.com/office/powerpoint/2010/main" val="1767552764"/>
      </p:ext>
    </p:extLst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재직자 국비문의 상담 · 변수 응대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15-2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4572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전액 지원이 될 줄 알았다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2006600"/>
            <a:ext cx="10604500" cy="14605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E2B38"/>
                </a:solidFill>
                <a:latin typeface="Noto Sans KR"/>
              </a:rPr>
              <a:t>재직자나 중장년층처럼 금전적 여유가 있는 분들에게까지 전액 지원을 해드리면 청년층 구직자들이 취업 기회를 얻기 어려워질 수 있습니다.</a:t>
            </a:r>
          </a:p>
        </p:txBody>
      </p:sp>
      <p:sp>
        <p:nvSpPr>
          <p:cNvPr id="8" name="Card"/>
          <p:cNvSpPr/>
          <p:nvPr/>
        </p:nvSpPr>
        <p:spPr>
          <a:xfrm>
            <a:off x="787400" y="3721100"/>
            <a:ext cx="10604500" cy="14605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E2B38"/>
                </a:solidFill>
                <a:latin typeface="Noto Sans KR"/>
              </a:rPr>
              <a:t>대신 본원 교육은 투자하신 금액 이상으로, 타 학원 대비 높은 퀄리티의 교육을 제공해 목표 달성을 돕겠습니다.</a:t>
            </a:r>
          </a:p>
        </p:txBody>
      </p:sp>
      <p:sp>
        <p:nvSpPr>
          <p:cNvPr id="9" name="Card"/>
          <p:cNvSpPr/>
          <p:nvPr/>
        </p:nvSpPr>
        <p:spPr>
          <a:xfrm>
            <a:off x="787400" y="5461000"/>
            <a:ext cx="10604500" cy="800100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A356A"/>
                </a:solidFill>
                <a:latin typeface="Noto Sans KR"/>
              </a:rPr>
              <a:t>활용 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A356A"/>
                </a:solidFill>
                <a:latin typeface="Noto Sans KR"/>
              </a:rPr>
              <a:t>• 할인율을 단순 할인보다 ‘교육 장학 지원’ 같은 명분으로 제시하면 설득력이 높아진다.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A356A"/>
                </a:solidFill>
                <a:latin typeface="Noto Sans KR"/>
              </a:rPr>
              <a:t>• 신분증 등을 받아 조회해드리겠다는 액션도 좋다.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재직자 국비문의 상담 · 상담 마무리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15-3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333500"/>
            <a:ext cx="11112500" cy="927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685800" y="14859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295400" y="14605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295400" y="1828800"/>
            <a:ext cx="10198100" cy="304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대부분의 수강생 목적은 국비 자체가 아니라 자신의 목표 달성에 있다.</a:t>
            </a:r>
          </a:p>
        </p:txBody>
      </p:sp>
      <p:sp>
        <p:nvSpPr>
          <p:cNvPr id="10" name="Card"/>
          <p:cNvSpPr/>
          <p:nvPr/>
        </p:nvSpPr>
        <p:spPr>
          <a:xfrm>
            <a:off x="533400" y="2374900"/>
            <a:ext cx="11112500" cy="927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1" name="Card"/>
          <p:cNvSpPr/>
          <p:nvPr/>
        </p:nvSpPr>
        <p:spPr>
          <a:xfrm>
            <a:off x="685800" y="25273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295400" y="25019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2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295400" y="2870200"/>
            <a:ext cx="10198100" cy="304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국비에만 초점을 맞추면 목표가 흐려지고, 돈 중심으로 과정을 찾게 될 수 있다.</a:t>
            </a:r>
          </a:p>
        </p:txBody>
      </p:sp>
      <p:sp>
        <p:nvSpPr>
          <p:cNvPr id="14" name="Card"/>
          <p:cNvSpPr/>
          <p:nvPr/>
        </p:nvSpPr>
        <p:spPr>
          <a:xfrm>
            <a:off x="533400" y="3416300"/>
            <a:ext cx="11112500" cy="927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5" name="Card"/>
          <p:cNvSpPr/>
          <p:nvPr/>
        </p:nvSpPr>
        <p:spPr>
          <a:xfrm>
            <a:off x="685800" y="35687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295400" y="35433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3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295400" y="3911600"/>
            <a:ext cx="10198100" cy="304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본원 과정은 단순 체험이 아니라 업무 활용, 생계, 이직, 꿈과 연결되는 교육이다.</a:t>
            </a:r>
          </a:p>
        </p:txBody>
      </p:sp>
      <p:sp>
        <p:nvSpPr>
          <p:cNvPr id="18" name="Card"/>
          <p:cNvSpPr/>
          <p:nvPr/>
        </p:nvSpPr>
        <p:spPr>
          <a:xfrm>
            <a:off x="533400" y="4457700"/>
            <a:ext cx="11112500" cy="927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9" name="Card"/>
          <p:cNvSpPr/>
          <p:nvPr/>
        </p:nvSpPr>
        <p:spPr>
          <a:xfrm>
            <a:off x="685800" y="46101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04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295400" y="45847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4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295400" y="4953000"/>
            <a:ext cx="10198100" cy="304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따라서 국비 가능 여부가 등록 여부를 결정하는 유일한 이유가 되어서는 안 된다.</a:t>
            </a:r>
          </a:p>
        </p:txBody>
      </p:sp>
      <p:sp>
        <p:nvSpPr>
          <p:cNvPr id="22" name="Card"/>
          <p:cNvSpPr/>
          <p:nvPr/>
        </p:nvSpPr>
        <p:spPr>
          <a:xfrm>
            <a:off x="1168400" y="5880100"/>
            <a:ext cx="9842500" cy="444500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수강생의 목표에 집중해 상담하면, 국비가 되지 않는 상황도 등록을 막는 이유가 아니라 더 적합한 대안을 찾는 계기가 될 수 있습니다.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내일배움카드 타파 방법 · 원칙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16-1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333500"/>
            <a:ext cx="111125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685800" y="14859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295400" y="14605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원칙 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295400" y="1828800"/>
            <a:ext cx="10198100" cy="7112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무조건 국비를 나쁘게 보는것보다는, 좋은 제도이나 본인에게는 맞지않은 지원임을 강조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무의식적으로 단점을 좀더 문의자의 상황에 맞춰서 어필</a:t>
            </a:r>
          </a:p>
        </p:txBody>
      </p:sp>
      <p:sp>
        <p:nvSpPr>
          <p:cNvPr id="10" name="Card"/>
          <p:cNvSpPr/>
          <p:nvPr/>
        </p:nvSpPr>
        <p:spPr>
          <a:xfrm>
            <a:off x="533400" y="2857500"/>
            <a:ext cx="111125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1" name="Card"/>
          <p:cNvSpPr/>
          <p:nvPr/>
        </p:nvSpPr>
        <p:spPr>
          <a:xfrm>
            <a:off x="685800" y="30099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295400" y="29845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원칙 2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295400" y="3352800"/>
            <a:ext cx="10198100" cy="7112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본인의 장점, 멘토의 필요성만 상담시 충분히 어필했다면 내배카는 쉽게 타파</a:t>
            </a:r>
          </a:p>
        </p:txBody>
      </p:sp>
      <p:sp>
        <p:nvSpPr>
          <p:cNvPr id="14" name="Card"/>
          <p:cNvSpPr/>
          <p:nvPr/>
        </p:nvSpPr>
        <p:spPr>
          <a:xfrm>
            <a:off x="533400" y="4381500"/>
            <a:ext cx="111125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5" name="Card"/>
          <p:cNvSpPr/>
          <p:nvPr/>
        </p:nvSpPr>
        <p:spPr>
          <a:xfrm>
            <a:off x="685800" y="45339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295400" y="45085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원칙 3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295400" y="4876800"/>
            <a:ext cx="10198100" cy="7112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내배카 사용이 안되는 수업은 당당히 말할것! 이유명확하게 안내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(특수학경우 취업직군일 경우, 채용공고가 많지 않은 취업군일경우)</a:t>
            </a:r>
          </a:p>
        </p:txBody>
      </p:sp>
    </p:spTree>
    <p:extLst>
      <p:ext uri="{BB962C8B-B14F-4D97-AF65-F5344CB8AC3E}">
        <p14:creationId xmlns:p14="http://schemas.microsoft.com/office/powerpoint/2010/main" val="3637419460"/>
      </p:ext>
    </p:extLst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내일배움카드 타파 방법 · 기본 컨택 스피치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16-2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70000"/>
            <a:ext cx="111125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685800" y="14224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295400" y="13970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내일배움카드 교육 찾는 경우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295400" y="1765300"/>
            <a:ext cx="10198100" cy="4191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국비 수요의 80% 이상은 내일배움카드에 해당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국비 지원 제도가 다양해져 방문 시에 개인에게 맞는 국비 과정을 안내해주겠다 이야기 후에 상담 시 국민취업지원제도와 내일배움카드 장단점 비교 후 선택</a:t>
            </a:r>
          </a:p>
        </p:txBody>
      </p:sp>
      <p:sp>
        <p:nvSpPr>
          <p:cNvPr id="10" name="Card"/>
          <p:cNvSpPr/>
          <p:nvPr/>
        </p:nvSpPr>
        <p:spPr>
          <a:xfrm>
            <a:off x="533400" y="2438400"/>
            <a:ext cx="111125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1" name="Card"/>
          <p:cNvSpPr/>
          <p:nvPr/>
        </p:nvSpPr>
        <p:spPr>
          <a:xfrm>
            <a:off x="685800" y="25908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295400" y="25654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국비 언급은 없으나 국민취업지원제도 참여 조건이 가능한 경우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295400" y="2933700"/>
            <a:ext cx="10198100" cy="4191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국비 적용 가능한 부분을 먼저 언급 함으로써 타학원 국비 수업과 더블 방지 및 방문에 대한 명분을 제시</a:t>
            </a:r>
          </a:p>
        </p:txBody>
      </p:sp>
      <p:sp>
        <p:nvSpPr>
          <p:cNvPr id="14" name="Card"/>
          <p:cNvSpPr/>
          <p:nvPr/>
        </p:nvSpPr>
        <p:spPr>
          <a:xfrm>
            <a:off x="533400" y="3606800"/>
            <a:ext cx="111125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5" name="Card"/>
          <p:cNvSpPr/>
          <p:nvPr/>
        </p:nvSpPr>
        <p:spPr>
          <a:xfrm>
            <a:off x="685800" y="37592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295400" y="37338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국민취업지원제도로 방문 유도를 하고 싶을 경우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295400" y="4102100"/>
            <a:ext cx="10198100" cy="4191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학원 방문 시 모의 산정을 통해 얼마나 지원 받을 수 있는지 확인해주겠다고 안내</a:t>
            </a:r>
          </a:p>
        </p:txBody>
      </p:sp>
      <p:sp>
        <p:nvSpPr>
          <p:cNvPr id="18" name="Card"/>
          <p:cNvSpPr/>
          <p:nvPr/>
        </p:nvSpPr>
        <p:spPr>
          <a:xfrm>
            <a:off x="533400" y="4775200"/>
            <a:ext cx="111125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9" name="Card"/>
          <p:cNvSpPr/>
          <p:nvPr/>
        </p:nvSpPr>
        <p:spPr>
          <a:xfrm>
            <a:off x="685800" y="49276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04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295400" y="49022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상담 날짜를 당기고 싶을 경우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295400" y="5270500"/>
            <a:ext cx="10198100" cy="4191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국민취업지원제도에는 예산이 정해져 있음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해당 예산이 특정 기간까지 소진 예정에 있다는 스피치 활용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상담 시 선택 가이드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17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19200"/>
            <a:ext cx="11112500" cy="482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✓ 내일배움카드 교육과 고민할 경우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87400" y="1879600"/>
          <a:ext cx="10604500" cy="269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4300"/>
                <a:gridCol w="2654300"/>
                <a:gridCol w="2641600"/>
                <a:gridCol w="2654300"/>
              </a:tblGrid>
              <a:tr h="538480"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희망 과목 내배카 수업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내배카 수업 시간,기간 참여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수강료 부담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추천 제도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</a:tr>
              <a:tr h="538480"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1E2B38"/>
                          </a:solidFill>
                          <a:latin typeface="Noto Sans KR"/>
                        </a:rPr>
                        <a:t>가능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가능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없음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멘토 판단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38480"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1E2B38"/>
                          </a:solidFill>
                          <a:latin typeface="Noto Sans KR"/>
                        </a:rPr>
                        <a:t>가능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가능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조금 있음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내배카 + 국취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1E2B38"/>
                          </a:solidFill>
                          <a:latin typeface="Noto Sans KR"/>
                        </a:rPr>
                        <a:t>가능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가능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많이 있음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내배카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38480"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1E2B38"/>
                          </a:solidFill>
                          <a:latin typeface="Noto Sans KR"/>
                        </a:rPr>
                        <a:t>둘 중 하나 불가일 경우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-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국취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Card"/>
          <p:cNvSpPr/>
          <p:nvPr/>
        </p:nvSpPr>
        <p:spPr>
          <a:xfrm>
            <a:off x="533400" y="4864100"/>
            <a:ext cx="11112500" cy="482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✓ 당장 공부를 할지 말지 고민할 경우</a:t>
            </a:r>
          </a:p>
        </p:txBody>
      </p:sp>
      <p:sp>
        <p:nvSpPr>
          <p:cNvPr id="9" name="Card"/>
          <p:cNvSpPr/>
          <p:nvPr/>
        </p:nvSpPr>
        <p:spPr>
          <a:xfrm>
            <a:off x="787400" y="5549900"/>
            <a:ext cx="10604500" cy="6731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컨택에서 안내 했던 지원금을 받을 수 있는 기간 재차 안내 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국취 신청 시 3 ~ 4주 소요되기 때문에 미리 접수 해야 되는 점 언급</a:t>
            </a:r>
          </a:p>
        </p:txBody>
      </p:sp>
    </p:spTree>
    <p:extLst>
      <p:ext uri="{BB962C8B-B14F-4D97-AF65-F5344CB8AC3E}">
        <p14:creationId xmlns:p14="http://schemas.microsoft.com/office/powerpoint/2010/main" val="31616598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국민취업지원제도 상담 · 상담 핵심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18-1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70000"/>
            <a:ext cx="11112500" cy="876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685800" y="14224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295400" y="13970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295400" y="1765300"/>
            <a:ext cx="10198100" cy="2540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상담 초반 국취제 해당여부 체크</a:t>
            </a:r>
          </a:p>
        </p:txBody>
      </p:sp>
      <p:sp>
        <p:nvSpPr>
          <p:cNvPr id="10" name="Card"/>
          <p:cNvSpPr/>
          <p:nvPr/>
        </p:nvSpPr>
        <p:spPr>
          <a:xfrm>
            <a:off x="533400" y="2260600"/>
            <a:ext cx="11112500" cy="876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1" name="Card"/>
          <p:cNvSpPr/>
          <p:nvPr/>
        </p:nvSpPr>
        <p:spPr>
          <a:xfrm>
            <a:off x="685800" y="2413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295400" y="23876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2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295400" y="2755900"/>
            <a:ext cx="10198100" cy="2540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지원대상 페이지 확인시켜줄 것</a:t>
            </a:r>
          </a:p>
        </p:txBody>
      </p:sp>
      <p:sp>
        <p:nvSpPr>
          <p:cNvPr id="14" name="Card"/>
          <p:cNvSpPr/>
          <p:nvPr/>
        </p:nvSpPr>
        <p:spPr>
          <a:xfrm>
            <a:off x="533400" y="3251200"/>
            <a:ext cx="11112500" cy="876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5" name="Card"/>
          <p:cNvSpPr/>
          <p:nvPr/>
        </p:nvSpPr>
        <p:spPr>
          <a:xfrm>
            <a:off x="685800" y="34036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295400" y="33782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3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295400" y="3746500"/>
            <a:ext cx="10198100" cy="2540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각 유형 참여할 수 없는 대상 항목</a:t>
            </a:r>
          </a:p>
        </p:txBody>
      </p:sp>
      <p:sp>
        <p:nvSpPr>
          <p:cNvPr id="18" name="Card"/>
          <p:cNvSpPr/>
          <p:nvPr/>
        </p:nvSpPr>
        <p:spPr>
          <a:xfrm>
            <a:off x="533400" y="4241800"/>
            <a:ext cx="11112500" cy="876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9" name="Card"/>
          <p:cNvSpPr/>
          <p:nvPr/>
        </p:nvSpPr>
        <p:spPr>
          <a:xfrm>
            <a:off x="685800" y="43942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04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295400" y="43688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4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295400" y="4737100"/>
            <a:ext cx="10198100" cy="2540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중위소득 60% 153만 – 촉진수당 60만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-&gt; 93만원 초과 시 초과금 만큼 차감 지급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Ex) 100만원 소득 발생 시 53만원 수당 지급</a:t>
            </a:r>
          </a:p>
        </p:txBody>
      </p:sp>
      <p:sp>
        <p:nvSpPr>
          <p:cNvPr id="22" name="Card"/>
          <p:cNvSpPr/>
          <p:nvPr/>
        </p:nvSpPr>
        <p:spPr>
          <a:xfrm>
            <a:off x="1168400" y="5842000"/>
            <a:ext cx="9842500" cy="482600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★ I유형이 안되는 이유 설명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학생 -&gt; 즉시 취업이 안되서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생계,실업급여 -&gt; 이중 지원이기 때문</a:t>
            </a:r>
          </a:p>
        </p:txBody>
      </p:sp>
    </p:spTree>
    <p:extLst>
      <p:ext uri="{BB962C8B-B14F-4D97-AF65-F5344CB8AC3E}">
        <p14:creationId xmlns:p14="http://schemas.microsoft.com/office/powerpoint/2010/main" val="929427119"/>
      </p:ext>
    </p:extLst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국민취업지원제도 상담 · Ⅰ유형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18-2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4826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Ⅰ유형 참여 제한 대상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19558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8" name="Card"/>
          <p:cNvSpPr/>
          <p:nvPr/>
        </p:nvSpPr>
        <p:spPr>
          <a:xfrm>
            <a:off x="939800" y="21082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549400" y="20828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Ⅰ유형 제한 항목 1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549400" y="24511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취업 중인 자(단, 임금근로자 주 30시간 미만, 사업소득자 월소득 250만원 미만은 불완전 취업자로 참여 가능)</a:t>
            </a:r>
          </a:p>
        </p:txBody>
      </p:sp>
      <p:sp>
        <p:nvSpPr>
          <p:cNvPr id="11" name="Card"/>
          <p:cNvSpPr/>
          <p:nvPr/>
        </p:nvSpPr>
        <p:spPr>
          <a:xfrm>
            <a:off x="787400" y="29972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2" name="Card"/>
          <p:cNvSpPr/>
          <p:nvPr/>
        </p:nvSpPr>
        <p:spPr>
          <a:xfrm>
            <a:off x="939800" y="31496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549400" y="31242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Ⅰ유형 제한 항목 2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549400" y="34925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근로능력, 취업 및 구직의사가 없는 사람</a:t>
            </a:r>
          </a:p>
        </p:txBody>
      </p:sp>
      <p:sp>
        <p:nvSpPr>
          <p:cNvPr id="15" name="Card"/>
          <p:cNvSpPr/>
          <p:nvPr/>
        </p:nvSpPr>
        <p:spPr>
          <a:xfrm>
            <a:off x="787400" y="40386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6" name="Card"/>
          <p:cNvSpPr/>
          <p:nvPr/>
        </p:nvSpPr>
        <p:spPr>
          <a:xfrm>
            <a:off x="939800" y="4191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549400" y="41656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Ⅰ유형 제한 항목 3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549400" y="45339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생계급여 수급자</a:t>
            </a:r>
          </a:p>
        </p:txBody>
      </p:sp>
      <p:sp>
        <p:nvSpPr>
          <p:cNvPr id="19" name="Card"/>
          <p:cNvSpPr/>
          <p:nvPr/>
        </p:nvSpPr>
        <p:spPr>
          <a:xfrm>
            <a:off x="787400" y="50800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20" name="Card"/>
          <p:cNvSpPr/>
          <p:nvPr/>
        </p:nvSpPr>
        <p:spPr>
          <a:xfrm>
            <a:off x="939800" y="52324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04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549400" y="52070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Ⅰ유형 제한 항목 4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549400" y="55753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구직급여를 수급 중이거나 수급 종료 후 6개월이 지나지 않은 사람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국민취업지원제도 상담 · Ⅰ유형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18-3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4826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Ⅰ유형 참여 제한 대상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19558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8" name="Card"/>
          <p:cNvSpPr/>
          <p:nvPr/>
        </p:nvSpPr>
        <p:spPr>
          <a:xfrm>
            <a:off x="939800" y="21082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05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549400" y="20828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Ⅰ유형 제한 항목 5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549400" y="24511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재정지원 일자리사업에 참여 중이거나 참여 종료 후 6개월이 지나지 않은 사람. 단 일부사업의 경우 참여 종료 후 즉시 참여 가능</a:t>
            </a:r>
          </a:p>
        </p:txBody>
      </p:sp>
      <p:sp>
        <p:nvSpPr>
          <p:cNvPr id="11" name="Card"/>
          <p:cNvSpPr/>
          <p:nvPr/>
        </p:nvSpPr>
        <p:spPr>
          <a:xfrm>
            <a:off x="787400" y="29972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2" name="Card"/>
          <p:cNvSpPr/>
          <p:nvPr/>
        </p:nvSpPr>
        <p:spPr>
          <a:xfrm>
            <a:off x="939800" y="31496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06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549400" y="31242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Ⅰ유형 제한 항목 6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549400" y="34925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국가 또는 지방자치단체가 구직활동에 필요한 비용을 지원하는 수당을 수급 중이거나 수급 종료 후 6개월이 지나지 않은 사람</a:t>
            </a:r>
          </a:p>
        </p:txBody>
      </p:sp>
      <p:sp>
        <p:nvSpPr>
          <p:cNvPr id="15" name="Card"/>
          <p:cNvSpPr/>
          <p:nvPr/>
        </p:nvSpPr>
        <p:spPr>
          <a:xfrm>
            <a:off x="787400" y="40386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6" name="Card"/>
          <p:cNvSpPr/>
          <p:nvPr/>
        </p:nvSpPr>
        <p:spPr>
          <a:xfrm>
            <a:off x="939800" y="4191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07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549400" y="41656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Ⅰ유형 제한 항목 7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549400" y="45339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신청인 본인의 월평균 소득이 1인 가구 기준 중위소득의 60%(1,538,543원)가 넘는 사람</a:t>
            </a:r>
          </a:p>
        </p:txBody>
      </p:sp>
      <p:sp>
        <p:nvSpPr>
          <p:cNvPr id="19" name="Card"/>
          <p:cNvSpPr/>
          <p:nvPr/>
        </p:nvSpPr>
        <p:spPr>
          <a:xfrm>
            <a:off x="787400" y="50800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20" name="Card"/>
          <p:cNvSpPr/>
          <p:nvPr/>
        </p:nvSpPr>
        <p:spPr>
          <a:xfrm>
            <a:off x="939800" y="52324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08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549400" y="52070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Ⅰ유형 제한 항목 8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549400" y="55753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상급학교 진학 및 전문자격증 취득을 목적으로 각종학교에 재학 또는 학원 등에서 수강중인 사람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국민취업지원제도 상담 · Ⅱ유형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18-4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4826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Ⅱ유형 참여 제한 대상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19558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8" name="Card"/>
          <p:cNvSpPr/>
          <p:nvPr/>
        </p:nvSpPr>
        <p:spPr>
          <a:xfrm>
            <a:off x="939800" y="21082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549400" y="20828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Ⅱ유형 제한 항목 1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549400" y="24511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취업 중인 자(단, 임금근로자 주 30시간 미만, 사업소득자 월소득 250만원 미만은 불완전 취업자로 참여 가능)</a:t>
            </a:r>
          </a:p>
        </p:txBody>
      </p:sp>
      <p:sp>
        <p:nvSpPr>
          <p:cNvPr id="11" name="Card"/>
          <p:cNvSpPr/>
          <p:nvPr/>
        </p:nvSpPr>
        <p:spPr>
          <a:xfrm>
            <a:off x="787400" y="29972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2" name="Card"/>
          <p:cNvSpPr/>
          <p:nvPr/>
        </p:nvSpPr>
        <p:spPr>
          <a:xfrm>
            <a:off x="939800" y="31496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549400" y="31242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Ⅱ유형 제한 항목 2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549400" y="34925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근로능력, 취업 및 구직의사가 없는 사람</a:t>
            </a:r>
          </a:p>
        </p:txBody>
      </p:sp>
      <p:sp>
        <p:nvSpPr>
          <p:cNvPr id="15" name="Card"/>
          <p:cNvSpPr/>
          <p:nvPr/>
        </p:nvSpPr>
        <p:spPr>
          <a:xfrm>
            <a:off x="787400" y="40386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6" name="Card"/>
          <p:cNvSpPr/>
          <p:nvPr/>
        </p:nvSpPr>
        <p:spPr>
          <a:xfrm>
            <a:off x="939800" y="4191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549400" y="41656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Ⅱ유형 제한 항목 3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549400" y="45339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구직급여 수급자(수급 종료 후 참여 가능)</a:t>
            </a:r>
          </a:p>
        </p:txBody>
      </p:sp>
      <p:sp>
        <p:nvSpPr>
          <p:cNvPr id="19" name="Card"/>
          <p:cNvSpPr/>
          <p:nvPr/>
        </p:nvSpPr>
        <p:spPr>
          <a:xfrm>
            <a:off x="787400" y="50800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20" name="Card"/>
          <p:cNvSpPr/>
          <p:nvPr/>
        </p:nvSpPr>
        <p:spPr>
          <a:xfrm>
            <a:off x="939800" y="52324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04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549400" y="52070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Ⅱ유형 제한 항목 4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549400" y="55753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재정지원 일자리사업에 참여 중인 사람(종료후 참여가능)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국민취업지원제도 상담 · Ⅱ유형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18-5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4826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Ⅱ유형 참여 제한 대상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19558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8" name="Card"/>
          <p:cNvSpPr/>
          <p:nvPr/>
        </p:nvSpPr>
        <p:spPr>
          <a:xfrm>
            <a:off x="939800" y="21082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05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549400" y="20828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Ⅱ유형 제한 항목 5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549400" y="24511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국가 또는 지방자치단체가 구직활동에 필요한 비용을 지원하는 수당을 수급 중인 사람(수급 종료 후 참여 가능)</a:t>
            </a:r>
          </a:p>
        </p:txBody>
      </p:sp>
      <p:sp>
        <p:nvSpPr>
          <p:cNvPr id="11" name="Card"/>
          <p:cNvSpPr/>
          <p:nvPr/>
        </p:nvSpPr>
        <p:spPr>
          <a:xfrm>
            <a:off x="787400" y="29972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2" name="Card"/>
          <p:cNvSpPr/>
          <p:nvPr/>
        </p:nvSpPr>
        <p:spPr>
          <a:xfrm>
            <a:off x="939800" y="31496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06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549400" y="31242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Ⅱ유형 제한 항목 6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549400" y="34925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상급학교 진학 및 전문자격증 취득을 목적으로 각종학교에 재학 또는 학원 등에서 수강중인 사람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가구단위·소득 기준 안내 · 기준표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19-1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457200"/>
          </a:xfrm>
          <a:prstGeom prst="rect">
            <a:avLst/>
          </a:prstGeom>
          <a:solidFill>
            <a:srgbClr val="064682"/>
          </a:solidFill>
          <a:ln w="12700">
            <a:solidFill>
              <a:srgbClr val="06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26년 기준 중위소득  |  단위: 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87400" y="1955800"/>
          <a:ext cx="106045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/>
                <a:gridCol w="1765300"/>
                <a:gridCol w="1765300"/>
                <a:gridCol w="1765300"/>
                <a:gridCol w="1765300"/>
                <a:gridCol w="1765300"/>
              </a:tblGrid>
              <a:tr h="5397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구분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1인 가구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2인 가구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3인 가구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4인 가구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5인 가구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</a:tr>
              <a:tr h="5397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중위소득 60%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1,538,543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2,519,575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3,215,422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3,896,843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4,534,031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397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중위소득 100%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2,564,238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4,199,292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5,359,036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6,494,738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7,556,719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중위소득 120%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3,077,086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5,039,150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6,430,843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7,793,686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9,068,063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</a:tbl>
          </a:graphicData>
        </a:graphic>
      </p:graphicFrame>
      <p:sp>
        <p:nvSpPr>
          <p:cNvPr id="8" name="Card"/>
          <p:cNvSpPr/>
          <p:nvPr/>
        </p:nvSpPr>
        <p:spPr>
          <a:xfrm>
            <a:off x="787400" y="4394200"/>
            <a:ext cx="10604500" cy="14224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가구단위 산정 기준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신청인 본인, 배우자(사실혼 포함), 1촌 이내 직계혈족(부모·자녀) 중 생계와 주거를 같이 하는 민법상 가족을 포함합니다.</a:t>
            </a:r>
          </a:p>
        </p:txBody>
      </p:sp>
    </p:spTree>
    <p:extLst>
      <p:ext uri="{BB962C8B-B14F-4D97-AF65-F5344CB8AC3E}">
        <p14:creationId xmlns:p14="http://schemas.microsoft.com/office/powerpoint/2010/main" val="1122370413"/>
      </p:ext>
    </p:extLst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가구단위·소득 기준 안내 · 원문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19-2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1244600"/>
            <a:ext cx="11112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l">
              <a:spcAft>
                <a:spcPts val="100"/>
              </a:spcAft>
            </a:pPr>
            <a:r>
              <a:rPr sz="1500" b="0">
                <a:solidFill>
                  <a:srgbClr val="1E2B38"/>
                </a:solidFill>
                <a:latin typeface="Noto Sans KR"/>
              </a:rPr>
              <a:t>• 가구단위: 주민등록표에 등재된 신청인 본인, 신청인의 배우자, 신청인의 1촌 이내 직계 혈족(부모, 자녀)으로 한정</a:t>
            </a:r>
          </a:p>
          <a:p>
            <a:pPr algn="l">
              <a:spcAft>
                <a:spcPts val="100"/>
              </a:spcAft>
            </a:pPr>
            <a:r>
              <a:rPr sz="150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500" b="0">
                <a:solidFill>
                  <a:srgbClr val="1E2B38"/>
                </a:solidFill>
                <a:latin typeface="Noto Sans KR"/>
              </a:rPr>
              <a:t>★권준혁(실내건축)</a:t>
            </a:r>
          </a:p>
          <a:p>
            <a:pPr algn="l">
              <a:spcAft>
                <a:spcPts val="100"/>
              </a:spcAft>
            </a:pPr>
            <a:r>
              <a:rPr sz="1500" b="0">
                <a:solidFill>
                  <a:srgbClr val="1E2B38"/>
                </a:solidFill>
                <a:latin typeface="Noto Sans KR"/>
              </a:rPr>
              <a:t>멘토님 취업 그쪽에서 전화 왔는데 할머니 가구원 추가하면 10만원 더 준다고 하는데 할머니 서명 받으면 될까요?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졸업예정자 상담 · 원문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1244600"/>
            <a:ext cx="11112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국취 신청기준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@국민취업지원제도 참여제한: 주30시간이상 고용보험가입자/실업급여수급자(2유형은 수급종료후다음날부터 참여가능)/기초생계수급자(본인, 가족포함)(단,교육, 의료, 주거급여 수급자는 가능), 26년 졸업예정자중 2월졸업자(25.07.01부터), 26년 8월졸업예정자(25.11.01부터)/진학예정자/인문계고 졸업예정자는 졸업년도1.1부터(특성화고는 3학년 당해연도7.1부터/1유형 신청자 본인 소득이 1,435,208(1인 중위소득 60%이상) 이상시 1유형신청불가/사업자등록증 보유자는 월 250만원 미만 소득 또는 월 1,250만원 미만 매출 발생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※ 1유형 소득감액기준: 2025년 기준금액 1,435,208원 (구촉 월지급액 50~70만원인경우 935,208이상 소득발생시 부지급/구촉 월지급액 80만원인경우 80만원이상 소득발생시 부지급)</a:t>
            </a:r>
          </a:p>
        </p:txBody>
      </p:sp>
    </p:spTree>
    <p:extLst>
      <p:ext uri="{BB962C8B-B14F-4D97-AF65-F5344CB8AC3E}">
        <p14:creationId xmlns:p14="http://schemas.microsoft.com/office/powerpoint/2010/main" val="7900261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견적서 활용 · 3D그래픽학과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21-1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333500"/>
          <a:ext cx="111125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6350000"/>
                <a:gridCol w="1524000"/>
                <a:gridCol w="2095500"/>
              </a:tblGrid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과목명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COURSE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등록금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9월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프리미어 프로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400,000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10월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에프터이펙트 기초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450,000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11월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에프터이펙트 활용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450,000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12월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에프터이펙트 심화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450,000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9월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블렌더 기초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500,000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10월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블렌더 활용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500,000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11월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3D 에셋&amp;지브러쉬 기초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7062370"/>
      </p:ext>
    </p:extLst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견적서 활용 · 3D그래픽학과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21-2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333500"/>
          <a:ext cx="111125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6350000"/>
                <a:gridCol w="1524000"/>
                <a:gridCol w="2095500"/>
              </a:tblGrid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과목명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COURSE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등록금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12월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3D 에셋&amp;지브러쉬 활용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9월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렌더&amp;라이팅 기초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10월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렌더&amp;라이팅 활용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11월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리깅&amp;애니메이션 기초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12월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리깅&amp;애니메이션 활용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1월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룩뎁&amp;언리얼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12월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포트폴리오 (무료과목)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3,600,000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803400" y="5816600"/>
            <a:ext cx="8572500" cy="3810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A356A"/>
                </a:solidFill>
                <a:latin typeface="Noto Sans KR"/>
              </a:rPr>
              <a:t>총 등록금 10,550,000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견적서 활용 · 기계학과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21-3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333500"/>
          <a:ext cx="111125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6350000"/>
                <a:gridCol w="1524000"/>
                <a:gridCol w="2095500"/>
              </a:tblGrid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과목명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COURSE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등록금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4월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캐드 기초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350,000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5월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캐드 활용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350,000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6월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인벤터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400,000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7월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퓨전 360 기초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400,000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8월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퓨전 360 활용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400,000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8월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전산응용기계제도기능사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450,000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9월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사무 기초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300,000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견적서 활용 · 기계학과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21-4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333500"/>
          <a:ext cx="111125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6350000"/>
                <a:gridCol w="1524000"/>
                <a:gridCol w="2095500"/>
              </a:tblGrid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과목명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COURSE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등록금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10월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컴퓨터활용능력 1급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350,000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5월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AI 프롬프트 기초 (무료교육)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6월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AI 프롬프트 활용 (무료교육)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5월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AI 에이전트 기초 (무료교육)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6월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AI 에이전트 활용 (무료교육)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재수강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-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재수강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-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803400" y="5816600"/>
            <a:ext cx="8572500" cy="3810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A356A"/>
                </a:solidFill>
                <a:latin typeface="Noto Sans KR"/>
              </a:rPr>
              <a:t>총 등록금 5,400,000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견적서 활용 · 3D그래픽 장학지원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21-5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422400"/>
          <a:ext cx="111125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0"/>
                <a:gridCol w="1905000"/>
                <a:gridCol w="2032000"/>
                <a:gridCol w="2222500"/>
              </a:tblGrid>
              <a:tr h="6604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세부장학지원 내역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장학지원율(%)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지원금액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등록금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</a:tr>
              <a:tr h="6604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1E2B38"/>
                          </a:solidFill>
                          <a:latin typeface="Noto Sans KR"/>
                        </a:rPr>
                        <a:t>AIX페이 (~08.12)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3,300,000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7,250,000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6604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1E2B38"/>
                          </a:solidFill>
                          <a:latin typeface="Noto Sans KR"/>
                        </a:rPr>
                        <a:t>온라인결합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1,000,000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6,250,000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1E2B38"/>
                          </a:solidFill>
                          <a:latin typeface="Noto Sans KR"/>
                        </a:rPr>
                        <a:t>당일등록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355,000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5,895,000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6604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1E2B38"/>
                          </a:solidFill>
                          <a:latin typeface="Noto Sans KR"/>
                        </a:rPr>
                        <a:t>국민취업지원제도 1유형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3,600,000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2,295,000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168400" y="5207000"/>
            <a:ext cx="9842500" cy="7874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최초 납부해야할 등록금</a:t>
            </a:r>
          </a:p>
          <a:p>
            <a:pPr algn="ctr">
              <a:spcAft>
                <a:spcPts val="10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3,600,000(국취제) + 2,295,000(자부담) + 990,000(온라인)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견적서 활용 · 기계학과 장학지원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21-6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422400"/>
          <a:ext cx="11112500" cy="292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0"/>
                <a:gridCol w="1905000"/>
                <a:gridCol w="2032000"/>
                <a:gridCol w="2222500"/>
              </a:tblGrid>
              <a:tr h="73025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세부장학지원 내역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장학지원율(%)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지원금액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등록금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</a:tr>
              <a:tr h="73025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1E2B38"/>
                          </a:solidFill>
                          <a:latin typeface="Noto Sans KR"/>
                        </a:rPr>
                        <a:t>새학기 프로모션 (~04.13)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1,800,000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3,600,000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73025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1E2B38"/>
                          </a:solidFill>
                          <a:latin typeface="Noto Sans KR"/>
                        </a:rPr>
                        <a:t>온라인 결합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3,000,000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1E2B38"/>
                          </a:solidFill>
                          <a:latin typeface="Noto Sans KR"/>
                        </a:rPr>
                        <a:t>국민취업지원제도 1유형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3,600,000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-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168400" y="4953000"/>
            <a:ext cx="9842500" cy="7874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총 납부해야할 등록금</a:t>
            </a:r>
          </a:p>
          <a:p>
            <a:pPr algn="ctr">
              <a:spcAft>
                <a:spcPts val="10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3,000,000(국취제) + 500,000(온라인)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카드 결제 스피치 · 자부담 없음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22-1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422400"/>
          <a:ext cx="11112500" cy="292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/>
                <a:gridCol w="1333500"/>
                <a:gridCol w="1333500"/>
                <a:gridCol w="1333500"/>
                <a:gridCol w="1333500"/>
                <a:gridCol w="1333500"/>
                <a:gridCol w="1333500"/>
                <a:gridCol w="1333500"/>
              </a:tblGrid>
              <a:tr h="730250">
                <a:tc>
                  <a:txBody>
                    <a:bodyPr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</a:rPr>
                        <a:t>8月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</a:rPr>
                        <a:t>9月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</a:rPr>
                        <a:t>10月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</a:rPr>
                        <a:t>11月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</a:rPr>
                        <a:t>12月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</a:rPr>
                        <a:t>1月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</a:rPr>
                        <a:t>2月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</a:tr>
              <a:tr h="730250">
                <a:tc>
                  <a:txBody>
                    <a:bodyPr anchor="ctr"/>
                    <a:lstStyle/>
                    <a:p>
                      <a:pPr algn="ctr"/>
                      <a:r>
                        <a:rPr sz="1100" b="1">
                          <a:solidFill>
                            <a:srgbClr val="1E2B38"/>
                          </a:solidFill>
                          <a:latin typeface="Noto Sans KR"/>
                        </a:rPr>
                        <a:t>국취제 수당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신청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730250">
                <a:tc>
                  <a:txBody>
                    <a:bodyPr anchor="ctr"/>
                    <a:lstStyle/>
                    <a:p>
                      <a:pPr algn="ctr"/>
                      <a:r>
                        <a:rPr sz="1100" b="1">
                          <a:solidFill>
                            <a:srgbClr val="1E2B38"/>
                          </a:solidFill>
                          <a:latin typeface="Noto Sans KR"/>
                        </a:rPr>
                        <a:t>등록금 납부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6개월 할부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-600,000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-600,000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-600,000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-600,000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-600,000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-600,000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anchor="ctr"/>
                    <a:lstStyle/>
                    <a:p>
                      <a:pPr algn="ctr"/>
                      <a:r>
                        <a:rPr sz="1100" b="1">
                          <a:solidFill>
                            <a:srgbClr val="1E2B38"/>
                          </a:solidFill>
                          <a:latin typeface="Noto Sans KR"/>
                        </a:rPr>
                        <a:t>월 납부 금액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</a:tbl>
          </a:graphicData>
        </a:graphic>
      </p:graphicFrame>
      <p:sp>
        <p:nvSpPr>
          <p:cNvPr id="7" name="Card"/>
          <p:cNvSpPr/>
          <p:nvPr/>
        </p:nvSpPr>
        <p:spPr>
          <a:xfrm>
            <a:off x="2184400" y="4851400"/>
            <a:ext cx="7810500" cy="8890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356A"/>
                </a:solidFill>
                <a:latin typeface="Noto Sans KR"/>
              </a:rPr>
              <a:t>카드 무이자 6개월 할부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356A"/>
                </a:solidFill>
                <a:latin typeface="Noto Sans KR"/>
              </a:rPr>
              <a:t>60만원 납부 후 60만원 입금 -&gt; 납부금액 X</a:t>
            </a:r>
          </a:p>
        </p:txBody>
      </p:sp>
    </p:spTree>
    <p:extLst>
      <p:ext uri="{BB962C8B-B14F-4D97-AF65-F5344CB8AC3E}">
        <p14:creationId xmlns:p14="http://schemas.microsoft.com/office/powerpoint/2010/main" val="170133571"/>
      </p:ext>
    </p:extLst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카드 결제 스피치 · 자부담 150만원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22-2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422400"/>
          <a:ext cx="111125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/>
                <a:gridCol w="1333500"/>
                <a:gridCol w="1333500"/>
                <a:gridCol w="1333500"/>
                <a:gridCol w="1333500"/>
                <a:gridCol w="1333500"/>
                <a:gridCol w="1333500"/>
                <a:gridCol w="1333500"/>
              </a:tblGrid>
              <a:tr h="660400">
                <a:tc>
                  <a:txBody>
                    <a:bodyPr anchor="ctr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Noto Sans KR"/>
                        </a:rPr>
                        <a:t>8月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Noto Sans KR"/>
                        </a:rPr>
                        <a:t>9月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Noto Sans KR"/>
                        </a:rPr>
                        <a:t>10月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Noto Sans KR"/>
                        </a:rPr>
                        <a:t>11月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Noto Sans KR"/>
                        </a:rPr>
                        <a:t>12月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Noto Sans KR"/>
                        </a:rPr>
                        <a:t>1月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Noto Sans KR"/>
                        </a:rPr>
                        <a:t>12月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</a:tr>
              <a:tr h="660400">
                <a:tc>
                  <a:txBody>
                    <a:bodyPr anchor="ctr"/>
                    <a:lstStyle/>
                    <a:p>
                      <a:pPr algn="ctr"/>
                      <a:r>
                        <a:rPr sz="1080" b="1">
                          <a:solidFill>
                            <a:srgbClr val="1E2B38"/>
                          </a:solidFill>
                          <a:latin typeface="Noto Sans KR"/>
                        </a:rPr>
                        <a:t>국취제 수당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신청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660400">
                <a:tc>
                  <a:txBody>
                    <a:bodyPr anchor="ctr"/>
                    <a:lstStyle/>
                    <a:p>
                      <a:pPr algn="ctr"/>
                      <a:r>
                        <a:rPr sz="1080" b="1">
                          <a:solidFill>
                            <a:srgbClr val="1E2B38"/>
                          </a:solidFill>
                          <a:latin typeface="Noto Sans KR"/>
                        </a:rPr>
                        <a:t>등록금 납부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6개월 할부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-600,000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-600,000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-600,000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-600,000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-600,000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-600,000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 anchor="ctr"/>
                    <a:lstStyle/>
                    <a:p>
                      <a:pPr algn="ctr"/>
                      <a:r>
                        <a:rPr sz="1080" b="1">
                          <a:solidFill>
                            <a:srgbClr val="1E2B38"/>
                          </a:solidFill>
                          <a:latin typeface="Noto Sans KR"/>
                        </a:rPr>
                        <a:t>자부담금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150만원 할부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250,000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250,000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250,000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250,000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250,000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250,000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660400">
                <a:tc>
                  <a:txBody>
                    <a:bodyPr anchor="ctr"/>
                    <a:lstStyle/>
                    <a:p>
                      <a:pPr algn="ctr"/>
                      <a:r>
                        <a:rPr sz="1080" b="1">
                          <a:solidFill>
                            <a:srgbClr val="1E2B38"/>
                          </a:solidFill>
                          <a:latin typeface="Noto Sans KR"/>
                        </a:rPr>
                        <a:t>월 납부 금액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250,000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250,000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250,000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250,000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250,000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250,000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d"/>
          <p:cNvSpPr/>
          <p:nvPr/>
        </p:nvSpPr>
        <p:spPr>
          <a:xfrm>
            <a:off x="2184400" y="5143500"/>
            <a:ext cx="7810500" cy="8890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356A"/>
                </a:solidFill>
                <a:latin typeface="Noto Sans KR"/>
              </a:rPr>
              <a:t>카드 무이자 6개월 할부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356A"/>
                </a:solidFill>
                <a:latin typeface="Noto Sans KR"/>
              </a:rPr>
              <a:t>월 납부 금액 250,000원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카카오톡 활용 · 원문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23-1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1244600"/>
            <a:ext cx="11112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https://blog.naver.com/pj3503/222485497313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주민등록 주소지 이전변경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주민등록 주소지 이전 변경 방법 인터넷으로 할수있습니다.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blog.naver.com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오후 3:28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국민취업지원...신청 방법.pdf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유효기간 ~2022. 8. 9. / 용량 387 KB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오후 3:29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중원님 주소지 옮기고 국민취업지원제도 1유형으로 신청하시면 되세요~ 신청하시다가 헷갈리는 부분 있으시면 연락주세요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오후 3:43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★최중원(코딩)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주소지 이전 신청은 했는데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오후 4:22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★최중원(코딩)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세대주가 확인을 해야하는데 이걸 인증을 하려면 누나가 시간이 아직 안되어서 오늘안에 국비지원신청은 못할것 같은데 선결제는 내일 가능한데 천천히 신청되어도 괜찮은가여?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오후 4:23</a:t>
            </a:r>
          </a:p>
        </p:txBody>
      </p:sp>
    </p:spTree>
    <p:extLst>
      <p:ext uri="{BB962C8B-B14F-4D97-AF65-F5344CB8AC3E}">
        <p14:creationId xmlns:p14="http://schemas.microsoft.com/office/powerpoint/2010/main" val="2622207867"/>
      </p:ext>
    </p:extLst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카카오톡 활용 · 원문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23-2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1244600"/>
            <a:ext cx="11112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★권준혁(실내건축)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통화 끝났고 등록 할게요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오후 2:58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https://blog.naver.com/pj3503/222485497313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오후 3:34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주민등록 주소지 이전변경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주민등록 주소지 이전 변경 방법 인터넷으로 할수있습니다.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blog.naver.com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국민취업지원...신청 방법.pdf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유효기간 ~2023. 5. 11. / 용량 387 KB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주소지 먼저 옮기고 국민취업지원제도 1유형 선발형(청년)으로 신청해주세요~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오후 3:34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카카오톡 활용 · 원문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23-3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1244600"/>
            <a:ext cx="11112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https://blog.naver.com/pj3503/222485497313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주민등록 주소지 이전변경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주민등록 주소지 이전 변경 방법 인터넷으로 할수있습니다.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blog.naver.com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국민취업지원...신청 방법.pdf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유효기간 ~2023. 5. 29. / 용량 387 KB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내용 확인하고 신청하다가 헷갈리시면 말씀해주세요!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오후 6:57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★김도형(기계)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네 해볼게요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오후 7:07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★김도형(기계)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신청은 해놨어요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오후 7:29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기존 수강생 수급내역 · 원문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1244600"/>
            <a:ext cx="111125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★김효령(마야)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멘토님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이거 들어온 것 맞나요??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오후 5:53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★김효령(마야)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3월 수당이욤..!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오후 5:54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68400" y="3708400"/>
          <a:ext cx="98425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/>
                <a:gridCol w="2540000"/>
                <a:gridCol w="2286000"/>
                <a:gridCol w="2603500"/>
              </a:tblGrid>
              <a:tr h="53975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구분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일자·시간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입금액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잔액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</a:tr>
              <a:tr h="53975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광주고용청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500,000원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789,353원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3975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국민취업지원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3월 22일 16:15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500,000원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585,267원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훈련비고용부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5월 17일 16:59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200,000원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380,176원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10735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국취제 과정 확대 · 원문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25-1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1244600"/>
            <a:ext cx="11112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l">
              <a:spcAft>
                <a:spcPts val="100"/>
              </a:spcAft>
            </a:pPr>
            <a:r>
              <a:rPr sz="1120" b="0">
                <a:solidFill>
                  <a:srgbClr val="1E2B38"/>
                </a:solidFill>
                <a:latin typeface="Noto Sans KR"/>
              </a:rPr>
              <a:t>이름 : 이수진</a:t>
            </a:r>
          </a:p>
          <a:p>
            <a:pPr algn="l">
              <a:spcAft>
                <a:spcPts val="100"/>
              </a:spcAft>
            </a:pPr>
            <a:r>
              <a:rPr sz="1120" b="0">
                <a:solidFill>
                  <a:srgbClr val="1E2B38"/>
                </a:solidFill>
                <a:latin typeface="Noto Sans KR"/>
              </a:rPr>
              <a:t>휴대폰 : 010-5095-1761</a:t>
            </a:r>
          </a:p>
          <a:p>
            <a:pPr algn="l">
              <a:spcAft>
                <a:spcPts val="100"/>
              </a:spcAft>
            </a:pPr>
            <a:r>
              <a:rPr sz="1120" b="0">
                <a:solidFill>
                  <a:srgbClr val="1E2B38"/>
                </a:solidFill>
                <a:latin typeface="Noto Sans KR"/>
              </a:rPr>
              <a:t>나이 : 20대</a:t>
            </a:r>
          </a:p>
          <a:p>
            <a:pPr algn="l">
              <a:spcAft>
                <a:spcPts val="100"/>
              </a:spcAft>
            </a:pPr>
            <a:r>
              <a:rPr sz="1120" b="0">
                <a:solidFill>
                  <a:srgbClr val="1E2B38"/>
                </a:solidFill>
                <a:latin typeface="Noto Sans KR"/>
              </a:rPr>
              <a:t>성별 : ○남 ◉여</a:t>
            </a:r>
          </a:p>
          <a:p>
            <a:pPr algn="l">
              <a:spcAft>
                <a:spcPts val="100"/>
              </a:spcAft>
            </a:pPr>
            <a:r>
              <a:rPr sz="1120" b="0">
                <a:solidFill>
                  <a:srgbClr val="1E2B38"/>
                </a:solidFill>
                <a:latin typeface="Noto Sans KR"/>
              </a:rPr>
              <a:t>전공유무 : 비전공자</a:t>
            </a:r>
          </a:p>
          <a:p>
            <a:pPr algn="l">
              <a:spcAft>
                <a:spcPts val="100"/>
              </a:spcAft>
            </a:pPr>
            <a:r>
              <a:rPr sz="1120" b="0">
                <a:solidFill>
                  <a:srgbClr val="1E2B38"/>
                </a:solidFill>
                <a:latin typeface="Noto Sans KR"/>
              </a:rPr>
              <a:t>공부목적 : □ 진학 ■ 취업 □ 창업 □ 취미</a:t>
            </a:r>
          </a:p>
          <a:p>
            <a:pPr algn="l">
              <a:spcAft>
                <a:spcPts val="100"/>
              </a:spcAft>
            </a:pPr>
            <a:r>
              <a:rPr sz="1120" b="0">
                <a:solidFill>
                  <a:srgbClr val="1E2B38"/>
                </a:solidFill>
                <a:latin typeface="Noto Sans KR"/>
              </a:rPr>
              <a:t>문의과목 : 구직자, 전산세무 회계 / 오피스 자격증</a:t>
            </a:r>
          </a:p>
          <a:p>
            <a:pPr algn="l">
              <a:spcAft>
                <a:spcPts val="100"/>
              </a:spcAft>
            </a:pPr>
            <a:r>
              <a:rPr sz="1120" b="0">
                <a:solidFill>
                  <a:srgbClr val="1E2B38"/>
                </a:solidFill>
                <a:latin typeface="Noto Sans KR"/>
              </a:rPr>
              <a:t>희망교육장 : 대전</a:t>
            </a:r>
          </a:p>
          <a:p>
            <a:pPr algn="l">
              <a:spcAft>
                <a:spcPts val="100"/>
              </a:spcAft>
            </a:pPr>
            <a:r>
              <a:rPr sz="1120" b="0">
                <a:solidFill>
                  <a:srgbClr val="1E2B38"/>
                </a:solidFill>
                <a:latin typeface="Noto Sans KR"/>
              </a:rPr>
              <a:t>당직여부 : ■ 당직</a:t>
            </a:r>
          </a:p>
          <a:p>
            <a:pPr algn="l">
              <a:spcAft>
                <a:spcPts val="100"/>
              </a:spcAft>
            </a:pPr>
            <a:r>
              <a:rPr sz="1120" b="0">
                <a:solidFill>
                  <a:srgbClr val="1E2B38"/>
                </a:solidFill>
                <a:latin typeface="Noto Sans KR"/>
              </a:rPr>
              <a:t>출처경로 : [당] www.sbsart.com 국비지원과정조회</a:t>
            </a:r>
          </a:p>
          <a:p>
            <a:pPr algn="l">
              <a:spcAft>
                <a:spcPts val="100"/>
              </a:spcAft>
            </a:pPr>
            <a:r>
              <a:rPr sz="1120" b="0">
                <a:solidFill>
                  <a:srgbClr val="1E2B38"/>
                </a:solidFill>
                <a:latin typeface="Noto Sans KR"/>
              </a:rPr>
              <a:t>출처담당 : 김홍구5 (1588-5530)</a:t>
            </a:r>
          </a:p>
          <a:p>
            <a:pPr algn="l">
              <a:spcAft>
                <a:spcPts val="100"/>
              </a:spcAft>
            </a:pPr>
            <a:r>
              <a:rPr sz="1120" b="0">
                <a:solidFill>
                  <a:srgbClr val="1E2B38"/>
                </a:solidFill>
                <a:latin typeface="Noto Sans KR"/>
              </a:rPr>
              <a:t>상담신청일 : 2023-02-27 오후 6:37:02</a:t>
            </a:r>
          </a:p>
          <a:p>
            <a:pPr algn="l">
              <a:spcAft>
                <a:spcPts val="100"/>
              </a:spcAft>
            </a:pPr>
            <a:r>
              <a:rPr sz="1120" b="0">
                <a:solidFill>
                  <a:srgbClr val="1E2B38"/>
                </a:solidFill>
                <a:latin typeface="Noto Sans KR"/>
              </a:rPr>
              <a:t>희망수강일정 : 월 / 희망시간 / 평일/주말</a:t>
            </a:r>
          </a:p>
          <a:p>
            <a:pPr algn="l">
              <a:spcAft>
                <a:spcPts val="100"/>
              </a:spcAft>
            </a:pPr>
            <a:r>
              <a:rPr sz="1120" b="0">
                <a:solidFill>
                  <a:srgbClr val="1E2B38"/>
                </a:solidFill>
                <a:latin typeface="Noto Sans KR"/>
              </a:rPr>
              <a:t>담당매니저 : [대전당직2-1] 김호영2</a:t>
            </a:r>
          </a:p>
          <a:p>
            <a:pPr algn="l">
              <a:spcAft>
                <a:spcPts val="100"/>
              </a:spcAft>
            </a:pPr>
            <a:r>
              <a:rPr sz="1120" b="0">
                <a:solidFill>
                  <a:srgbClr val="1E2B38"/>
                </a:solidFill>
                <a:latin typeface="Noto Sans KR"/>
              </a:rPr>
              <a:t>학과구분 : 자격증</a:t>
            </a:r>
          </a:p>
          <a:p>
            <a:pPr algn="l">
              <a:spcAft>
                <a:spcPts val="100"/>
              </a:spcAft>
            </a:pPr>
            <a:r>
              <a:rPr sz="1120" b="0">
                <a:solidFill>
                  <a:srgbClr val="1E2B38"/>
                </a:solidFill>
                <a:latin typeface="Noto Sans KR"/>
              </a:rPr>
              <a:t>간단메모 : *DB 담당자 혹은 광고자를 입력해주세요.</a:t>
            </a:r>
          </a:p>
          <a:p>
            <a:pPr algn="l">
              <a:spcAft>
                <a:spcPts val="100"/>
              </a:spcAft>
            </a:pPr>
            <a:r>
              <a:rPr sz="112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120" b="0">
                <a:solidFill>
                  <a:srgbClr val="1E2B38"/>
                </a:solidFill>
                <a:latin typeface="Noto Sans KR"/>
              </a:rPr>
              <a:t>컨택결과 : 재컨택요망 02.28</a:t>
            </a:r>
          </a:p>
          <a:p>
            <a:pPr algn="l">
              <a:spcAft>
                <a:spcPts val="100"/>
              </a:spcAft>
            </a:pPr>
            <a:r>
              <a:rPr sz="1120" b="0">
                <a:solidFill>
                  <a:srgbClr val="1E2B38"/>
                </a:solidFill>
                <a:latin typeface="Noto Sans KR"/>
              </a:rPr>
              <a:t>*컨택자 : 김호영</a:t>
            </a:r>
          </a:p>
          <a:p>
            <a:pPr algn="l">
              <a:spcAft>
                <a:spcPts val="100"/>
              </a:spcAft>
            </a:pPr>
            <a:r>
              <a:rPr sz="1120" b="0">
                <a:solidFill>
                  <a:srgbClr val="1E2B38"/>
                </a:solidFill>
                <a:latin typeface="Noto Sans KR"/>
              </a:rPr>
              <a:t>*현재 상황 : 졸업자</a:t>
            </a:r>
          </a:p>
          <a:p>
            <a:pPr algn="l">
              <a:spcAft>
                <a:spcPts val="100"/>
              </a:spcAft>
            </a:pPr>
            <a:r>
              <a:rPr sz="1120" b="0">
                <a:solidFill>
                  <a:srgbClr val="1E2B38"/>
                </a:solidFill>
                <a:latin typeface="Noto Sans KR"/>
              </a:rPr>
              <a:t>*공부 목적+니즈(구체적으로) : 모스 자격증 취득</a:t>
            </a:r>
          </a:p>
          <a:p>
            <a:pPr algn="l">
              <a:spcAft>
                <a:spcPts val="100"/>
              </a:spcAft>
            </a:pPr>
            <a:r>
              <a:rPr sz="1120" b="0">
                <a:solidFill>
                  <a:srgbClr val="1E2B38"/>
                </a:solidFill>
                <a:latin typeface="Noto Sans KR"/>
              </a:rPr>
              <a:t>*전공 유무 및 해본적 있는지 : 없음</a:t>
            </a:r>
          </a:p>
          <a:p>
            <a:pPr algn="l">
              <a:spcAft>
                <a:spcPts val="100"/>
              </a:spcAft>
            </a:pPr>
            <a:r>
              <a:rPr sz="1120" b="0">
                <a:solidFill>
                  <a:srgbClr val="1E2B38"/>
                </a:solidFill>
                <a:latin typeface="Noto Sans KR"/>
              </a:rPr>
              <a:t>*거주지or직장위치+학원까지 이동시간 : 미파악</a:t>
            </a:r>
          </a:p>
        </p:txBody>
      </p:sp>
    </p:spTree>
    <p:extLst>
      <p:ext uri="{BB962C8B-B14F-4D97-AF65-F5344CB8AC3E}">
        <p14:creationId xmlns:p14="http://schemas.microsoft.com/office/powerpoint/2010/main" val="64220807"/>
      </p:ext>
    </p:extLst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국취제 과정 확대 · 원문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25-2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1244600"/>
            <a:ext cx="11112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*평일/주말 스케줄이 어떤지 (가용시간 체크) : 상관 없음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*공부 시작 시기 : 3월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*생각 중인 공부 기간 : 길지 않음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*과정 안내 내용 : 모스과정 안내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*상담 명분 제시+상담 유도 : 국비조회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*같이 방문하실 지인 : 친한 동생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*이외 상담내용 :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이제 막 졸업한 분으로 친한 동생이랑 모스를 배우고자 함 -&gt; 동생은 4학년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국비지원이 되는지 물어보았고 둘 다 가능하다고 안내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모스 자격증을 취득하려하고 특별하게 취득해야할 이유는 없다고 함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따라서 취업지원까지 가능한 국비제도 안내해드리기로 하였음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본인은 시간이 많아서 괜찮은데 동생이랑 시간 맞춰보고 상담일정 잡아보겠다고 함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**수강료 질문에 대한 응대 : X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**시간표 질문에 대한 응대 : 오후, 저녁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*최소 과정: 모스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*최대 과정: 사무패키지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*특이 사항: X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*통화 시간: 6분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국취제 과정 확대 · 원문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25-3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1244600"/>
            <a:ext cx="11112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컨택결과 : 완납 3,330,000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컨택내용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*상담자 : 김호영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*직업 : 구직자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*나이 : 00년생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*거주지 : 도안동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*과정 관심 계기 : 창업 전 취업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*관심 및 희망 과정 : 모스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*수강 목적 : 취업 시 도움이 될까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*학교&amp;직장 내 특이사항 : X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*평소 가용 가능한 시간 : 저녁 선호 (황예림수강생이랑 같은 시간대 듣기 위해)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*희망 개강 시기 : 3월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*희망 타임 : 저녁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*수강 예산 : 333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*성격 및 성향 : 보통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*결제권자/완납 예정 : 아버님 / 완납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*환불 리스크 : X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*추가 등록 가망 과목/시기 : X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*이외 상담 내용 :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국취제 과정 확대 · 원문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25-4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1244600"/>
            <a:ext cx="11112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건설안전용품을 판매하는 사업을 하고 싶음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아버님께서는 건설철거 관련해서 사업을 하시는 듯 -&gt; 학생 때 국장 못받음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국취제 받기 위해 주소이전 안내하였고 서울에 있는 언니집으로 옮기는 쪽으로 할 것 같음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건축, 경리, 마케팅 분야로 안내하다가 마케팅쪽으로 유도하여 웹디자인 안내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황예림 수강생이 친구인데 저녁이랑 주말로 수업 다니고 있어서 같은 타임으로 공부하길 희망함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웹디자인으로 완납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**이번 상담 때 나의 반성 및 고칠 점 : X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대상자가 아닐 때 · 원문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26-1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1244600"/>
            <a:ext cx="11112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컨택결과 : 상담예정 09.20 ★13:30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컨택일시 : 2022-09-19 12:12:16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컨택자 : 2-1팀 김호영2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컨택내용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*컨택자 : 김호영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*본인확인 및 문의여부체크 : 본인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*학생분 현재 상황 질문 : 휴학생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*배워보시려는 계기 :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*분야 경험 여부 및 교육 여부 :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*현재 거주지 :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*평소 평일/주말 스케줄이 어떤지 (가용시간체크) :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*배우고 싶은 시기 : 11월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*질문한 사유 안내 + 위 내용을 취합 후 정리 :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*알아보는 과정에 대한 안내 :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*상담 명분 제시 + 상담 유도 :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*상담 일정 확정 :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*같이 방문하실 지인 :</a:t>
            </a:r>
          </a:p>
          <a:p>
            <a:pPr algn="l">
              <a:spcAft>
                <a:spcPts val="10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*이외 상담내용 :</a:t>
            </a:r>
          </a:p>
        </p:txBody>
      </p:sp>
    </p:spTree>
    <p:extLst>
      <p:ext uri="{BB962C8B-B14F-4D97-AF65-F5344CB8AC3E}">
        <p14:creationId xmlns:p14="http://schemas.microsoft.com/office/powerpoint/2010/main" val="1490805201"/>
      </p:ext>
    </p:extLst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대상자가 아닐 때 · 원문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/>
            <a:r>
              <a:rPr sz="1050" b="1">
                <a:solidFill>
                  <a:srgbClr val="0A4F99"/>
                </a:solidFill>
                <a:latin typeface="Noto Sans KR"/>
              </a:rPr>
              <a:t>26-3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1244600"/>
            <a:ext cx="11112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휴학생으로 부사관학과인데 그쪽으로 취업하지 않을 거라 크게 관심 없다고 함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친구가 웹프로그래머로 근무하는데 괜찮아 보여서 관심이 생겼고 웹디자인 전망도 좋은 부분 안내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마지막엔 인테리어쪽도 조금 궁금해하며 고민이 다소 있는 듯함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익일까지 고민하기로 했고 국취제 참여하는 쪽으로 고려중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자부담금 설명해줬더니 생각보다 금액이 많이 안나왔다고 하였음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학교 자퇴하지 않고 다니기로 하였고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따라서 국취제는 내년 9월에 신청하기로 함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1개월에 1개씩 교육과정 진행하기로 하였음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김호영2 (7696122)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기타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- COD 기한 : 09.21 (수)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- COD 결제수단 : 카드예정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- 결제권자 : 부모님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- 사유 : 국취제 참여 위해 학교 자퇴 고려중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국취제 할인율 · 원문 상담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27-1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1244600"/>
            <a:ext cx="11112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컨택결과 : 완납 3,000,000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컨택일시 : 2023-05-15 20:04:25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컨택자 : 2-1팀 김호영2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컨택내용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*상담자 : 김호영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*직업 : 구직자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*나이 : 26세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*거주지 : 중구 유천동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*과정 관심 계기 : 취업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*관심 및 희망 과정 : 컴활, 기계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*수강 목적 : 취업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*학교&amp;직장 내 특이사항 : X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*평소 가용 가능한 시간 : 프리함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*희망 개강 시기 : 6월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*희망 타임 : 오후 (9시만 아니면 됨)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*수강 예산 : 300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*성격 및 성향 : 보통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*결제권자/완납 예정 : 부모님 / 완납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*환불 리스크 : X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E2B38"/>
                </a:solidFill>
                <a:latin typeface="Noto Sans KR"/>
              </a:rPr>
              <a:t>*추가 등록 가망 과목/시기 : X</a:t>
            </a:r>
          </a:p>
        </p:txBody>
      </p:sp>
    </p:spTree>
    <p:extLst>
      <p:ext uri="{BB962C8B-B14F-4D97-AF65-F5344CB8AC3E}">
        <p14:creationId xmlns:p14="http://schemas.microsoft.com/office/powerpoint/2010/main" val="3151669593"/>
      </p:ext>
    </p:extLst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국취제 할인율 · 원문 상담내용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27-2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1244600"/>
            <a:ext cx="11112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l">
              <a:spcAft>
                <a:spcPts val="10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*이외 상담 내용 :</a:t>
            </a:r>
          </a:p>
          <a:p>
            <a:pPr algn="l">
              <a:spcAft>
                <a:spcPts val="10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어머님과 함께 방문하였음</a:t>
            </a:r>
          </a:p>
          <a:p>
            <a:pPr algn="l">
              <a:spcAft>
                <a:spcPts val="10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아들이 졸업하고 취업준비를 안하고 게임만해서 답답해서 전화주심</a:t>
            </a:r>
          </a:p>
          <a:p>
            <a:pPr algn="l">
              <a:spcAft>
                <a:spcPts val="10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아들은 일단 컴활 먼저 하고 나중에 봐서 하겠다는 식이었으나 지금 해야한다고 압박을 주었음</a:t>
            </a:r>
          </a:p>
          <a:p>
            <a:pPr algn="l">
              <a:spcAft>
                <a:spcPts val="10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어머님도 멘토편이었고 조심스럽게 달래가면서 이야기하였음</a:t>
            </a:r>
          </a:p>
          <a:p>
            <a:pPr algn="l">
              <a:spcAft>
                <a:spcPts val="10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결국은 본인도 기계학과를 살려야겠다며 기사 자격증을 준비하는 쪽으로 이야기 함</a:t>
            </a:r>
          </a:p>
          <a:p>
            <a:pPr algn="l">
              <a:spcAft>
                <a:spcPts val="10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컴활부터 진행해서 국취제 통해 기계 분야 공부 진행해보기로 하였음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국취제 할인율 · 원문 수강료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27-3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333500"/>
          <a:ext cx="111125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500"/>
                <a:gridCol w="952500"/>
                <a:gridCol w="2032000"/>
                <a:gridCol w="4445000"/>
                <a:gridCol w="2730500"/>
              </a:tblGrid>
              <a:tr h="402166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NO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차수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과목순번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과목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수강료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</a:tr>
              <a:tr h="402166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1E2B38"/>
                          </a:solidFill>
                          <a:latin typeface="Noto Sans KR"/>
                        </a:rPr>
                        <a:t>1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1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7087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포토샵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350,000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402166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1E2B38"/>
                          </a:solidFill>
                          <a:latin typeface="Noto Sans KR"/>
                        </a:rPr>
                        <a:t>2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1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7103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캐드1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350,000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402166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1E2B38"/>
                          </a:solidFill>
                          <a:latin typeface="Noto Sans KR"/>
                        </a:rPr>
                        <a:t>3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1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7102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컴활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300,000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402166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1E2B38"/>
                          </a:solidFill>
                          <a:latin typeface="Noto Sans KR"/>
                        </a:rPr>
                        <a:t>4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1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8123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캐드2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350,000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40217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1E2B38"/>
                          </a:solidFill>
                          <a:latin typeface="Noto Sans KR"/>
                        </a:rPr>
                        <a:t>5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1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7252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라이노1(방학)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350,000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33400" y="4000500"/>
            <a:ext cx="11112500" cy="3810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A356A"/>
                </a:solidFill>
                <a:latin typeface="Noto Sans KR"/>
              </a:rPr>
              <a:t>주말반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3400" y="4508500"/>
          <a:ext cx="111125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500"/>
                <a:gridCol w="952500"/>
                <a:gridCol w="2032000"/>
                <a:gridCol w="4445000"/>
                <a:gridCol w="2730500"/>
              </a:tblGrid>
              <a:tr h="41275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NO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차수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과목순번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과목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수강료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</a:tr>
              <a:tr h="41275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1E2B38"/>
                          </a:solidFill>
                          <a:latin typeface="Noto Sans KR"/>
                        </a:rPr>
                        <a:t>1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1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7534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인벤터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400,000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41275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1E2B38"/>
                          </a:solidFill>
                          <a:latin typeface="Noto Sans KR"/>
                        </a:rPr>
                        <a:t>2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1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16764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라이노2/주말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400,000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1E2B38"/>
                          </a:solidFill>
                          <a:latin typeface="Noto Sans KR"/>
                        </a:rPr>
                        <a:t>3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1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21793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일반기계기사/주말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450,000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대상자가 아닐 때 · 원문 2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26-2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1244600"/>
            <a:ext cx="11112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88900" bIns="88900"/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24살로 건설관련 학과였는데 현장직이 아닌 사무실내에서 근무하는 것을 해보고 싶어 현재 1년간 휴학중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아직까지 복학할 계획은 없다고 함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웹디자인과 광고디자인 둘 다 관심이 있는 상황이고 국비지원은 휴학생 불가라고 안내 -&gt; 휴학생은 교육청지원 안내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본인도 국비지원이 더 많이 되는거죠라고 물어봐서 그렇다고 하였음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부모님과도 조율 중이라 11월 희망한다고 하였는데 상담왔을 시 굳혀버릴 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27223</TotalTime>
  <Words>2995</Words>
  <Application>Microsoft Office PowerPoint</Application>
  <PresentationFormat>와이드스크린</PresentationFormat>
  <Paragraphs>399</Paragraphs>
  <Slides>50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4" baseType="lpstr"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SBS</cp:lastModifiedBy>
  <cp:revision>812</cp:revision>
  <cp:lastPrinted>2022-04-15T16:16:33Z</cp:lastPrinted>
  <dcterms:created xsi:type="dcterms:W3CDTF">2021-05-13T05:12:36Z</dcterms:created>
  <dcterms:modified xsi:type="dcterms:W3CDTF">2026-08-21T06:00:46Z</dcterms:modified>
</cp:coreProperties>
</file>