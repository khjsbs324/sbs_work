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4" r:id="rId3"/>
    <p:sldId id="286" r:id="rId4"/>
    <p:sldId id="288" r:id="rId5"/>
    <p:sldId id="287" r:id="rId6"/>
    <p:sldId id="289" r:id="rId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500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bs\Desktop\강사_PPT\Desktop\03.DTP\강사 커리큘럼_디자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 txBox="1"/>
          <p:nvPr/>
        </p:nvSpPr>
        <p:spPr>
          <a:xfrm>
            <a:off x="1524000" y="4191000"/>
            <a:ext cx="7645400" cy="342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508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AI취업올인원</a:t>
            </a:r>
            <a:r>
              <a:rPr sz="1900" b="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1900" b="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과정</a:t>
            </a:r>
            <a:r>
              <a:rPr sz="1900" b="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1900" b="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커리큘럼</a:t>
            </a:r>
            <a:endParaRPr lang="en-US" altLang="ko-KR" sz="14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1999" y="396000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7997" y="0"/>
                </a:lnTo>
              </a:path>
            </a:pathLst>
          </a:custGeom>
          <a:ln w="508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 txBox="1">
            <a:spLocks noGrp="1"/>
          </p:cNvSpPr>
          <p:nvPr>
            <p:ph type="title"/>
          </p:nvPr>
        </p:nvSpPr>
        <p:spPr>
          <a:xfrm>
            <a:off x="622300" y="-62003"/>
            <a:ext cx="9423400" cy="206952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0" dirty="0">
                <a:solidFill>
                  <a:srgbClr val="FFFFF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</a:t>
            </a:r>
            <a:r>
              <a:rPr lang="fr-FR" sz="16000" dirty="0">
                <a:solidFill>
                  <a:srgbClr val="FFFFF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I</a:t>
            </a:r>
            <a:endParaRPr sz="160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419100" y="7002075"/>
            <a:ext cx="304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F644C3-F8DB-42DF-B207-75D0804C7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17998"/>
            <a:ext cx="1760260" cy="199977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A2572626-36A2-4BE3-A451-9ECAEBC84A09}"/>
              </a:ext>
            </a:extLst>
          </p:cNvPr>
          <p:cNvSpPr txBox="1">
            <a:spLocks/>
          </p:cNvSpPr>
          <p:nvPr/>
        </p:nvSpPr>
        <p:spPr>
          <a:xfrm>
            <a:off x="635000" y="1595593"/>
            <a:ext cx="9423400" cy="183003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>
              <a:lnSpc>
                <a:spcPct val="105000"/>
              </a:lnSpc>
            </a:pPr>
            <a:r>
              <a:rPr lang="fr-FR" altLang="ko-KR" sz="16000" dirty="0">
                <a:solidFill>
                  <a:srgbClr val="FFFFF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ALL-IN-ONE</a:t>
            </a:r>
            <a:endParaRPr lang="fr-FR" sz="160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C:\Users\sbs\Desktop\강사_PPT\Desktop\03.DTP\강사 커리큘럼_디자인_023.jpg">
            <a:extLst>
              <a:ext uri="{FF2B5EF4-FFF2-40B4-BE49-F238E27FC236}">
                <a16:creationId xmlns:a16="http://schemas.microsoft.com/office/drawing/2014/main" id="{6F035230-1089-42D5-BCC4-81EC23375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ect 15"/>
          <p:cNvSpPr txBox="1"/>
          <p:nvPr/>
        </p:nvSpPr>
        <p:spPr>
          <a:xfrm>
            <a:off x="4902200" y="16637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사용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소프트웨어</a:t>
            </a:r>
            <a:endParaRPr sz="9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02200" y="23241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사전 준비 항목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8600" y="3213100"/>
            <a:ext cx="3721100" cy="965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프롬프트 엔지니어링 기반 LLM 응답 최적화</a:t>
            </a:r>
            <a:endParaRPr lang="ko-KR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컨텍스트·하네스 엔지니어링으로 AI 에이전트 구축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MCP·API 연동 기반 리서치·업무 워크플로 자동화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생성형 AI 시각화 및 웹 포트폴리오 배포 역량 함양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902200" y="50292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수업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방식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8600" y="5029200"/>
            <a:ext cx="3721100" cy="965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강사 시연·가이드 실습 기반 단계별 스캐폴딩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직무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시나리오 기반 프로젝트 학습(PBL)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프롬프트·에이전트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실행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결과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리뷰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및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코칭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루브릭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기반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포트폴리오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크리틱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200" y="61214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취업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활용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분야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8600" y="6121400"/>
            <a:ext cx="3721100" cy="711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디자인·마케팅·콘텐츠·웹 관련 직무의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자료 조사, 기획, 시각 자료 제작에 활용하며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취업 지원용 포트폴리오로 역량을 제시합니다.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902200" y="32131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훈련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목표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78600" y="4292600"/>
            <a:ext cx="3721100" cy="533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대상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: 10대~30대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취업준비생·비전공자</a:t>
            </a:r>
            <a:endParaRPr lang="en-US" altLang="ko-KR" sz="90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수준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: AI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입문부터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실무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활용까지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단계별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학습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</p:txBody>
      </p:sp>
      <p:sp>
        <p:nvSpPr>
          <p:cNvPr id="42" name="object 33"/>
          <p:cNvSpPr txBox="1"/>
          <p:nvPr/>
        </p:nvSpPr>
        <p:spPr>
          <a:xfrm>
            <a:off x="4902200" y="42926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학습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대상·수준</a:t>
            </a:r>
            <a:endParaRPr lang="en-US" altLang="ko-KR" sz="9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47" name="object 28"/>
          <p:cNvSpPr txBox="1">
            <a:spLocks/>
          </p:cNvSpPr>
          <p:nvPr/>
        </p:nvSpPr>
        <p:spPr>
          <a:xfrm>
            <a:off x="4457700" y="444500"/>
            <a:ext cx="5715000" cy="533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dirty="0">
                <a:solidFill>
                  <a:srgbClr val="EC008C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AI ALL-IN-ONE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045E3B-7286-DF27-CBA3-2BA0A6594BAB}"/>
              </a:ext>
            </a:extLst>
          </p:cNvPr>
          <p:cNvSpPr/>
          <p:nvPr/>
        </p:nvSpPr>
        <p:spPr>
          <a:xfrm>
            <a:off x="4914900" y="4622800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55CE5E-9F34-F8C3-7CCE-804EA41F66A6}"/>
              </a:ext>
            </a:extLst>
          </p:cNvPr>
          <p:cNvSpPr/>
          <p:nvPr/>
        </p:nvSpPr>
        <p:spPr>
          <a:xfrm>
            <a:off x="5054600" y="4622800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bject 9"/>
          <p:cNvSpPr txBox="1"/>
          <p:nvPr/>
        </p:nvSpPr>
        <p:spPr>
          <a:xfrm>
            <a:off x="8648700" y="342900"/>
            <a:ext cx="1676400" cy="165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444500" y="1187450"/>
            <a:ext cx="3683000" cy="1562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dirty="0">
                <a:solidFill>
                  <a:srgbClr val="EC008C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AI</a:t>
            </a:r>
            <a:endParaRPr sz="15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32" name="object 12"/>
          <p:cNvSpPr txBox="1"/>
          <p:nvPr/>
        </p:nvSpPr>
        <p:spPr>
          <a:xfrm>
            <a:off x="444500" y="3398837"/>
            <a:ext cx="4610100" cy="7620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dirty="0">
                <a:solidFill>
                  <a:srgbClr val="EC008C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ALL-IN-ONE</a:t>
            </a:r>
            <a:endParaRPr sz="6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6578600" y="1663700"/>
            <a:ext cx="3721100" cy="469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508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Claude: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Web·Desktop·Cowork·Code</a:t>
            </a:r>
            <a:endParaRPr lang="en-US" sz="900" b="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Google AI Flow</a:t>
            </a:r>
          </a:p>
        </p:txBody>
      </p:sp>
      <p:sp>
        <p:nvSpPr>
          <p:cNvPr id="35" name="object 18"/>
          <p:cNvSpPr txBox="1"/>
          <p:nvPr/>
        </p:nvSpPr>
        <p:spPr>
          <a:xfrm>
            <a:off x="6578600" y="2324100"/>
            <a:ext cx="3721100" cy="660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Windows사용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PC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Google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계정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및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유료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구독</a:t>
            </a:r>
            <a:r>
              <a:rPr 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해외 </a:t>
            </a:r>
            <a:r>
              <a:rPr lang="ko-KR" altLang="en-US" sz="90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결제 가능 </a:t>
            </a:r>
            <a:r>
              <a:rPr lang="ko-KR" alt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카드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준</a:t>
            </a:r>
            <a:r>
              <a:rPr lang="ko-KR" alt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비</a:t>
            </a:r>
            <a:endParaRPr lang="en-US" altLang="ko-KR"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*Google </a:t>
            </a:r>
            <a:r>
              <a:rPr lang="ko-KR" altLang="en-US" sz="90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로그인 가능 여부 반드시 확인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</p:txBody>
      </p:sp>
      <p:sp>
        <p:nvSpPr>
          <p:cNvPr id="3075" name="TextBox 3074"/>
          <p:cNvSpPr txBox="1"/>
          <p:nvPr/>
        </p:nvSpPr>
        <p:spPr>
          <a:xfrm>
            <a:off x="4483100" y="1092200"/>
            <a:ext cx="56896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Lecture Plan</a:t>
            </a:r>
            <a:endParaRPr lang="en-US" altLang="ko-KR" sz="20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C096C37E-3BF7-4EED-BE9C-9E846FBAF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56098"/>
            <a:ext cx="1760260" cy="19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70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743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Claude와 프롬프트 첫걸음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원리와 나만의 브랜딩 기획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AI로 취업 시장 조사하기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 분석부터 제안서까지 한 번에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00517"/>
            <a:ext cx="1689896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Code와 AI 작업 파일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내 업무를 기억하는 AI 환경 만들기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50227"/>
            <a:ext cx="1817787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자동화 첫걸음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Agent와 Hooks로 작업 흐름 만들기</a:t>
            </a: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Web·Desktop 기본 활용</a:t>
            </a: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LLM 원리와 후카츠 프롬프트 적용</a:t>
            </a:r>
          </a:p>
          <a:p>
            <a:pPr marL="206375" indent="-171450" algn="l"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취업용 퍼스널 브랜딩 초안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330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Code CLI 기본 활용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CLAUDE.md·SKILL.md 작성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재사용 가능한 Agent 파일 구축</a:t>
            </a: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Cowork 활용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직무·채용 정보 조사 및 비교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브랜딩 보고서·제안서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 역할과 작업 단계 정의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Hooks·settings.json 설정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업무 자동화 템플릿 완성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grpSp>
        <p:nvGrpSpPr>
          <p:cNvPr id="31" name="object 11">
            <a:extLst>
              <a:ext uri="{FF2B5EF4-FFF2-40B4-BE49-F238E27FC236}">
                <a16:creationId xmlns:a16="http://schemas.microsoft.com/office/drawing/2014/main" id="{F533C324-C4E7-4665-B0F2-A941FBAB234D}"/>
              </a:ext>
            </a:extLst>
          </p:cNvPr>
          <p:cNvGrpSpPr/>
          <p:nvPr/>
        </p:nvGrpSpPr>
        <p:grpSpPr>
          <a:xfrm>
            <a:off x="0" y="0"/>
            <a:ext cx="2222910" cy="7560493"/>
            <a:chOff x="0" y="0"/>
            <a:chExt cx="2222910" cy="7560493"/>
          </a:xfrm>
          <a:solidFill>
            <a:srgbClr val="E5007F"/>
          </a:solidFill>
        </p:grpSpPr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24DA4815-DEF6-4541-B828-2EF657D8836B}"/>
                </a:ext>
              </a:extLst>
            </p:cNvPr>
            <p:cNvSpPr/>
            <p:nvPr/>
          </p:nvSpPr>
          <p:spPr>
            <a:xfrm>
              <a:off x="0" y="1676501"/>
              <a:ext cx="360045" cy="5883910"/>
            </a:xfrm>
            <a:custGeom>
              <a:avLst/>
              <a:gdLst/>
              <a:ahLst/>
              <a:cxnLst/>
              <a:rect l="l" t="t" r="r" b="b"/>
              <a:pathLst>
                <a:path w="360045" h="5883909">
                  <a:moveTo>
                    <a:pt x="359994" y="0"/>
                  </a:moveTo>
                  <a:lnTo>
                    <a:pt x="0" y="367804"/>
                  </a:lnTo>
                  <a:lnTo>
                    <a:pt x="0" y="5883503"/>
                  </a:lnTo>
                  <a:lnTo>
                    <a:pt x="1778" y="5883503"/>
                  </a:lnTo>
                  <a:lnTo>
                    <a:pt x="359994" y="5525198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776C80A4-B49F-430B-A6A2-12DD236BFEAE}"/>
                </a:ext>
              </a:extLst>
            </p:cNvPr>
            <p:cNvSpPr/>
            <p:nvPr/>
          </p:nvSpPr>
          <p:spPr>
            <a:xfrm>
              <a:off x="0" y="612539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0" y="1434612"/>
                  </a:moveTo>
                  <a:lnTo>
                    <a:pt x="1434612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35B862CF-DD2C-493F-A606-D0BBC1E5861B}"/>
                </a:ext>
              </a:extLst>
            </p:cNvPr>
            <p:cNvSpPr/>
            <p:nvPr/>
          </p:nvSpPr>
          <p:spPr>
            <a:xfrm>
              <a:off x="0" y="907442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0" y="1129061"/>
                  </a:moveTo>
                  <a:lnTo>
                    <a:pt x="1129061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9B7CF547-2158-4327-B1A2-BACE6BE63AD1}"/>
                </a:ext>
              </a:extLst>
            </p:cNvPr>
            <p:cNvSpPr/>
            <p:nvPr/>
          </p:nvSpPr>
          <p:spPr>
            <a:xfrm>
              <a:off x="1021490" y="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0" y="1200965"/>
                  </a:moveTo>
                  <a:lnTo>
                    <a:pt x="1200965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6">
              <a:extLst>
                <a:ext uri="{FF2B5EF4-FFF2-40B4-BE49-F238E27FC236}">
                  <a16:creationId xmlns:a16="http://schemas.microsoft.com/office/drawing/2014/main" id="{D0AE492F-2A71-40C5-B549-4E8976DAE1ED}"/>
                </a:ext>
              </a:extLst>
            </p:cNvPr>
            <p:cNvSpPr/>
            <p:nvPr/>
          </p:nvSpPr>
          <p:spPr>
            <a:xfrm>
              <a:off x="0" y="12"/>
              <a:ext cx="360045" cy="1943735"/>
            </a:xfrm>
            <a:custGeom>
              <a:avLst/>
              <a:gdLst/>
              <a:ahLst/>
              <a:cxnLst/>
              <a:rect l="l" t="t" r="r" b="b"/>
              <a:pathLst>
                <a:path w="360045" h="1943735">
                  <a:moveTo>
                    <a:pt x="359994" y="0"/>
                  </a:moveTo>
                  <a:lnTo>
                    <a:pt x="0" y="0"/>
                  </a:lnTo>
                  <a:lnTo>
                    <a:pt x="0" y="409206"/>
                  </a:lnTo>
                  <a:lnTo>
                    <a:pt x="0" y="1163142"/>
                  </a:lnTo>
                  <a:lnTo>
                    <a:pt x="0" y="1943328"/>
                  </a:lnTo>
                  <a:lnTo>
                    <a:pt x="359994" y="1583245"/>
                  </a:lnTo>
                  <a:lnTo>
                    <a:pt x="359994" y="922477"/>
                  </a:lnTo>
                  <a:lnTo>
                    <a:pt x="359994" y="41402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CA2A3D9-A22D-46D2-8394-D0F7A3246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17998"/>
            <a:ext cx="1760260" cy="199977"/>
          </a:xfrm>
          <a:prstGeom prst="rect">
            <a:avLst/>
          </a:prstGeom>
        </p:spPr>
      </p:pic>
      <p:sp>
        <p:nvSpPr>
          <p:cNvPr id="39" name="object 9">
            <a:extLst>
              <a:ext uri="{FF2B5EF4-FFF2-40B4-BE49-F238E27FC236}">
                <a16:creationId xmlns:a16="http://schemas.microsoft.com/office/drawing/2014/main" id="{46A8AC97-CBF5-4D67-B618-7352286DA3B5}"/>
              </a:ext>
            </a:extLst>
          </p:cNvPr>
          <p:cNvSpPr txBox="1"/>
          <p:nvPr/>
        </p:nvSpPr>
        <p:spPr>
          <a:xfrm>
            <a:off x="8648700" y="342900"/>
            <a:ext cx="1676400" cy="165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819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Example Image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D01472-9B04-4B6C-A6F9-6138679E0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17" y="1709627"/>
            <a:ext cx="3928893" cy="22853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FAD2E6-C4BA-437A-9E57-A1F358875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104" y="1709627"/>
            <a:ext cx="3916503" cy="20833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CD4640-E424-4B2B-9834-552F9E2F2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688" y="3792965"/>
            <a:ext cx="3928894" cy="1941868"/>
          </a:xfrm>
          <a:prstGeom prst="rect">
            <a:avLst/>
          </a:prstGeom>
        </p:spPr>
      </p:pic>
      <p:grpSp>
        <p:nvGrpSpPr>
          <p:cNvPr id="15" name="object 11">
            <a:extLst>
              <a:ext uri="{FF2B5EF4-FFF2-40B4-BE49-F238E27FC236}">
                <a16:creationId xmlns:a16="http://schemas.microsoft.com/office/drawing/2014/main" id="{E98C1B94-D31D-4201-B159-686D1B7B2EBC}"/>
              </a:ext>
            </a:extLst>
          </p:cNvPr>
          <p:cNvGrpSpPr/>
          <p:nvPr/>
        </p:nvGrpSpPr>
        <p:grpSpPr>
          <a:xfrm>
            <a:off x="0" y="0"/>
            <a:ext cx="2222910" cy="7560493"/>
            <a:chOff x="0" y="0"/>
            <a:chExt cx="2222910" cy="7560493"/>
          </a:xfrm>
          <a:solidFill>
            <a:srgbClr val="E5007F"/>
          </a:solidFill>
        </p:grpSpPr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5CC59C9D-D588-4187-8188-6BE47AB92328}"/>
                </a:ext>
              </a:extLst>
            </p:cNvPr>
            <p:cNvSpPr/>
            <p:nvPr/>
          </p:nvSpPr>
          <p:spPr>
            <a:xfrm>
              <a:off x="0" y="1676501"/>
              <a:ext cx="360045" cy="5883910"/>
            </a:xfrm>
            <a:custGeom>
              <a:avLst/>
              <a:gdLst/>
              <a:ahLst/>
              <a:cxnLst/>
              <a:rect l="l" t="t" r="r" b="b"/>
              <a:pathLst>
                <a:path w="360045" h="5883909">
                  <a:moveTo>
                    <a:pt x="359994" y="0"/>
                  </a:moveTo>
                  <a:lnTo>
                    <a:pt x="0" y="367804"/>
                  </a:lnTo>
                  <a:lnTo>
                    <a:pt x="0" y="5883503"/>
                  </a:lnTo>
                  <a:lnTo>
                    <a:pt x="1778" y="5883503"/>
                  </a:lnTo>
                  <a:lnTo>
                    <a:pt x="359994" y="5525198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E6582258-E202-45BB-99C6-626E00A7CC42}"/>
                </a:ext>
              </a:extLst>
            </p:cNvPr>
            <p:cNvSpPr/>
            <p:nvPr/>
          </p:nvSpPr>
          <p:spPr>
            <a:xfrm>
              <a:off x="0" y="612539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0" y="1434612"/>
                  </a:moveTo>
                  <a:lnTo>
                    <a:pt x="1434612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378674BB-12EE-4002-92DD-75CEF31CD645}"/>
                </a:ext>
              </a:extLst>
            </p:cNvPr>
            <p:cNvSpPr/>
            <p:nvPr/>
          </p:nvSpPr>
          <p:spPr>
            <a:xfrm>
              <a:off x="0" y="907442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0" y="1129061"/>
                  </a:moveTo>
                  <a:lnTo>
                    <a:pt x="1129061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CE938CB9-9E80-4938-8595-EA09C310B06D}"/>
                </a:ext>
              </a:extLst>
            </p:cNvPr>
            <p:cNvSpPr/>
            <p:nvPr/>
          </p:nvSpPr>
          <p:spPr>
            <a:xfrm>
              <a:off x="1021490" y="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0" y="1200965"/>
                  </a:moveTo>
                  <a:lnTo>
                    <a:pt x="1200965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633D61CE-79C7-4232-929E-D5BD27D2F62C}"/>
                </a:ext>
              </a:extLst>
            </p:cNvPr>
            <p:cNvSpPr/>
            <p:nvPr/>
          </p:nvSpPr>
          <p:spPr>
            <a:xfrm>
              <a:off x="0" y="12"/>
              <a:ext cx="360045" cy="1943735"/>
            </a:xfrm>
            <a:custGeom>
              <a:avLst/>
              <a:gdLst/>
              <a:ahLst/>
              <a:cxnLst/>
              <a:rect l="l" t="t" r="r" b="b"/>
              <a:pathLst>
                <a:path w="360045" h="1943735">
                  <a:moveTo>
                    <a:pt x="359994" y="0"/>
                  </a:moveTo>
                  <a:lnTo>
                    <a:pt x="0" y="0"/>
                  </a:lnTo>
                  <a:lnTo>
                    <a:pt x="0" y="409206"/>
                  </a:lnTo>
                  <a:lnTo>
                    <a:pt x="0" y="1163142"/>
                  </a:lnTo>
                  <a:lnTo>
                    <a:pt x="0" y="1943328"/>
                  </a:lnTo>
                  <a:lnTo>
                    <a:pt x="359994" y="1583245"/>
                  </a:lnTo>
                  <a:lnTo>
                    <a:pt x="359994" y="922477"/>
                  </a:lnTo>
                  <a:lnTo>
                    <a:pt x="359994" y="41402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FEB1665A-BC42-4CB6-B7C6-5D1388183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582" y="3792964"/>
            <a:ext cx="3581547" cy="19418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B401242-B0F3-4420-8D9F-AED13DC720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17998"/>
            <a:ext cx="1760260" cy="199977"/>
          </a:xfrm>
          <a:prstGeom prst="rect">
            <a:avLst/>
          </a:prstGeom>
        </p:spPr>
      </p:pic>
      <p:sp>
        <p:nvSpPr>
          <p:cNvPr id="29" name="object 9">
            <a:extLst>
              <a:ext uri="{FF2B5EF4-FFF2-40B4-BE49-F238E27FC236}">
                <a16:creationId xmlns:a16="http://schemas.microsoft.com/office/drawing/2014/main" id="{93176CB5-3834-4AED-9299-D6452C0FD0BD}"/>
              </a:ext>
            </a:extLst>
          </p:cNvPr>
          <p:cNvSpPr txBox="1"/>
          <p:nvPr/>
        </p:nvSpPr>
        <p:spPr>
          <a:xfrm>
            <a:off x="8648700" y="342900"/>
            <a:ext cx="1676400" cy="165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368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05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AI와 외부 서비스 연결하기</a:t>
            </a: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MCP·API로 취업 정보 블로그 만들기</a:t>
            </a: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06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포트폴리오 웹사이트 공개하기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GitHub 저장부터 Netlify 배포까지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07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이미지와 웹 디자인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Flow로 포트폴리오 시각 자료 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08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4" y="2850227"/>
            <a:ext cx="1579294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 포트폴리오 완성 자동화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조사·기획·디자인·배포 흐름 연결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브라우저·Notion MCP 연결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티스토리·Notion API 활용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 정보 블로그 링크 제작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Flow 이미지 생성·수정 실습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프롬프트로 디자인 방향 조정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웹용 포트폴리오 이미지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GitHub 버전 관리 흐름 이해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Netlify 빌드·배포 실습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공개 포트폴리오 URL 완성</a:t>
            </a: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리서치·기획·설계 과정 통합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Agent로 수정·보완·배포 자동화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취업용 포트폴리오 완성본 제출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grpSp>
        <p:nvGrpSpPr>
          <p:cNvPr id="31" name="object 11">
            <a:extLst>
              <a:ext uri="{FF2B5EF4-FFF2-40B4-BE49-F238E27FC236}">
                <a16:creationId xmlns:a16="http://schemas.microsoft.com/office/drawing/2014/main" id="{96498BB5-6B9F-4349-96EA-3D599A2ABE25}"/>
              </a:ext>
            </a:extLst>
          </p:cNvPr>
          <p:cNvGrpSpPr/>
          <p:nvPr/>
        </p:nvGrpSpPr>
        <p:grpSpPr>
          <a:xfrm>
            <a:off x="0" y="0"/>
            <a:ext cx="2222910" cy="7560493"/>
            <a:chOff x="0" y="0"/>
            <a:chExt cx="2222910" cy="7560493"/>
          </a:xfrm>
          <a:solidFill>
            <a:srgbClr val="E5007F"/>
          </a:solidFill>
        </p:grpSpPr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6C5FB9BD-4E20-4B7F-92B9-F1F887C24EDF}"/>
                </a:ext>
              </a:extLst>
            </p:cNvPr>
            <p:cNvSpPr/>
            <p:nvPr/>
          </p:nvSpPr>
          <p:spPr>
            <a:xfrm>
              <a:off x="0" y="1676501"/>
              <a:ext cx="360045" cy="5883910"/>
            </a:xfrm>
            <a:custGeom>
              <a:avLst/>
              <a:gdLst/>
              <a:ahLst/>
              <a:cxnLst/>
              <a:rect l="l" t="t" r="r" b="b"/>
              <a:pathLst>
                <a:path w="360045" h="5883909">
                  <a:moveTo>
                    <a:pt x="359994" y="0"/>
                  </a:moveTo>
                  <a:lnTo>
                    <a:pt x="0" y="367804"/>
                  </a:lnTo>
                  <a:lnTo>
                    <a:pt x="0" y="5883503"/>
                  </a:lnTo>
                  <a:lnTo>
                    <a:pt x="1778" y="5883503"/>
                  </a:lnTo>
                  <a:lnTo>
                    <a:pt x="359994" y="5525198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26C8AF34-140E-4159-90E6-3FDF0C1141AC}"/>
                </a:ext>
              </a:extLst>
            </p:cNvPr>
            <p:cNvSpPr/>
            <p:nvPr/>
          </p:nvSpPr>
          <p:spPr>
            <a:xfrm>
              <a:off x="0" y="612539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0" y="1434612"/>
                  </a:moveTo>
                  <a:lnTo>
                    <a:pt x="1434612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A2E8F738-9C25-4D6D-B6A3-D6EF779D73A4}"/>
                </a:ext>
              </a:extLst>
            </p:cNvPr>
            <p:cNvSpPr/>
            <p:nvPr/>
          </p:nvSpPr>
          <p:spPr>
            <a:xfrm>
              <a:off x="0" y="907442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0" y="1129061"/>
                  </a:moveTo>
                  <a:lnTo>
                    <a:pt x="1129061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7D98A87C-1BC3-41CC-A73A-221F6205431C}"/>
                </a:ext>
              </a:extLst>
            </p:cNvPr>
            <p:cNvSpPr/>
            <p:nvPr/>
          </p:nvSpPr>
          <p:spPr>
            <a:xfrm>
              <a:off x="1021490" y="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0" y="1200965"/>
                  </a:moveTo>
                  <a:lnTo>
                    <a:pt x="1200965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16">
              <a:extLst>
                <a:ext uri="{FF2B5EF4-FFF2-40B4-BE49-F238E27FC236}">
                  <a16:creationId xmlns:a16="http://schemas.microsoft.com/office/drawing/2014/main" id="{FFDCF832-E28A-45BB-BDD0-FE060C65449C}"/>
                </a:ext>
              </a:extLst>
            </p:cNvPr>
            <p:cNvSpPr/>
            <p:nvPr/>
          </p:nvSpPr>
          <p:spPr>
            <a:xfrm>
              <a:off x="0" y="12"/>
              <a:ext cx="360045" cy="1943735"/>
            </a:xfrm>
            <a:custGeom>
              <a:avLst/>
              <a:gdLst/>
              <a:ahLst/>
              <a:cxnLst/>
              <a:rect l="l" t="t" r="r" b="b"/>
              <a:pathLst>
                <a:path w="360045" h="1943735">
                  <a:moveTo>
                    <a:pt x="359994" y="0"/>
                  </a:moveTo>
                  <a:lnTo>
                    <a:pt x="0" y="0"/>
                  </a:lnTo>
                  <a:lnTo>
                    <a:pt x="0" y="409206"/>
                  </a:lnTo>
                  <a:lnTo>
                    <a:pt x="0" y="1163142"/>
                  </a:lnTo>
                  <a:lnTo>
                    <a:pt x="0" y="1943328"/>
                  </a:lnTo>
                  <a:lnTo>
                    <a:pt x="359994" y="1583245"/>
                  </a:lnTo>
                  <a:lnTo>
                    <a:pt x="359994" y="922477"/>
                  </a:lnTo>
                  <a:lnTo>
                    <a:pt x="359994" y="41402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9B93B97-F567-47FF-B8FE-EC883F3FE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17998"/>
            <a:ext cx="1760260" cy="19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7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Example Image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D09CE2-996A-47B7-B08F-21772BEAF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688" y="1709627"/>
            <a:ext cx="3868856" cy="2091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26234D-2DB0-46F7-9D96-005A7C85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44" y="1709627"/>
            <a:ext cx="3865132" cy="2091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E38C23-70B7-4E5D-981E-BAC433421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510" y="3801227"/>
            <a:ext cx="3866400" cy="2090272"/>
          </a:xfrm>
          <a:prstGeom prst="rect">
            <a:avLst/>
          </a:prstGeom>
        </p:spPr>
      </p:pic>
      <p:grpSp>
        <p:nvGrpSpPr>
          <p:cNvPr id="13" name="object 11">
            <a:extLst>
              <a:ext uri="{FF2B5EF4-FFF2-40B4-BE49-F238E27FC236}">
                <a16:creationId xmlns:a16="http://schemas.microsoft.com/office/drawing/2014/main" id="{7D3B6E14-8FA5-4BFD-AE92-DE43F41FB9D9}"/>
              </a:ext>
            </a:extLst>
          </p:cNvPr>
          <p:cNvGrpSpPr/>
          <p:nvPr/>
        </p:nvGrpSpPr>
        <p:grpSpPr>
          <a:xfrm>
            <a:off x="0" y="0"/>
            <a:ext cx="2222910" cy="7560493"/>
            <a:chOff x="0" y="0"/>
            <a:chExt cx="2222910" cy="7560493"/>
          </a:xfrm>
          <a:solidFill>
            <a:srgbClr val="E5007F"/>
          </a:solidFill>
        </p:grpSpPr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D64E439D-0FAC-420A-8D5E-D67A688E9FE0}"/>
                </a:ext>
              </a:extLst>
            </p:cNvPr>
            <p:cNvSpPr/>
            <p:nvPr/>
          </p:nvSpPr>
          <p:spPr>
            <a:xfrm>
              <a:off x="0" y="1676501"/>
              <a:ext cx="360045" cy="5883910"/>
            </a:xfrm>
            <a:custGeom>
              <a:avLst/>
              <a:gdLst/>
              <a:ahLst/>
              <a:cxnLst/>
              <a:rect l="l" t="t" r="r" b="b"/>
              <a:pathLst>
                <a:path w="360045" h="5883909">
                  <a:moveTo>
                    <a:pt x="359994" y="0"/>
                  </a:moveTo>
                  <a:lnTo>
                    <a:pt x="0" y="367804"/>
                  </a:lnTo>
                  <a:lnTo>
                    <a:pt x="0" y="5883503"/>
                  </a:lnTo>
                  <a:lnTo>
                    <a:pt x="1778" y="5883503"/>
                  </a:lnTo>
                  <a:lnTo>
                    <a:pt x="359994" y="5525198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A29659C1-A83D-4622-9215-9DB3696793E6}"/>
                </a:ext>
              </a:extLst>
            </p:cNvPr>
            <p:cNvSpPr/>
            <p:nvPr/>
          </p:nvSpPr>
          <p:spPr>
            <a:xfrm>
              <a:off x="0" y="612539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0" y="1434612"/>
                  </a:moveTo>
                  <a:lnTo>
                    <a:pt x="1434612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8F600930-C04C-487E-932B-3FD2C1EF2471}"/>
                </a:ext>
              </a:extLst>
            </p:cNvPr>
            <p:cNvSpPr/>
            <p:nvPr/>
          </p:nvSpPr>
          <p:spPr>
            <a:xfrm>
              <a:off x="0" y="907442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0" y="1129061"/>
                  </a:moveTo>
                  <a:lnTo>
                    <a:pt x="1129061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B4880A7E-A0F0-4D10-826E-F2C3F5DDEADA}"/>
                </a:ext>
              </a:extLst>
            </p:cNvPr>
            <p:cNvSpPr/>
            <p:nvPr/>
          </p:nvSpPr>
          <p:spPr>
            <a:xfrm>
              <a:off x="1021490" y="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0" y="1200965"/>
                  </a:moveTo>
                  <a:lnTo>
                    <a:pt x="1200965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C72DADF6-303B-4EA5-98BE-02A94D8FF796}"/>
                </a:ext>
              </a:extLst>
            </p:cNvPr>
            <p:cNvSpPr/>
            <p:nvPr/>
          </p:nvSpPr>
          <p:spPr>
            <a:xfrm>
              <a:off x="0" y="12"/>
              <a:ext cx="360045" cy="1943735"/>
            </a:xfrm>
            <a:custGeom>
              <a:avLst/>
              <a:gdLst/>
              <a:ahLst/>
              <a:cxnLst/>
              <a:rect l="l" t="t" r="r" b="b"/>
              <a:pathLst>
                <a:path w="360045" h="1943735">
                  <a:moveTo>
                    <a:pt x="359994" y="0"/>
                  </a:moveTo>
                  <a:lnTo>
                    <a:pt x="0" y="0"/>
                  </a:lnTo>
                  <a:lnTo>
                    <a:pt x="0" y="409206"/>
                  </a:lnTo>
                  <a:lnTo>
                    <a:pt x="0" y="1163142"/>
                  </a:lnTo>
                  <a:lnTo>
                    <a:pt x="0" y="1943328"/>
                  </a:lnTo>
                  <a:lnTo>
                    <a:pt x="359994" y="1583245"/>
                  </a:lnTo>
                  <a:lnTo>
                    <a:pt x="359994" y="922477"/>
                  </a:lnTo>
                  <a:lnTo>
                    <a:pt x="359994" y="41402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3EDA429-C337-4D6F-B2AA-A7A84DDC2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276" y="3803240"/>
            <a:ext cx="3866400" cy="20882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046F799-9C13-49B1-A136-2F401D5FF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17998"/>
            <a:ext cx="1760260" cy="199977"/>
          </a:xfrm>
          <a:prstGeom prst="rect">
            <a:avLst/>
          </a:prstGeom>
        </p:spPr>
      </p:pic>
      <p:sp>
        <p:nvSpPr>
          <p:cNvPr id="20" name="object 9">
            <a:extLst>
              <a:ext uri="{FF2B5EF4-FFF2-40B4-BE49-F238E27FC236}">
                <a16:creationId xmlns:a16="http://schemas.microsoft.com/office/drawing/2014/main" id="{D18A03E1-61AC-446F-A986-7096FB6E1CC0}"/>
              </a:ext>
            </a:extLst>
          </p:cNvPr>
          <p:cNvSpPr txBox="1"/>
          <p:nvPr/>
        </p:nvSpPr>
        <p:spPr>
          <a:xfrm>
            <a:off x="8648700" y="342900"/>
            <a:ext cx="1676400" cy="165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113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450</Words>
  <Application>Microsoft Office PowerPoint</Application>
  <PresentationFormat>사용자 지정</PresentationFormat>
  <Paragraphs>109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KR</vt:lpstr>
      <vt:lpstr>맑은 고딕</vt:lpstr>
      <vt:lpstr>스웨거 TTF</vt:lpstr>
      <vt:lpstr>Agency FB</vt:lpstr>
      <vt:lpstr>Arial</vt:lpstr>
      <vt:lpstr>Calibri</vt:lpstr>
      <vt:lpstr>Office 테마</vt:lpstr>
      <vt:lpstr>AI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AI취업올인원 1~2 학생제시용 커리큘럼</dc:title>
  <dc:subject>AI 프롬프팅, AI 에이전트 자동화, 취업용 포트폴리오 제작</dc:subject>
  <dc:creator>김혜지</dc:creator>
  <cp:keywords>AI취업올인원, 프롬프트, AI에이전트, 포트폴리오</cp:keywords>
  <cp:lastModifiedBy>SBS</cp:lastModifiedBy>
  <cp:revision>7</cp:revision>
  <cp:lastPrinted>2026-09-07T08:59:43Z</cp:lastPrinted>
  <dcterms:modified xsi:type="dcterms:W3CDTF">2026-09-07T08:59:43Z</dcterms:modified>
</cp:coreProperties>
</file>