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6" r:id="rId2"/>
    <p:sldId id="287" r:id="rId3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566" y="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55119" y="7039173"/>
            <a:ext cx="224348" cy="1005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2021" y="6992183"/>
            <a:ext cx="196524" cy="1985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70937" y="438070"/>
            <a:ext cx="6951525" cy="323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8">
            <a:extLst>
              <a:ext uri="{FF2B5EF4-FFF2-40B4-BE49-F238E27FC236}">
                <a16:creationId xmlns:a16="http://schemas.microsoft.com/office/drawing/2014/main" id="{A897436C-CAA4-4AD4-A3A2-BC62CB525CB1}"/>
              </a:ext>
            </a:extLst>
          </p:cNvPr>
          <p:cNvSpPr txBox="1">
            <a:spLocks/>
          </p:cNvSpPr>
          <p:nvPr/>
        </p:nvSpPr>
        <p:spPr>
          <a:xfrm>
            <a:off x="2023982" y="1636153"/>
            <a:ext cx="7524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>
                <a:solidFill>
                  <a:srgbClr val="E5007F"/>
                </a:solidFill>
                <a:latin typeface="Agency FB"/>
                <a:cs typeface="Agency FB"/>
              </a:rPr>
              <a:t>01</a:t>
            </a:r>
            <a:r>
              <a:rPr lang="en-US" sz="2700" b="1" spc="-15" baseline="1543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1" name="object 29">
            <a:extLst>
              <a:ext uri="{FF2B5EF4-FFF2-40B4-BE49-F238E27FC236}">
                <a16:creationId xmlns:a16="http://schemas.microsoft.com/office/drawing/2014/main" id="{290533C2-A964-449B-AE0F-4BDB45BE9F3E}"/>
              </a:ext>
            </a:extLst>
          </p:cNvPr>
          <p:cNvSpPr txBox="1"/>
          <p:nvPr/>
        </p:nvSpPr>
        <p:spPr>
          <a:xfrm>
            <a:off x="2023982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F7C4E564-6AEC-4EC9-B15D-C12E5761A953}"/>
              </a:ext>
            </a:extLst>
          </p:cNvPr>
          <p:cNvSpPr txBox="1"/>
          <p:nvPr/>
        </p:nvSpPr>
        <p:spPr>
          <a:xfrm>
            <a:off x="2023982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D5D57DA2-F3B1-4DC3-A836-2B2CB0F3D7AE}"/>
              </a:ext>
            </a:extLst>
          </p:cNvPr>
          <p:cNvSpPr txBox="1"/>
          <p:nvPr/>
        </p:nvSpPr>
        <p:spPr>
          <a:xfrm>
            <a:off x="1998547" y="2850227"/>
            <a:ext cx="1671754" cy="743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업무 설계와 프롬프트 기본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비교·선택 기준 및 구조화 프롬프트 실습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4" name="object 28">
            <a:extLst>
              <a:ext uri="{FF2B5EF4-FFF2-40B4-BE49-F238E27FC236}">
                <a16:creationId xmlns:a16="http://schemas.microsoft.com/office/drawing/2014/main" id="{E118A82D-4C38-4DC3-AFD8-92B1AF9EFCAF}"/>
              </a:ext>
            </a:extLst>
          </p:cNvPr>
          <p:cNvSpPr txBox="1">
            <a:spLocks/>
          </p:cNvSpPr>
          <p:nvPr/>
        </p:nvSpPr>
        <p:spPr>
          <a:xfrm>
            <a:off x="3919911" y="1636153"/>
            <a:ext cx="89338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02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7EFB22D2-531E-4C44-B2F5-02CFEC63F7B5}"/>
              </a:ext>
            </a:extLst>
          </p:cNvPr>
          <p:cNvSpPr txBox="1"/>
          <p:nvPr/>
        </p:nvSpPr>
        <p:spPr>
          <a:xfrm>
            <a:off x="3919911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4109F8CA-1EEC-4808-B54D-D455B5864444}"/>
              </a:ext>
            </a:extLst>
          </p:cNvPr>
          <p:cNvSpPr txBox="1"/>
          <p:nvPr/>
        </p:nvSpPr>
        <p:spPr>
          <a:xfrm>
            <a:off x="3894476" y="2850227"/>
            <a:ext cx="1565762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리서치와 문서 업무</a:t>
            </a: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기업·직무 자료 수집, 요약·비교 및 브리프 제작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7" name="object 28">
            <a:extLst>
              <a:ext uri="{FF2B5EF4-FFF2-40B4-BE49-F238E27FC236}">
                <a16:creationId xmlns:a16="http://schemas.microsoft.com/office/drawing/2014/main" id="{F583C674-4031-44C3-8ADF-4A558A03DF6A}"/>
              </a:ext>
            </a:extLst>
          </p:cNvPr>
          <p:cNvSpPr txBox="1">
            <a:spLocks/>
          </p:cNvSpPr>
          <p:nvPr/>
        </p:nvSpPr>
        <p:spPr>
          <a:xfrm>
            <a:off x="5815840" y="1636153"/>
            <a:ext cx="90246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03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77D74C7E-4D57-4FA3-AD22-06EF74D7CA0B}"/>
              </a:ext>
            </a:extLst>
          </p:cNvPr>
          <p:cNvSpPr txBox="1"/>
          <p:nvPr/>
        </p:nvSpPr>
        <p:spPr>
          <a:xfrm>
            <a:off x="5815840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9" name="object 29">
            <a:extLst>
              <a:ext uri="{FF2B5EF4-FFF2-40B4-BE49-F238E27FC236}">
                <a16:creationId xmlns:a16="http://schemas.microsoft.com/office/drawing/2014/main" id="{61FD0E30-0FEB-4CD1-98B4-DD63A29F6922}"/>
              </a:ext>
            </a:extLst>
          </p:cNvPr>
          <p:cNvSpPr txBox="1"/>
          <p:nvPr/>
        </p:nvSpPr>
        <p:spPr>
          <a:xfrm>
            <a:off x="5790405" y="2800517"/>
            <a:ext cx="1689896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멀티모달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 콘텐츠 제작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텍스트·이미지·데이터 기반 직무 콘텐츠 제작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0" name="object 28">
            <a:extLst>
              <a:ext uri="{FF2B5EF4-FFF2-40B4-BE49-F238E27FC236}">
                <a16:creationId xmlns:a16="http://schemas.microsoft.com/office/drawing/2014/main" id="{AA22E838-5A16-4489-9922-CEEE12696623}"/>
              </a:ext>
            </a:extLst>
          </p:cNvPr>
          <p:cNvSpPr txBox="1">
            <a:spLocks/>
          </p:cNvSpPr>
          <p:nvPr/>
        </p:nvSpPr>
        <p:spPr>
          <a:xfrm>
            <a:off x="7711769" y="1636153"/>
            <a:ext cx="101677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04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B1EE3B08-46E8-459A-95F5-DDC13979843A}"/>
              </a:ext>
            </a:extLst>
          </p:cNvPr>
          <p:cNvSpPr txBox="1"/>
          <p:nvPr/>
        </p:nvSpPr>
        <p:spPr>
          <a:xfrm>
            <a:off x="7711769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24111ED0-AE61-4F0B-B970-0689E75D9658}"/>
              </a:ext>
            </a:extLst>
          </p:cNvPr>
          <p:cNvSpPr txBox="1"/>
          <p:nvPr/>
        </p:nvSpPr>
        <p:spPr>
          <a:xfrm>
            <a:off x="7686333" y="2850227"/>
            <a:ext cx="1817787" cy="543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Agent와 Skills 설계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반복 업무 분해 및 재사용 작업 흐름 구축</a:t>
            </a: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4AA6D480-0492-407E-8739-ADD04A2CD3E4}"/>
              </a:ext>
            </a:extLst>
          </p:cNvPr>
          <p:cNvSpPr txBox="1"/>
          <p:nvPr/>
        </p:nvSpPr>
        <p:spPr>
          <a:xfrm>
            <a:off x="2020688" y="4715622"/>
            <a:ext cx="1543693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상황에 맞는 AI 선택</a:t>
            </a:r>
          </a:p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목적·맥락·조건·출력 형식 설계</a:t>
            </a:r>
          </a:p>
          <a:p>
            <a:pPr marL="206375" indent="-171450" algn="l"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출처·개인정보·사실성 검증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7B954108-A4E1-4490-829E-191F9606F9C4}"/>
              </a:ext>
            </a:extLst>
          </p:cNvPr>
          <p:cNvSpPr txBox="1"/>
          <p:nvPr/>
        </p:nvSpPr>
        <p:spPr>
          <a:xfrm>
            <a:off x="392320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9AB484B8-3E00-4E98-B9E0-425209614F4C}"/>
              </a:ext>
            </a:extLst>
          </p:cNvPr>
          <p:cNvSpPr txBox="1"/>
          <p:nvPr/>
        </p:nvSpPr>
        <p:spPr>
          <a:xfrm>
            <a:off x="581374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BCC40343-6BB2-4AA6-AE0E-839D00F957FB}"/>
              </a:ext>
            </a:extLst>
          </p:cNvPr>
          <p:cNvSpPr txBox="1"/>
          <p:nvPr/>
        </p:nvSpPr>
        <p:spPr>
          <a:xfrm>
            <a:off x="5828355" y="4715622"/>
            <a:ext cx="1575745" cy="13301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직무별 콘텐츠 형식 선택</a:t>
            </a: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프롬프트 반복 개선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저작권·활용 범위 점검</a:t>
            </a:r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39BC9AD4-7C4A-45C5-BBDE-93E03EF9F990}"/>
              </a:ext>
            </a:extLst>
          </p:cNvPr>
          <p:cNvSpPr txBox="1"/>
          <p:nvPr/>
        </p:nvSpPr>
        <p:spPr>
          <a:xfrm>
            <a:off x="3914557" y="4715622"/>
            <a:ext cx="1545717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신뢰도 높은 자료 탐색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환각·누락·출처 교차 검증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목적에 맞는 문서 재구성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E579966B-6E4B-44C9-B19F-E1C5703A8946}"/>
              </a:ext>
            </a:extLst>
          </p:cNvPr>
          <p:cNvSpPr txBox="1"/>
          <p:nvPr/>
        </p:nvSpPr>
        <p:spPr>
          <a:xfrm>
            <a:off x="7711769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DD791843-E8AE-422C-BE30-9AF59A6F9E11}"/>
              </a:ext>
            </a:extLst>
          </p:cNvPr>
          <p:cNvSpPr txBox="1"/>
          <p:nvPr/>
        </p:nvSpPr>
        <p:spPr>
          <a:xfrm>
            <a:off x="7711769" y="4715622"/>
            <a:ext cx="1540290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AI와 Agent의 차이 이해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단계별 작업 절차 설계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개인 Agent 프로토타입 제작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9F10FC8F-C01C-4F4A-B3E0-E3FAB2088EA3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1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Plan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</p:spTree>
    <p:extLst>
      <p:ext uri="{BB962C8B-B14F-4D97-AF65-F5344CB8AC3E}">
        <p14:creationId xmlns:p14="http://schemas.microsoft.com/office/powerpoint/2010/main" val="2748199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8">
            <a:extLst>
              <a:ext uri="{FF2B5EF4-FFF2-40B4-BE49-F238E27FC236}">
                <a16:creationId xmlns:a16="http://schemas.microsoft.com/office/drawing/2014/main" id="{A897436C-CAA4-4AD4-A3A2-BC62CB525CB1}"/>
              </a:ext>
            </a:extLst>
          </p:cNvPr>
          <p:cNvSpPr txBox="1">
            <a:spLocks/>
          </p:cNvSpPr>
          <p:nvPr/>
        </p:nvSpPr>
        <p:spPr>
          <a:xfrm>
            <a:off x="2023982" y="1636153"/>
            <a:ext cx="7524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>
                <a:solidFill>
                  <a:srgbClr val="E5007F"/>
                </a:solidFill>
                <a:latin typeface="Agency FB"/>
                <a:cs typeface="Agency FB"/>
              </a:rPr>
              <a:t>05</a:t>
            </a:r>
            <a:r>
              <a:rPr lang="en-US" sz="2700" b="1" spc="-15" baseline="1543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1" name="object 29">
            <a:extLst>
              <a:ext uri="{FF2B5EF4-FFF2-40B4-BE49-F238E27FC236}">
                <a16:creationId xmlns:a16="http://schemas.microsoft.com/office/drawing/2014/main" id="{290533C2-A964-449B-AE0F-4BDB45BE9F3E}"/>
              </a:ext>
            </a:extLst>
          </p:cNvPr>
          <p:cNvSpPr txBox="1"/>
          <p:nvPr/>
        </p:nvSpPr>
        <p:spPr>
          <a:xfrm>
            <a:off x="2023982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F7C4E564-6AEC-4EC9-B15D-C12E5761A953}"/>
              </a:ext>
            </a:extLst>
          </p:cNvPr>
          <p:cNvSpPr txBox="1"/>
          <p:nvPr/>
        </p:nvSpPr>
        <p:spPr>
          <a:xfrm>
            <a:off x="2023982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D5D57DA2-F3B1-4DC3-A836-2B2CB0F3D7AE}"/>
              </a:ext>
            </a:extLst>
          </p:cNvPr>
          <p:cNvSpPr txBox="1"/>
          <p:nvPr/>
        </p:nvSpPr>
        <p:spPr>
          <a:xfrm>
            <a:off x="1998547" y="2850227"/>
            <a:ext cx="1671754" cy="90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MCP·API 기반 업무 자동화</a:t>
            </a:r>
          </a:p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외부 도구·데이터 연결 및 수집·정리·저장 자동화</a:t>
            </a:r>
          </a:p>
        </p:txBody>
      </p:sp>
      <p:sp>
        <p:nvSpPr>
          <p:cNvPr id="14" name="object 28">
            <a:extLst>
              <a:ext uri="{FF2B5EF4-FFF2-40B4-BE49-F238E27FC236}">
                <a16:creationId xmlns:a16="http://schemas.microsoft.com/office/drawing/2014/main" id="{E118A82D-4C38-4DC3-AFD8-92B1AF9EFCAF}"/>
              </a:ext>
            </a:extLst>
          </p:cNvPr>
          <p:cNvSpPr txBox="1">
            <a:spLocks/>
          </p:cNvSpPr>
          <p:nvPr/>
        </p:nvSpPr>
        <p:spPr>
          <a:xfrm>
            <a:off x="3919911" y="1636153"/>
            <a:ext cx="89338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06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7EFB22D2-531E-4C44-B2F5-02CFEC63F7B5}"/>
              </a:ext>
            </a:extLst>
          </p:cNvPr>
          <p:cNvSpPr txBox="1"/>
          <p:nvPr/>
        </p:nvSpPr>
        <p:spPr>
          <a:xfrm>
            <a:off x="3919911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4109F8CA-1EEC-4808-B54D-D455B5864444}"/>
              </a:ext>
            </a:extLst>
          </p:cNvPr>
          <p:cNvSpPr txBox="1"/>
          <p:nvPr/>
        </p:nvSpPr>
        <p:spPr>
          <a:xfrm>
            <a:off x="3894476" y="2850227"/>
            <a:ext cx="1565762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개인 프로젝트 기획·구현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문제·사용자·입출력·성공 기준 정의 후 MVP 제작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7" name="object 28">
            <a:extLst>
              <a:ext uri="{FF2B5EF4-FFF2-40B4-BE49-F238E27FC236}">
                <a16:creationId xmlns:a16="http://schemas.microsoft.com/office/drawing/2014/main" id="{F583C674-4031-44C3-8ADF-4A558A03DF6A}"/>
              </a:ext>
            </a:extLst>
          </p:cNvPr>
          <p:cNvSpPr txBox="1">
            <a:spLocks/>
          </p:cNvSpPr>
          <p:nvPr/>
        </p:nvSpPr>
        <p:spPr>
          <a:xfrm>
            <a:off x="5815840" y="1636153"/>
            <a:ext cx="90246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07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77D74C7E-4D57-4FA3-AD22-06EF74D7CA0B}"/>
              </a:ext>
            </a:extLst>
          </p:cNvPr>
          <p:cNvSpPr txBox="1"/>
          <p:nvPr/>
        </p:nvSpPr>
        <p:spPr>
          <a:xfrm>
            <a:off x="5815840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9" name="object 29">
            <a:extLst>
              <a:ext uri="{FF2B5EF4-FFF2-40B4-BE49-F238E27FC236}">
                <a16:creationId xmlns:a16="http://schemas.microsoft.com/office/drawing/2014/main" id="{61FD0E30-0FEB-4CD1-98B4-DD63A29F6922}"/>
              </a:ext>
            </a:extLst>
          </p:cNvPr>
          <p:cNvSpPr txBox="1"/>
          <p:nvPr/>
        </p:nvSpPr>
        <p:spPr>
          <a:xfrm>
            <a:off x="5790405" y="2850227"/>
            <a:ext cx="1565762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프로젝트 완성·배포·개선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테스트·피드백 반영 후 결과물 완성 및 배포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0" name="object 28">
            <a:extLst>
              <a:ext uri="{FF2B5EF4-FFF2-40B4-BE49-F238E27FC236}">
                <a16:creationId xmlns:a16="http://schemas.microsoft.com/office/drawing/2014/main" id="{AA22E838-5A16-4489-9922-CEEE12696623}"/>
              </a:ext>
            </a:extLst>
          </p:cNvPr>
          <p:cNvSpPr txBox="1">
            <a:spLocks/>
          </p:cNvSpPr>
          <p:nvPr/>
        </p:nvSpPr>
        <p:spPr>
          <a:xfrm>
            <a:off x="7711769" y="1636153"/>
            <a:ext cx="101677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08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B1EE3B08-46E8-459A-95F5-DDC13979843A}"/>
              </a:ext>
            </a:extLst>
          </p:cNvPr>
          <p:cNvSpPr txBox="1"/>
          <p:nvPr/>
        </p:nvSpPr>
        <p:spPr>
          <a:xfrm>
            <a:off x="7711769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24111ED0-AE61-4F0B-B970-0689E75D9658}"/>
              </a:ext>
            </a:extLst>
          </p:cNvPr>
          <p:cNvSpPr txBox="1"/>
          <p:nvPr/>
        </p:nvSpPr>
        <p:spPr>
          <a:xfrm>
            <a:off x="7686334" y="2850227"/>
            <a:ext cx="1579294" cy="543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포트폴리오와 취업 연결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프로젝트 문서화·시연 및 면접 질문 실습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4AA6D480-0492-407E-8739-ADD04A2CD3E4}"/>
              </a:ext>
            </a:extLst>
          </p:cNvPr>
          <p:cNvSpPr txBox="1"/>
          <p:nvPr/>
        </p:nvSpPr>
        <p:spPr>
          <a:xfrm>
            <a:off x="2020688" y="4715622"/>
            <a:ext cx="1543693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외부 도구 연결 구조 이해</a:t>
            </a: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반복 업무 자동화 1개 구현</a:t>
            </a: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결과 검증과 오류 대응</a:t>
            </a:r>
            <a:endParaRPr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7B954108-A4E1-4490-829E-191F9606F9C4}"/>
              </a:ext>
            </a:extLst>
          </p:cNvPr>
          <p:cNvSpPr txBox="1"/>
          <p:nvPr/>
        </p:nvSpPr>
        <p:spPr>
          <a:xfrm>
            <a:off x="392320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9AB484B8-3E00-4E98-B9E0-425209614F4C}"/>
              </a:ext>
            </a:extLst>
          </p:cNvPr>
          <p:cNvSpPr txBox="1"/>
          <p:nvPr/>
        </p:nvSpPr>
        <p:spPr>
          <a:xfrm>
            <a:off x="581374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BCC40343-6BB2-4AA6-AE0E-839D00F957FB}"/>
              </a:ext>
            </a:extLst>
          </p:cNvPr>
          <p:cNvSpPr txBox="1"/>
          <p:nvPr/>
        </p:nvSpPr>
        <p:spPr>
          <a:xfrm>
            <a:off x="5828355" y="4715622"/>
            <a:ext cx="1575745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실제 작동하는 결과물 완성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오류 분석과 기능 개선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공개 URL 또는 시연 데모 제출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39BC9AD4-7C4A-45C5-BBDE-93E03EF9F990}"/>
              </a:ext>
            </a:extLst>
          </p:cNvPr>
          <p:cNvSpPr txBox="1"/>
          <p:nvPr/>
        </p:nvSpPr>
        <p:spPr>
          <a:xfrm>
            <a:off x="3914557" y="4715622"/>
            <a:ext cx="1545717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프로젝트 범위와 기능 설계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작동 가능한 프로토타입 구현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작업 과정과 개선 이력 기록</a:t>
            </a:r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E579966B-6E4B-44C9-B19F-E1C5703A8946}"/>
              </a:ext>
            </a:extLst>
          </p:cNvPr>
          <p:cNvSpPr txBox="1"/>
          <p:nvPr/>
        </p:nvSpPr>
        <p:spPr>
          <a:xfrm>
            <a:off x="7711769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DD791843-E8AE-422C-BE30-9AF59A6F9E11}"/>
              </a:ext>
            </a:extLst>
          </p:cNvPr>
          <p:cNvSpPr txBox="1"/>
          <p:nvPr/>
        </p:nvSpPr>
        <p:spPr>
          <a:xfrm>
            <a:off x="7711769" y="4715622"/>
            <a:ext cx="1540290" cy="90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문제·과정·성과 표현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역할과 본인 기여 구분</a:t>
            </a: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발표와 면접 대응 완성</a:t>
            </a: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9F10FC8F-C01C-4F4A-B3E0-E3FAB2088EA3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AI2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Plan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4" name="object 9"/>
          <p:cNvSpPr txBox="1"/>
          <p:nvPr/>
        </p:nvSpPr>
        <p:spPr>
          <a:xfrm>
            <a:off x="8647142" y="335418"/>
            <a:ext cx="1696720" cy="1320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Prompt Engineering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54874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사용자 지정</PresentationFormat>
  <Paragraphs>69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Noto Sans KR</vt:lpstr>
      <vt:lpstr>맑은 고딕</vt:lpstr>
      <vt:lpstr>Agency FB</vt:lpstr>
      <vt:lpstr>Arial</vt:lpstr>
      <vt:lpstr>Calibri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PROMPT ENGINEERING</dc:title>
  <cp:lastModifiedBy>SBS</cp:lastModifiedBy>
  <cp:revision>2</cp:revision>
  <dcterms:modified xsi:type="dcterms:W3CDTF">2026-08-26T07:44:17Z</dcterms:modified>
</cp:coreProperties>
</file>