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84" r:id="rId3"/>
    <p:sldId id="345" r:id="rId4"/>
    <p:sldId id="346" r:id="rId5"/>
    <p:sldId id="347" r:id="rId6"/>
    <p:sldId id="348" r:id="rId7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007F"/>
    <a:srgbClr val="FFA3D5"/>
    <a:srgbClr val="A3E0FF"/>
    <a:srgbClr val="0097E0"/>
    <a:srgbClr val="EE8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30" autoAdjust="0"/>
  </p:normalViewPr>
  <p:slideViewPr>
    <p:cSldViewPr>
      <p:cViewPr varScale="1">
        <p:scale>
          <a:sx n="103" d="100"/>
          <a:sy n="103" d="100"/>
        </p:scale>
        <p:origin x="1356" y="120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5AF2D-8726-449D-9716-90452804470C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43762-6099-40C3-8873-FF80B90798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325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55119" y="7039173"/>
            <a:ext cx="224348" cy="10052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32021" y="6992183"/>
            <a:ext cx="196524" cy="1985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70937" y="438070"/>
            <a:ext cx="6951525" cy="323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sbs\Desktop\강사_PPT\Desktop\03.DTP\강사 커리큘럼_디자인_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4"/>
          <p:cNvSpPr txBox="1"/>
          <p:nvPr/>
        </p:nvSpPr>
        <p:spPr>
          <a:xfrm>
            <a:off x="3365500" y="4380740"/>
            <a:ext cx="3962400" cy="2282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marR="5080" indent="-79375" algn="ctr">
              <a:lnSpc>
                <a:spcPct val="116700"/>
              </a:lnSpc>
              <a:spcBef>
                <a:spcPts val="100"/>
              </a:spcBef>
            </a:pPr>
            <a:r>
              <a:rPr lang="en-US" altLang="ko-KR" sz="13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"/>
              </a:rPr>
              <a:t>AI Design Marketing </a:t>
            </a:r>
            <a:r>
              <a:rPr lang="ko-KR" altLang="en-US" sz="13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"/>
              </a:rPr>
              <a:t>과정 커리큘럼</a:t>
            </a:r>
            <a:endParaRPr lang="en-US" altLang="ko-KR" sz="1300" dirty="0">
              <a:solidFill>
                <a:schemeClr val="bg1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01999" y="3960004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0" y="0"/>
                </a:moveTo>
                <a:lnTo>
                  <a:pt x="287997" y="0"/>
                </a:lnTo>
              </a:path>
            </a:pathLst>
          </a:custGeom>
          <a:ln w="508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532021" y="6992183"/>
            <a:ext cx="1756410" cy="198755"/>
            <a:chOff x="8532021" y="6992183"/>
            <a:chExt cx="1756410" cy="198755"/>
          </a:xfrm>
        </p:grpSpPr>
        <p:sp>
          <p:nvSpPr>
            <p:cNvPr id="8" name="object 8"/>
            <p:cNvSpPr/>
            <p:nvPr/>
          </p:nvSpPr>
          <p:spPr>
            <a:xfrm>
              <a:off x="9001049" y="7036498"/>
              <a:ext cx="1287145" cy="106045"/>
            </a:xfrm>
            <a:custGeom>
              <a:avLst/>
              <a:gdLst/>
              <a:ahLst/>
              <a:cxnLst/>
              <a:rect l="l" t="t" r="r" b="b"/>
              <a:pathLst>
                <a:path w="1287145" h="106045">
                  <a:moveTo>
                    <a:pt x="73875" y="38862"/>
                  </a:moveTo>
                  <a:lnTo>
                    <a:pt x="53682" y="7759"/>
                  </a:lnTo>
                  <a:lnTo>
                    <a:pt x="53682" y="44221"/>
                  </a:lnTo>
                  <a:lnTo>
                    <a:pt x="52158" y="48793"/>
                  </a:lnTo>
                  <a:lnTo>
                    <a:pt x="49098" y="52832"/>
                  </a:lnTo>
                  <a:lnTo>
                    <a:pt x="45986" y="56870"/>
                  </a:lnTo>
                  <a:lnTo>
                    <a:pt x="41986" y="58940"/>
                  </a:lnTo>
                  <a:lnTo>
                    <a:pt x="32245" y="58940"/>
                  </a:lnTo>
                  <a:lnTo>
                    <a:pt x="28257" y="56857"/>
                  </a:lnTo>
                  <a:lnTo>
                    <a:pt x="25184" y="52654"/>
                  </a:lnTo>
                  <a:lnTo>
                    <a:pt x="22110" y="48552"/>
                  </a:lnTo>
                  <a:lnTo>
                    <a:pt x="20675" y="44221"/>
                  </a:lnTo>
                  <a:lnTo>
                    <a:pt x="20574" y="33820"/>
                  </a:lnTo>
                  <a:lnTo>
                    <a:pt x="22174" y="29260"/>
                  </a:lnTo>
                  <a:lnTo>
                    <a:pt x="25463" y="25146"/>
                  </a:lnTo>
                  <a:lnTo>
                    <a:pt x="28714" y="21132"/>
                  </a:lnTo>
                  <a:lnTo>
                    <a:pt x="32626" y="19088"/>
                  </a:lnTo>
                  <a:lnTo>
                    <a:pt x="42138" y="19088"/>
                  </a:lnTo>
                  <a:lnTo>
                    <a:pt x="46139" y="21170"/>
                  </a:lnTo>
                  <a:lnTo>
                    <a:pt x="49225" y="25438"/>
                  </a:lnTo>
                  <a:lnTo>
                    <a:pt x="52209" y="29451"/>
                  </a:lnTo>
                  <a:lnTo>
                    <a:pt x="53619" y="33820"/>
                  </a:lnTo>
                  <a:lnTo>
                    <a:pt x="53682" y="44221"/>
                  </a:lnTo>
                  <a:lnTo>
                    <a:pt x="53682" y="7759"/>
                  </a:lnTo>
                  <a:lnTo>
                    <a:pt x="50901" y="6324"/>
                  </a:lnTo>
                  <a:lnTo>
                    <a:pt x="44107" y="4406"/>
                  </a:lnTo>
                  <a:lnTo>
                    <a:pt x="36753" y="3759"/>
                  </a:lnTo>
                  <a:lnTo>
                    <a:pt x="29464" y="4406"/>
                  </a:lnTo>
                  <a:lnTo>
                    <a:pt x="673" y="31889"/>
                  </a:lnTo>
                  <a:lnTo>
                    <a:pt x="0" y="38862"/>
                  </a:lnTo>
                  <a:lnTo>
                    <a:pt x="685" y="45872"/>
                  </a:lnTo>
                  <a:lnTo>
                    <a:pt x="29629" y="73355"/>
                  </a:lnTo>
                  <a:lnTo>
                    <a:pt x="36944" y="73990"/>
                  </a:lnTo>
                  <a:lnTo>
                    <a:pt x="44234" y="73355"/>
                  </a:lnTo>
                  <a:lnTo>
                    <a:pt x="73190" y="45872"/>
                  </a:lnTo>
                  <a:lnTo>
                    <a:pt x="73875" y="38862"/>
                  </a:lnTo>
                  <a:close/>
                </a:path>
                <a:path w="1287145" h="106045">
                  <a:moveTo>
                    <a:pt x="127266" y="32512"/>
                  </a:moveTo>
                  <a:lnTo>
                    <a:pt x="110667" y="32512"/>
                  </a:lnTo>
                  <a:lnTo>
                    <a:pt x="110667" y="2984"/>
                  </a:lnTo>
                  <a:lnTo>
                    <a:pt x="87350" y="2984"/>
                  </a:lnTo>
                  <a:lnTo>
                    <a:pt x="87350" y="104127"/>
                  </a:lnTo>
                  <a:lnTo>
                    <a:pt x="110667" y="104127"/>
                  </a:lnTo>
                  <a:lnTo>
                    <a:pt x="110667" y="47193"/>
                  </a:lnTo>
                  <a:lnTo>
                    <a:pt x="127266" y="47193"/>
                  </a:lnTo>
                  <a:lnTo>
                    <a:pt x="127266" y="32512"/>
                  </a:lnTo>
                  <a:close/>
                </a:path>
                <a:path w="1287145" h="106045">
                  <a:moveTo>
                    <a:pt x="199478" y="10020"/>
                  </a:moveTo>
                  <a:lnTo>
                    <a:pt x="199415" y="4813"/>
                  </a:lnTo>
                  <a:lnTo>
                    <a:pt x="136842" y="4813"/>
                  </a:lnTo>
                  <a:lnTo>
                    <a:pt x="136842" y="18821"/>
                  </a:lnTo>
                  <a:lnTo>
                    <a:pt x="175526" y="18821"/>
                  </a:lnTo>
                  <a:lnTo>
                    <a:pt x="175806" y="23571"/>
                  </a:lnTo>
                  <a:lnTo>
                    <a:pt x="175501" y="26797"/>
                  </a:lnTo>
                  <a:lnTo>
                    <a:pt x="174701" y="32766"/>
                  </a:lnTo>
                  <a:lnTo>
                    <a:pt x="138772" y="32804"/>
                  </a:lnTo>
                  <a:lnTo>
                    <a:pt x="138772" y="46837"/>
                  </a:lnTo>
                  <a:lnTo>
                    <a:pt x="170751" y="46837"/>
                  </a:lnTo>
                  <a:lnTo>
                    <a:pt x="164630" y="55753"/>
                  </a:lnTo>
                  <a:lnTo>
                    <a:pt x="156311" y="62649"/>
                  </a:lnTo>
                  <a:lnTo>
                    <a:pt x="146227" y="67259"/>
                  </a:lnTo>
                  <a:lnTo>
                    <a:pt x="134823" y="69278"/>
                  </a:lnTo>
                  <a:lnTo>
                    <a:pt x="134823" y="83845"/>
                  </a:lnTo>
                  <a:lnTo>
                    <a:pt x="180022" y="67106"/>
                  </a:lnTo>
                  <a:lnTo>
                    <a:pt x="198843" y="22796"/>
                  </a:lnTo>
                  <a:lnTo>
                    <a:pt x="199478" y="10020"/>
                  </a:lnTo>
                  <a:close/>
                </a:path>
                <a:path w="1287145" h="106045">
                  <a:moveTo>
                    <a:pt x="253631" y="32512"/>
                  </a:moveTo>
                  <a:lnTo>
                    <a:pt x="237058" y="32512"/>
                  </a:lnTo>
                  <a:lnTo>
                    <a:pt x="237058" y="2984"/>
                  </a:lnTo>
                  <a:lnTo>
                    <a:pt x="213715" y="2984"/>
                  </a:lnTo>
                  <a:lnTo>
                    <a:pt x="213715" y="104127"/>
                  </a:lnTo>
                  <a:lnTo>
                    <a:pt x="237058" y="104127"/>
                  </a:lnTo>
                  <a:lnTo>
                    <a:pt x="237058" y="47193"/>
                  </a:lnTo>
                  <a:lnTo>
                    <a:pt x="253631" y="47193"/>
                  </a:lnTo>
                  <a:lnTo>
                    <a:pt x="253631" y="32512"/>
                  </a:lnTo>
                  <a:close/>
                </a:path>
                <a:path w="1287145" h="106045">
                  <a:moveTo>
                    <a:pt x="318465" y="65989"/>
                  </a:moveTo>
                  <a:lnTo>
                    <a:pt x="286664" y="65989"/>
                  </a:lnTo>
                  <a:lnTo>
                    <a:pt x="286664" y="18669"/>
                  </a:lnTo>
                  <a:lnTo>
                    <a:pt x="318236" y="18669"/>
                  </a:lnTo>
                  <a:lnTo>
                    <a:pt x="318236" y="4927"/>
                  </a:lnTo>
                  <a:lnTo>
                    <a:pt x="264579" y="4927"/>
                  </a:lnTo>
                  <a:lnTo>
                    <a:pt x="264579" y="77876"/>
                  </a:lnTo>
                  <a:lnTo>
                    <a:pt x="274459" y="80479"/>
                  </a:lnTo>
                  <a:lnTo>
                    <a:pt x="318465" y="80479"/>
                  </a:lnTo>
                  <a:lnTo>
                    <a:pt x="318465" y="65989"/>
                  </a:lnTo>
                  <a:close/>
                </a:path>
                <a:path w="1287145" h="106045">
                  <a:moveTo>
                    <a:pt x="348500" y="3009"/>
                  </a:moveTo>
                  <a:lnTo>
                    <a:pt x="328815" y="3009"/>
                  </a:lnTo>
                  <a:lnTo>
                    <a:pt x="328815" y="32118"/>
                  </a:lnTo>
                  <a:lnTo>
                    <a:pt x="310349" y="32118"/>
                  </a:lnTo>
                  <a:lnTo>
                    <a:pt x="310349" y="47345"/>
                  </a:lnTo>
                  <a:lnTo>
                    <a:pt x="328815" y="47345"/>
                  </a:lnTo>
                  <a:lnTo>
                    <a:pt x="328815" y="103289"/>
                  </a:lnTo>
                  <a:lnTo>
                    <a:pt x="348500" y="103289"/>
                  </a:lnTo>
                  <a:lnTo>
                    <a:pt x="348500" y="3009"/>
                  </a:lnTo>
                  <a:close/>
                </a:path>
                <a:path w="1287145" h="106045">
                  <a:moveTo>
                    <a:pt x="375856" y="3022"/>
                  </a:moveTo>
                  <a:lnTo>
                    <a:pt x="356476" y="2984"/>
                  </a:lnTo>
                  <a:lnTo>
                    <a:pt x="356476" y="103327"/>
                  </a:lnTo>
                  <a:lnTo>
                    <a:pt x="375856" y="103327"/>
                  </a:lnTo>
                  <a:lnTo>
                    <a:pt x="375856" y="3022"/>
                  </a:lnTo>
                  <a:close/>
                </a:path>
                <a:path w="1287145" h="106045">
                  <a:moveTo>
                    <a:pt x="460133" y="4851"/>
                  </a:moveTo>
                  <a:lnTo>
                    <a:pt x="437743" y="4851"/>
                  </a:lnTo>
                  <a:lnTo>
                    <a:pt x="437743" y="18669"/>
                  </a:lnTo>
                  <a:lnTo>
                    <a:pt x="437743" y="66116"/>
                  </a:lnTo>
                  <a:lnTo>
                    <a:pt x="416852" y="66116"/>
                  </a:lnTo>
                  <a:lnTo>
                    <a:pt x="416852" y="18669"/>
                  </a:lnTo>
                  <a:lnTo>
                    <a:pt x="437743" y="18669"/>
                  </a:lnTo>
                  <a:lnTo>
                    <a:pt x="437743" y="4851"/>
                  </a:lnTo>
                  <a:lnTo>
                    <a:pt x="394487" y="4851"/>
                  </a:lnTo>
                  <a:lnTo>
                    <a:pt x="394487" y="67767"/>
                  </a:lnTo>
                  <a:lnTo>
                    <a:pt x="396240" y="73888"/>
                  </a:lnTo>
                  <a:lnTo>
                    <a:pt x="401027" y="77724"/>
                  </a:lnTo>
                  <a:lnTo>
                    <a:pt x="408127" y="79717"/>
                  </a:lnTo>
                  <a:lnTo>
                    <a:pt x="416839" y="80276"/>
                  </a:lnTo>
                  <a:lnTo>
                    <a:pt x="460133" y="80276"/>
                  </a:lnTo>
                  <a:lnTo>
                    <a:pt x="460133" y="66116"/>
                  </a:lnTo>
                  <a:lnTo>
                    <a:pt x="460133" y="18669"/>
                  </a:lnTo>
                  <a:lnTo>
                    <a:pt x="460133" y="4851"/>
                  </a:lnTo>
                  <a:close/>
                </a:path>
                <a:path w="1287145" h="106045">
                  <a:moveTo>
                    <a:pt x="502793" y="2971"/>
                  </a:moveTo>
                  <a:lnTo>
                    <a:pt x="479386" y="2971"/>
                  </a:lnTo>
                  <a:lnTo>
                    <a:pt x="479386" y="104114"/>
                  </a:lnTo>
                  <a:lnTo>
                    <a:pt x="502793" y="104114"/>
                  </a:lnTo>
                  <a:lnTo>
                    <a:pt x="502793" y="2971"/>
                  </a:lnTo>
                  <a:close/>
                </a:path>
                <a:path w="1287145" h="106045">
                  <a:moveTo>
                    <a:pt x="596442" y="7772"/>
                  </a:moveTo>
                  <a:lnTo>
                    <a:pt x="539330" y="7772"/>
                  </a:lnTo>
                  <a:lnTo>
                    <a:pt x="539330" y="22161"/>
                  </a:lnTo>
                  <a:lnTo>
                    <a:pt x="575589" y="22161"/>
                  </a:lnTo>
                  <a:lnTo>
                    <a:pt x="575348" y="22936"/>
                  </a:lnTo>
                  <a:lnTo>
                    <a:pt x="555586" y="28321"/>
                  </a:lnTo>
                  <a:lnTo>
                    <a:pt x="536905" y="28321"/>
                  </a:lnTo>
                  <a:lnTo>
                    <a:pt x="536905" y="40386"/>
                  </a:lnTo>
                  <a:lnTo>
                    <a:pt x="546125" y="40386"/>
                  </a:lnTo>
                  <a:lnTo>
                    <a:pt x="548690" y="40208"/>
                  </a:lnTo>
                  <a:lnTo>
                    <a:pt x="563333" y="38874"/>
                  </a:lnTo>
                  <a:lnTo>
                    <a:pt x="563016" y="39192"/>
                  </a:lnTo>
                  <a:lnTo>
                    <a:pt x="531698" y="51993"/>
                  </a:lnTo>
                  <a:lnTo>
                    <a:pt x="541515" y="63601"/>
                  </a:lnTo>
                  <a:lnTo>
                    <a:pt x="579589" y="44792"/>
                  </a:lnTo>
                  <a:lnTo>
                    <a:pt x="585431" y="38874"/>
                  </a:lnTo>
                  <a:lnTo>
                    <a:pt x="588365" y="34785"/>
                  </a:lnTo>
                  <a:lnTo>
                    <a:pt x="594817" y="21158"/>
                  </a:lnTo>
                  <a:lnTo>
                    <a:pt x="596442" y="14427"/>
                  </a:lnTo>
                  <a:lnTo>
                    <a:pt x="596442" y="7772"/>
                  </a:lnTo>
                  <a:close/>
                </a:path>
                <a:path w="1287145" h="106045">
                  <a:moveTo>
                    <a:pt x="630389" y="63830"/>
                  </a:moveTo>
                  <a:lnTo>
                    <a:pt x="612330" y="63830"/>
                  </a:lnTo>
                  <a:lnTo>
                    <a:pt x="612330" y="78574"/>
                  </a:lnTo>
                  <a:lnTo>
                    <a:pt x="612330" y="89712"/>
                  </a:lnTo>
                  <a:lnTo>
                    <a:pt x="568921" y="89712"/>
                  </a:lnTo>
                  <a:lnTo>
                    <a:pt x="568921" y="78574"/>
                  </a:lnTo>
                  <a:lnTo>
                    <a:pt x="612330" y="78574"/>
                  </a:lnTo>
                  <a:lnTo>
                    <a:pt x="612330" y="63830"/>
                  </a:lnTo>
                  <a:lnTo>
                    <a:pt x="550849" y="63830"/>
                  </a:lnTo>
                  <a:lnTo>
                    <a:pt x="550849" y="104444"/>
                  </a:lnTo>
                  <a:lnTo>
                    <a:pt x="630389" y="104444"/>
                  </a:lnTo>
                  <a:lnTo>
                    <a:pt x="630389" y="89712"/>
                  </a:lnTo>
                  <a:lnTo>
                    <a:pt x="630389" y="78574"/>
                  </a:lnTo>
                  <a:lnTo>
                    <a:pt x="630389" y="63830"/>
                  </a:lnTo>
                  <a:close/>
                </a:path>
                <a:path w="1287145" h="106045">
                  <a:moveTo>
                    <a:pt x="630758" y="2438"/>
                  </a:moveTo>
                  <a:lnTo>
                    <a:pt x="612686" y="2438"/>
                  </a:lnTo>
                  <a:lnTo>
                    <a:pt x="612686" y="28194"/>
                  </a:lnTo>
                  <a:lnTo>
                    <a:pt x="592683" y="28194"/>
                  </a:lnTo>
                  <a:lnTo>
                    <a:pt x="592683" y="43180"/>
                  </a:lnTo>
                  <a:lnTo>
                    <a:pt x="612686" y="43180"/>
                  </a:lnTo>
                  <a:lnTo>
                    <a:pt x="612686" y="59880"/>
                  </a:lnTo>
                  <a:lnTo>
                    <a:pt x="630758" y="59880"/>
                  </a:lnTo>
                  <a:lnTo>
                    <a:pt x="630758" y="2438"/>
                  </a:lnTo>
                  <a:close/>
                </a:path>
                <a:path w="1287145" h="106045">
                  <a:moveTo>
                    <a:pt x="736854" y="5918"/>
                  </a:moveTo>
                  <a:lnTo>
                    <a:pt x="650887" y="5918"/>
                  </a:lnTo>
                  <a:lnTo>
                    <a:pt x="650887" y="20891"/>
                  </a:lnTo>
                  <a:lnTo>
                    <a:pt x="736854" y="20891"/>
                  </a:lnTo>
                  <a:lnTo>
                    <a:pt x="736854" y="5918"/>
                  </a:lnTo>
                  <a:close/>
                </a:path>
                <a:path w="1287145" h="106045">
                  <a:moveTo>
                    <a:pt x="739279" y="40614"/>
                  </a:moveTo>
                  <a:lnTo>
                    <a:pt x="723747" y="40614"/>
                  </a:lnTo>
                  <a:lnTo>
                    <a:pt x="725576" y="23329"/>
                  </a:lnTo>
                  <a:lnTo>
                    <a:pt x="707263" y="23329"/>
                  </a:lnTo>
                  <a:lnTo>
                    <a:pt x="705815" y="40614"/>
                  </a:lnTo>
                  <a:lnTo>
                    <a:pt x="681799" y="40614"/>
                  </a:lnTo>
                  <a:lnTo>
                    <a:pt x="680351" y="23329"/>
                  </a:lnTo>
                  <a:lnTo>
                    <a:pt x="662038" y="23329"/>
                  </a:lnTo>
                  <a:lnTo>
                    <a:pt x="663854" y="40614"/>
                  </a:lnTo>
                  <a:lnTo>
                    <a:pt x="648462" y="40614"/>
                  </a:lnTo>
                  <a:lnTo>
                    <a:pt x="648462" y="55587"/>
                  </a:lnTo>
                  <a:lnTo>
                    <a:pt x="739279" y="55587"/>
                  </a:lnTo>
                  <a:lnTo>
                    <a:pt x="739279" y="40614"/>
                  </a:lnTo>
                  <a:close/>
                </a:path>
                <a:path w="1287145" h="106045">
                  <a:moveTo>
                    <a:pt x="747763" y="61391"/>
                  </a:moveTo>
                  <a:lnTo>
                    <a:pt x="639965" y="61391"/>
                  </a:lnTo>
                  <a:lnTo>
                    <a:pt x="639965" y="76365"/>
                  </a:lnTo>
                  <a:lnTo>
                    <a:pt x="665429" y="76365"/>
                  </a:lnTo>
                  <a:lnTo>
                    <a:pt x="665429" y="104444"/>
                  </a:lnTo>
                  <a:lnTo>
                    <a:pt x="683501" y="104444"/>
                  </a:lnTo>
                  <a:lnTo>
                    <a:pt x="683501" y="76365"/>
                  </a:lnTo>
                  <a:lnTo>
                    <a:pt x="704850" y="76365"/>
                  </a:lnTo>
                  <a:lnTo>
                    <a:pt x="704850" y="105613"/>
                  </a:lnTo>
                  <a:lnTo>
                    <a:pt x="722909" y="105613"/>
                  </a:lnTo>
                  <a:lnTo>
                    <a:pt x="722909" y="76365"/>
                  </a:lnTo>
                  <a:lnTo>
                    <a:pt x="747763" y="76365"/>
                  </a:lnTo>
                  <a:lnTo>
                    <a:pt x="747763" y="61391"/>
                  </a:lnTo>
                  <a:close/>
                </a:path>
                <a:path w="1287145" h="106045">
                  <a:moveTo>
                    <a:pt x="818705" y="68008"/>
                  </a:moveTo>
                  <a:lnTo>
                    <a:pt x="777481" y="70802"/>
                  </a:lnTo>
                  <a:lnTo>
                    <a:pt x="776262" y="70802"/>
                  </a:lnTo>
                  <a:lnTo>
                    <a:pt x="776262" y="55359"/>
                  </a:lnTo>
                  <a:lnTo>
                    <a:pt x="808393" y="55359"/>
                  </a:lnTo>
                  <a:lnTo>
                    <a:pt x="808393" y="40386"/>
                  </a:lnTo>
                  <a:lnTo>
                    <a:pt x="776262" y="40386"/>
                  </a:lnTo>
                  <a:lnTo>
                    <a:pt x="776262" y="26809"/>
                  </a:lnTo>
                  <a:lnTo>
                    <a:pt x="809612" y="26809"/>
                  </a:lnTo>
                  <a:lnTo>
                    <a:pt x="809612" y="11836"/>
                  </a:lnTo>
                  <a:lnTo>
                    <a:pt x="758202" y="11836"/>
                  </a:lnTo>
                  <a:lnTo>
                    <a:pt x="758202" y="85763"/>
                  </a:lnTo>
                  <a:lnTo>
                    <a:pt x="800798" y="84607"/>
                  </a:lnTo>
                  <a:lnTo>
                    <a:pt x="811669" y="83337"/>
                  </a:lnTo>
                  <a:lnTo>
                    <a:pt x="815238" y="82956"/>
                  </a:lnTo>
                  <a:lnTo>
                    <a:pt x="818705" y="82638"/>
                  </a:lnTo>
                  <a:lnTo>
                    <a:pt x="818705" y="70802"/>
                  </a:lnTo>
                  <a:lnTo>
                    <a:pt x="818705" y="68008"/>
                  </a:lnTo>
                  <a:close/>
                </a:path>
                <a:path w="1287145" h="106045">
                  <a:moveTo>
                    <a:pt x="847801" y="2438"/>
                  </a:moveTo>
                  <a:lnTo>
                    <a:pt x="829741" y="2438"/>
                  </a:lnTo>
                  <a:lnTo>
                    <a:pt x="829741" y="40271"/>
                  </a:lnTo>
                  <a:lnTo>
                    <a:pt x="813981" y="40271"/>
                  </a:lnTo>
                  <a:lnTo>
                    <a:pt x="813981" y="55245"/>
                  </a:lnTo>
                  <a:lnTo>
                    <a:pt x="829741" y="55245"/>
                  </a:lnTo>
                  <a:lnTo>
                    <a:pt x="829741" y="105613"/>
                  </a:lnTo>
                  <a:lnTo>
                    <a:pt x="847801" y="105613"/>
                  </a:lnTo>
                  <a:lnTo>
                    <a:pt x="847801" y="2438"/>
                  </a:lnTo>
                  <a:close/>
                </a:path>
                <a:path w="1287145" h="106045">
                  <a:moveTo>
                    <a:pt x="922489" y="48514"/>
                  </a:moveTo>
                  <a:lnTo>
                    <a:pt x="908354" y="12661"/>
                  </a:lnTo>
                  <a:lnTo>
                    <a:pt x="904798" y="10985"/>
                  </a:lnTo>
                  <a:lnTo>
                    <a:pt x="904798" y="42430"/>
                  </a:lnTo>
                  <a:lnTo>
                    <a:pt x="904798" y="54508"/>
                  </a:lnTo>
                  <a:lnTo>
                    <a:pt x="903605" y="60045"/>
                  </a:lnTo>
                  <a:lnTo>
                    <a:pt x="898829" y="69938"/>
                  </a:lnTo>
                  <a:lnTo>
                    <a:pt x="895489" y="72415"/>
                  </a:lnTo>
                  <a:lnTo>
                    <a:pt x="887006" y="72415"/>
                  </a:lnTo>
                  <a:lnTo>
                    <a:pt x="883653" y="69926"/>
                  </a:lnTo>
                  <a:lnTo>
                    <a:pt x="878636" y="59944"/>
                  </a:lnTo>
                  <a:lnTo>
                    <a:pt x="877404" y="54508"/>
                  </a:lnTo>
                  <a:lnTo>
                    <a:pt x="877392" y="42430"/>
                  </a:lnTo>
                  <a:lnTo>
                    <a:pt x="878636" y="36969"/>
                  </a:lnTo>
                  <a:lnTo>
                    <a:pt x="883653" y="26987"/>
                  </a:lnTo>
                  <a:lnTo>
                    <a:pt x="887006" y="24485"/>
                  </a:lnTo>
                  <a:lnTo>
                    <a:pt x="895489" y="24485"/>
                  </a:lnTo>
                  <a:lnTo>
                    <a:pt x="898829" y="26987"/>
                  </a:lnTo>
                  <a:lnTo>
                    <a:pt x="903605" y="36969"/>
                  </a:lnTo>
                  <a:lnTo>
                    <a:pt x="904798" y="42430"/>
                  </a:lnTo>
                  <a:lnTo>
                    <a:pt x="904798" y="10985"/>
                  </a:lnTo>
                  <a:lnTo>
                    <a:pt x="900709" y="9055"/>
                  </a:lnTo>
                  <a:lnTo>
                    <a:pt x="881545" y="9055"/>
                  </a:lnTo>
                  <a:lnTo>
                    <a:pt x="859688" y="48514"/>
                  </a:lnTo>
                  <a:lnTo>
                    <a:pt x="860221" y="56908"/>
                  </a:lnTo>
                  <a:lnTo>
                    <a:pt x="881545" y="87858"/>
                  </a:lnTo>
                  <a:lnTo>
                    <a:pt x="900709" y="87858"/>
                  </a:lnTo>
                  <a:lnTo>
                    <a:pt x="921956" y="56857"/>
                  </a:lnTo>
                  <a:lnTo>
                    <a:pt x="922489" y="48514"/>
                  </a:lnTo>
                  <a:close/>
                </a:path>
                <a:path w="1287145" h="106045">
                  <a:moveTo>
                    <a:pt x="966508" y="42011"/>
                  </a:moveTo>
                  <a:lnTo>
                    <a:pt x="952080" y="42011"/>
                  </a:lnTo>
                  <a:lnTo>
                    <a:pt x="952080" y="2438"/>
                  </a:lnTo>
                  <a:lnTo>
                    <a:pt x="934021" y="2438"/>
                  </a:lnTo>
                  <a:lnTo>
                    <a:pt x="934021" y="105613"/>
                  </a:lnTo>
                  <a:lnTo>
                    <a:pt x="952080" y="105613"/>
                  </a:lnTo>
                  <a:lnTo>
                    <a:pt x="952080" y="58026"/>
                  </a:lnTo>
                  <a:lnTo>
                    <a:pt x="966508" y="58026"/>
                  </a:lnTo>
                  <a:lnTo>
                    <a:pt x="966508" y="42011"/>
                  </a:lnTo>
                  <a:close/>
                </a:path>
                <a:path w="1287145" h="106045">
                  <a:moveTo>
                    <a:pt x="1062304" y="54775"/>
                  </a:moveTo>
                  <a:lnTo>
                    <a:pt x="998283" y="54775"/>
                  </a:lnTo>
                  <a:lnTo>
                    <a:pt x="998283" y="47688"/>
                  </a:lnTo>
                  <a:lnTo>
                    <a:pt x="1059878" y="47688"/>
                  </a:lnTo>
                  <a:lnTo>
                    <a:pt x="1059878" y="32727"/>
                  </a:lnTo>
                  <a:lnTo>
                    <a:pt x="998283" y="32727"/>
                  </a:lnTo>
                  <a:lnTo>
                    <a:pt x="998283" y="25527"/>
                  </a:lnTo>
                  <a:lnTo>
                    <a:pt x="1060488" y="25527"/>
                  </a:lnTo>
                  <a:lnTo>
                    <a:pt x="1060488" y="10553"/>
                  </a:lnTo>
                  <a:lnTo>
                    <a:pt x="979855" y="10553"/>
                  </a:lnTo>
                  <a:lnTo>
                    <a:pt x="979855" y="69735"/>
                  </a:lnTo>
                  <a:lnTo>
                    <a:pt x="1062304" y="69735"/>
                  </a:lnTo>
                  <a:lnTo>
                    <a:pt x="1062304" y="54775"/>
                  </a:lnTo>
                  <a:close/>
                </a:path>
                <a:path w="1287145" h="106045">
                  <a:moveTo>
                    <a:pt x="1073950" y="80187"/>
                  </a:moveTo>
                  <a:lnTo>
                    <a:pt x="966152" y="80187"/>
                  </a:lnTo>
                  <a:lnTo>
                    <a:pt x="966152" y="95173"/>
                  </a:lnTo>
                  <a:lnTo>
                    <a:pt x="1073950" y="95173"/>
                  </a:lnTo>
                  <a:lnTo>
                    <a:pt x="1073950" y="80187"/>
                  </a:lnTo>
                  <a:close/>
                </a:path>
                <a:path w="1287145" h="106045">
                  <a:moveTo>
                    <a:pt x="1131544" y="1384"/>
                  </a:moveTo>
                  <a:lnTo>
                    <a:pt x="1093825" y="1384"/>
                  </a:lnTo>
                  <a:lnTo>
                    <a:pt x="1093825" y="14503"/>
                  </a:lnTo>
                  <a:lnTo>
                    <a:pt x="1131544" y="14503"/>
                  </a:lnTo>
                  <a:lnTo>
                    <a:pt x="1131544" y="1384"/>
                  </a:lnTo>
                  <a:close/>
                </a:path>
                <a:path w="1287145" h="106045">
                  <a:moveTo>
                    <a:pt x="1144041" y="45250"/>
                  </a:moveTo>
                  <a:lnTo>
                    <a:pt x="1141082" y="41186"/>
                  </a:lnTo>
                  <a:lnTo>
                    <a:pt x="1129284" y="35153"/>
                  </a:lnTo>
                  <a:lnTo>
                    <a:pt x="1125118" y="34302"/>
                  </a:lnTo>
                  <a:lnTo>
                    <a:pt x="1125118" y="48729"/>
                  </a:lnTo>
                  <a:lnTo>
                    <a:pt x="1125004" y="52184"/>
                  </a:lnTo>
                  <a:lnTo>
                    <a:pt x="1123886" y="53340"/>
                  </a:lnTo>
                  <a:lnTo>
                    <a:pt x="1118946" y="55041"/>
                  </a:lnTo>
                  <a:lnTo>
                    <a:pt x="1116152" y="55473"/>
                  </a:lnTo>
                  <a:lnTo>
                    <a:pt x="1110005" y="55473"/>
                  </a:lnTo>
                  <a:lnTo>
                    <a:pt x="1107198" y="55067"/>
                  </a:lnTo>
                  <a:lnTo>
                    <a:pt x="1101940" y="53441"/>
                  </a:lnTo>
                  <a:lnTo>
                    <a:pt x="1100620" y="52184"/>
                  </a:lnTo>
                  <a:lnTo>
                    <a:pt x="1100620" y="48856"/>
                  </a:lnTo>
                  <a:lnTo>
                    <a:pt x="1101966" y="47637"/>
                  </a:lnTo>
                  <a:lnTo>
                    <a:pt x="1107300" y="46012"/>
                  </a:lnTo>
                  <a:lnTo>
                    <a:pt x="1110081" y="45605"/>
                  </a:lnTo>
                  <a:lnTo>
                    <a:pt x="1116063" y="45605"/>
                  </a:lnTo>
                  <a:lnTo>
                    <a:pt x="1118895" y="46012"/>
                  </a:lnTo>
                  <a:lnTo>
                    <a:pt x="1123861" y="47536"/>
                  </a:lnTo>
                  <a:lnTo>
                    <a:pt x="1125118" y="48729"/>
                  </a:lnTo>
                  <a:lnTo>
                    <a:pt x="1125118" y="34302"/>
                  </a:lnTo>
                  <a:lnTo>
                    <a:pt x="1121930" y="33642"/>
                  </a:lnTo>
                  <a:lnTo>
                    <a:pt x="1104874" y="33642"/>
                  </a:lnTo>
                  <a:lnTo>
                    <a:pt x="1097546" y="35179"/>
                  </a:lnTo>
                  <a:lnTo>
                    <a:pt x="1084783" y="41287"/>
                  </a:lnTo>
                  <a:lnTo>
                    <a:pt x="1081684" y="45250"/>
                  </a:lnTo>
                  <a:lnTo>
                    <a:pt x="1081620" y="55473"/>
                  </a:lnTo>
                  <a:lnTo>
                    <a:pt x="1084770" y="59588"/>
                  </a:lnTo>
                  <a:lnTo>
                    <a:pt x="1097457" y="66319"/>
                  </a:lnTo>
                  <a:lnTo>
                    <a:pt x="1104671" y="67995"/>
                  </a:lnTo>
                  <a:lnTo>
                    <a:pt x="1121892" y="67995"/>
                  </a:lnTo>
                  <a:lnTo>
                    <a:pt x="1129385" y="66344"/>
                  </a:lnTo>
                  <a:lnTo>
                    <a:pt x="1141107" y="59690"/>
                  </a:lnTo>
                  <a:lnTo>
                    <a:pt x="1144041" y="55473"/>
                  </a:lnTo>
                  <a:lnTo>
                    <a:pt x="1144041" y="45605"/>
                  </a:lnTo>
                  <a:lnTo>
                    <a:pt x="1144041" y="45250"/>
                  </a:lnTo>
                  <a:close/>
                </a:path>
                <a:path w="1287145" h="106045">
                  <a:moveTo>
                    <a:pt x="1147064" y="18097"/>
                  </a:moveTo>
                  <a:lnTo>
                    <a:pt x="1078560" y="18097"/>
                  </a:lnTo>
                  <a:lnTo>
                    <a:pt x="1078560" y="31559"/>
                  </a:lnTo>
                  <a:lnTo>
                    <a:pt x="1147064" y="31559"/>
                  </a:lnTo>
                  <a:lnTo>
                    <a:pt x="1147064" y="18097"/>
                  </a:lnTo>
                  <a:close/>
                </a:path>
                <a:path w="1287145" h="106045">
                  <a:moveTo>
                    <a:pt x="1171562" y="71945"/>
                  </a:moveTo>
                  <a:lnTo>
                    <a:pt x="1090320" y="71945"/>
                  </a:lnTo>
                  <a:lnTo>
                    <a:pt x="1090320" y="86347"/>
                  </a:lnTo>
                  <a:lnTo>
                    <a:pt x="1152893" y="86347"/>
                  </a:lnTo>
                  <a:lnTo>
                    <a:pt x="1152893" y="105600"/>
                  </a:lnTo>
                  <a:lnTo>
                    <a:pt x="1171562" y="105600"/>
                  </a:lnTo>
                  <a:lnTo>
                    <a:pt x="1171562" y="71945"/>
                  </a:lnTo>
                  <a:close/>
                </a:path>
                <a:path w="1287145" h="106045">
                  <a:moveTo>
                    <a:pt x="1185379" y="29235"/>
                  </a:moveTo>
                  <a:lnTo>
                    <a:pt x="1171562" y="29235"/>
                  </a:lnTo>
                  <a:lnTo>
                    <a:pt x="1171562" y="2425"/>
                  </a:lnTo>
                  <a:lnTo>
                    <a:pt x="1153490" y="2425"/>
                  </a:lnTo>
                  <a:lnTo>
                    <a:pt x="1153490" y="68351"/>
                  </a:lnTo>
                  <a:lnTo>
                    <a:pt x="1171562" y="68351"/>
                  </a:lnTo>
                  <a:lnTo>
                    <a:pt x="1171562" y="44907"/>
                  </a:lnTo>
                  <a:lnTo>
                    <a:pt x="1185379" y="44907"/>
                  </a:lnTo>
                  <a:lnTo>
                    <a:pt x="1185379" y="29235"/>
                  </a:lnTo>
                  <a:close/>
                </a:path>
                <a:path w="1287145" h="106045">
                  <a:moveTo>
                    <a:pt x="1252677" y="14655"/>
                  </a:moveTo>
                  <a:lnTo>
                    <a:pt x="1251623" y="12649"/>
                  </a:lnTo>
                  <a:lnTo>
                    <a:pt x="1250251" y="10045"/>
                  </a:lnTo>
                  <a:lnTo>
                    <a:pt x="1240548" y="2006"/>
                  </a:lnTo>
                  <a:lnTo>
                    <a:pt x="1235456" y="622"/>
                  </a:lnTo>
                  <a:lnTo>
                    <a:pt x="1235456" y="18376"/>
                  </a:lnTo>
                  <a:lnTo>
                    <a:pt x="1235456" y="21158"/>
                  </a:lnTo>
                  <a:lnTo>
                    <a:pt x="1234528" y="22631"/>
                  </a:lnTo>
                  <a:lnTo>
                    <a:pt x="1230807" y="25869"/>
                  </a:lnTo>
                  <a:lnTo>
                    <a:pt x="1227785" y="26682"/>
                  </a:lnTo>
                  <a:lnTo>
                    <a:pt x="1219454" y="26682"/>
                  </a:lnTo>
                  <a:lnTo>
                    <a:pt x="1216431" y="25869"/>
                  </a:lnTo>
                  <a:lnTo>
                    <a:pt x="1212634" y="22631"/>
                  </a:lnTo>
                  <a:lnTo>
                    <a:pt x="1211694" y="21158"/>
                  </a:lnTo>
                  <a:lnTo>
                    <a:pt x="1211694" y="18376"/>
                  </a:lnTo>
                  <a:lnTo>
                    <a:pt x="1212608" y="16802"/>
                  </a:lnTo>
                  <a:lnTo>
                    <a:pt x="1216240" y="13474"/>
                  </a:lnTo>
                  <a:lnTo>
                    <a:pt x="1219250" y="12649"/>
                  </a:lnTo>
                  <a:lnTo>
                    <a:pt x="1227734" y="12649"/>
                  </a:lnTo>
                  <a:lnTo>
                    <a:pt x="1230807" y="13474"/>
                  </a:lnTo>
                  <a:lnTo>
                    <a:pt x="1234528" y="16802"/>
                  </a:lnTo>
                  <a:lnTo>
                    <a:pt x="1235456" y="18376"/>
                  </a:lnTo>
                  <a:lnTo>
                    <a:pt x="1235456" y="622"/>
                  </a:lnTo>
                  <a:lnTo>
                    <a:pt x="1233233" y="0"/>
                  </a:lnTo>
                  <a:lnTo>
                    <a:pt x="1213916" y="0"/>
                  </a:lnTo>
                  <a:lnTo>
                    <a:pt x="1206677" y="2019"/>
                  </a:lnTo>
                  <a:lnTo>
                    <a:pt x="1196822" y="10147"/>
                  </a:lnTo>
                  <a:lnTo>
                    <a:pt x="1194384" y="14655"/>
                  </a:lnTo>
                  <a:lnTo>
                    <a:pt x="1194384" y="25107"/>
                  </a:lnTo>
                  <a:lnTo>
                    <a:pt x="1196822" y="29654"/>
                  </a:lnTo>
                  <a:lnTo>
                    <a:pt x="1206677" y="37769"/>
                  </a:lnTo>
                  <a:lnTo>
                    <a:pt x="1213916" y="39801"/>
                  </a:lnTo>
                  <a:lnTo>
                    <a:pt x="1233068" y="39801"/>
                  </a:lnTo>
                  <a:lnTo>
                    <a:pt x="1240358" y="37769"/>
                  </a:lnTo>
                  <a:lnTo>
                    <a:pt x="1250213" y="29743"/>
                  </a:lnTo>
                  <a:lnTo>
                    <a:pt x="1251839" y="26682"/>
                  </a:lnTo>
                  <a:lnTo>
                    <a:pt x="1252677" y="25107"/>
                  </a:lnTo>
                  <a:lnTo>
                    <a:pt x="1252677" y="14655"/>
                  </a:lnTo>
                  <a:close/>
                </a:path>
                <a:path w="1287145" h="106045">
                  <a:moveTo>
                    <a:pt x="1263103" y="39687"/>
                  </a:moveTo>
                  <a:lnTo>
                    <a:pt x="1259382" y="40309"/>
                  </a:lnTo>
                  <a:lnTo>
                    <a:pt x="1252982" y="40944"/>
                  </a:lnTo>
                  <a:lnTo>
                    <a:pt x="1234795" y="42265"/>
                  </a:lnTo>
                  <a:lnTo>
                    <a:pt x="1227569" y="42595"/>
                  </a:lnTo>
                  <a:lnTo>
                    <a:pt x="1186230" y="42595"/>
                  </a:lnTo>
                  <a:lnTo>
                    <a:pt x="1186230" y="57213"/>
                  </a:lnTo>
                  <a:lnTo>
                    <a:pt x="1208544" y="57213"/>
                  </a:lnTo>
                  <a:lnTo>
                    <a:pt x="1208544" y="71145"/>
                  </a:lnTo>
                  <a:lnTo>
                    <a:pt x="1226604" y="71145"/>
                  </a:lnTo>
                  <a:lnTo>
                    <a:pt x="1226604" y="56972"/>
                  </a:lnTo>
                  <a:lnTo>
                    <a:pt x="1230807" y="56908"/>
                  </a:lnTo>
                  <a:lnTo>
                    <a:pt x="1236726" y="56603"/>
                  </a:lnTo>
                  <a:lnTo>
                    <a:pt x="1252004" y="55613"/>
                  </a:lnTo>
                  <a:lnTo>
                    <a:pt x="1258252" y="54965"/>
                  </a:lnTo>
                  <a:lnTo>
                    <a:pt x="1263103" y="54190"/>
                  </a:lnTo>
                  <a:lnTo>
                    <a:pt x="1263103" y="39687"/>
                  </a:lnTo>
                  <a:close/>
                </a:path>
                <a:path w="1287145" h="106045">
                  <a:moveTo>
                    <a:pt x="1284325" y="2425"/>
                  </a:moveTo>
                  <a:lnTo>
                    <a:pt x="1266380" y="2425"/>
                  </a:lnTo>
                  <a:lnTo>
                    <a:pt x="1266380" y="59423"/>
                  </a:lnTo>
                  <a:lnTo>
                    <a:pt x="1242491" y="59423"/>
                  </a:lnTo>
                  <a:lnTo>
                    <a:pt x="1242491" y="72885"/>
                  </a:lnTo>
                  <a:lnTo>
                    <a:pt x="1266380" y="72885"/>
                  </a:lnTo>
                  <a:lnTo>
                    <a:pt x="1266380" y="80302"/>
                  </a:lnTo>
                  <a:lnTo>
                    <a:pt x="1284325" y="80302"/>
                  </a:lnTo>
                  <a:lnTo>
                    <a:pt x="1284325" y="2425"/>
                  </a:lnTo>
                  <a:close/>
                </a:path>
                <a:path w="1287145" h="106045">
                  <a:moveTo>
                    <a:pt x="1286751" y="88315"/>
                  </a:moveTo>
                  <a:lnTo>
                    <a:pt x="1221270" y="88315"/>
                  </a:lnTo>
                  <a:lnTo>
                    <a:pt x="1221270" y="74155"/>
                  </a:lnTo>
                  <a:lnTo>
                    <a:pt x="1203210" y="74155"/>
                  </a:lnTo>
                  <a:lnTo>
                    <a:pt x="1203210" y="103289"/>
                  </a:lnTo>
                  <a:lnTo>
                    <a:pt x="1286751" y="103289"/>
                  </a:lnTo>
                  <a:lnTo>
                    <a:pt x="1286751" y="88315"/>
                  </a:lnTo>
                  <a:close/>
                </a:path>
              </a:pathLst>
            </a:custGeom>
            <a:solidFill>
              <a:srgbClr val="878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5119" y="7039173"/>
              <a:ext cx="224348" cy="1005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2021" y="6992183"/>
              <a:ext cx="196524" cy="198570"/>
            </a:xfrm>
            <a:prstGeom prst="rect">
              <a:avLst/>
            </a:prstGeom>
          </p:spPr>
        </p:pic>
      </p:grpSp>
      <p:sp>
        <p:nvSpPr>
          <p:cNvPr id="12" name="object 3"/>
          <p:cNvSpPr txBox="1">
            <a:spLocks noGrp="1"/>
          </p:cNvSpPr>
          <p:nvPr>
            <p:ph type="title"/>
          </p:nvPr>
        </p:nvSpPr>
        <p:spPr>
          <a:xfrm>
            <a:off x="722535" y="722792"/>
            <a:ext cx="9248331" cy="33021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15000" spc="-15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AI</a:t>
            </a:r>
            <a:br>
              <a:rPr lang="en-US" sz="15000" spc="-150" dirty="0"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ko-KR" altLang="en-US" sz="15000" spc="-15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콘텐츠 마케팅</a:t>
            </a:r>
            <a:endParaRPr sz="15000" spc="-15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1" name="object 5"/>
          <p:cNvSpPr txBox="1"/>
          <p:nvPr/>
        </p:nvSpPr>
        <p:spPr>
          <a:xfrm>
            <a:off x="347300" y="7043270"/>
            <a:ext cx="19514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spc="-20">
                <a:solidFill>
                  <a:srgbClr val="898989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JP Medium"/>
              </a:rPr>
              <a:t>AI Design Marketing</a:t>
            </a:r>
            <a:endParaRPr lang="en-US" sz="1000" spc="-20" dirty="0">
              <a:solidFill>
                <a:srgbClr val="898989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sbs\Desktop\강사_PPT\Desktop\03.DTP\강사 커리큘럼_디자인_02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/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532021" y="6992183"/>
            <a:ext cx="447675" cy="198755"/>
            <a:chOff x="8532021" y="6992183"/>
            <a:chExt cx="447675" cy="19875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5119" y="7039173"/>
              <a:ext cx="224348" cy="1005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2021" y="6992183"/>
              <a:ext cx="196524" cy="198570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EA90363-CF86-47CC-A6C8-C1B0DE72AD44}"/>
              </a:ext>
            </a:extLst>
          </p:cNvPr>
          <p:cNvGrpSpPr/>
          <p:nvPr/>
        </p:nvGrpSpPr>
        <p:grpSpPr>
          <a:xfrm>
            <a:off x="5333300" y="5072831"/>
            <a:ext cx="4955097" cy="965200"/>
            <a:chOff x="5333300" y="4972591"/>
            <a:chExt cx="4955097" cy="965200"/>
          </a:xfrm>
        </p:grpSpPr>
        <p:sp>
          <p:nvSpPr>
            <p:cNvPr id="20" name="object 20"/>
            <p:cNvSpPr txBox="1"/>
            <p:nvPr/>
          </p:nvSpPr>
          <p:spPr>
            <a:xfrm>
              <a:off x="5333300" y="5033562"/>
              <a:ext cx="730885" cy="19749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1200" b="1" dirty="0">
                  <a:solidFill>
                    <a:srgbClr val="E5007F"/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Agency FB"/>
                </a:rPr>
                <a:t>수업 방식</a:t>
              </a:r>
              <a:endParaRPr sz="1200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6995299" y="4972591"/>
              <a:ext cx="3293098" cy="965200"/>
            </a:xfrm>
            <a:prstGeom prst="rect">
              <a:avLst/>
            </a:prstGeom>
          </p:spPr>
          <p:txBody>
            <a:bodyPr vert="horz" wrap="square" lIns="0" tIns="12700" rIns="0" bIns="0" rtlCol="0">
              <a:no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마케팅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·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디자인 이론과 사례 학습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AI 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초안 생성과 디자인 수정 실습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월간 결과물 발표와 피드백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프로세스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·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프롬프트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·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수정 근거 기록</a:t>
              </a:r>
              <a:endPara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01491A8-21C1-4BF7-AA0B-EC86331E6409}"/>
              </a:ext>
            </a:extLst>
          </p:cNvPr>
          <p:cNvGrpSpPr/>
          <p:nvPr/>
        </p:nvGrpSpPr>
        <p:grpSpPr>
          <a:xfrm>
            <a:off x="5333300" y="6199068"/>
            <a:ext cx="4339564" cy="405239"/>
            <a:chOff x="5333300" y="6199068"/>
            <a:chExt cx="4339564" cy="405239"/>
          </a:xfrm>
        </p:grpSpPr>
        <p:sp>
          <p:nvSpPr>
            <p:cNvPr id="22" name="object 22"/>
            <p:cNvSpPr txBox="1"/>
            <p:nvPr/>
          </p:nvSpPr>
          <p:spPr>
            <a:xfrm>
              <a:off x="5333300" y="6216466"/>
              <a:ext cx="1385000" cy="18210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1100" b="1">
                  <a:solidFill>
                    <a:srgbClr val="E5007F"/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Agency FB"/>
                </a:rPr>
                <a:t>취업분야 및 전망</a:t>
              </a:r>
              <a:endParaRPr sz="1100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6995299" y="6199068"/>
              <a:ext cx="2677565" cy="40523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r>
                <a:rPr lang="ko-KR" altLang="en-US" sz="85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브랜드</a:t>
              </a:r>
              <a:r>
                <a:rPr lang="en-US" altLang="ko-KR" sz="85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·</a:t>
              </a:r>
              <a:r>
                <a:rPr lang="ko-KR" altLang="en-US" sz="85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콘텐츠</a:t>
              </a:r>
              <a:r>
                <a:rPr lang="en-US" altLang="ko-KR" sz="85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·</a:t>
              </a:r>
              <a:r>
                <a:rPr lang="ko-KR" altLang="en-US" sz="85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디지털 마케팅 직무에서 </a:t>
              </a:r>
              <a:r>
                <a:rPr lang="en-US" altLang="ko-KR" sz="85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AI</a:t>
              </a:r>
              <a:r>
                <a:rPr lang="ko-KR" altLang="en-US" sz="85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로 조사</a:t>
              </a:r>
              <a:r>
                <a:rPr lang="en-US" altLang="ko-KR" sz="85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, </a:t>
              </a:r>
              <a:r>
                <a:rPr lang="ko-KR" altLang="en-US" sz="85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전략</a:t>
              </a:r>
              <a:r>
                <a:rPr lang="en-US" altLang="ko-KR" sz="85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, </a:t>
              </a:r>
              <a:r>
                <a:rPr lang="ko-KR" altLang="en-US" sz="85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카피</a:t>
              </a:r>
              <a:r>
                <a:rPr lang="en-US" altLang="ko-KR" sz="85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, </a:t>
              </a:r>
              <a:r>
                <a:rPr lang="ko-KR" altLang="en-US" sz="85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이미지</a:t>
              </a:r>
              <a:r>
                <a:rPr lang="en-US" altLang="ko-KR" sz="85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, </a:t>
              </a:r>
              <a:r>
                <a:rPr lang="ko-KR" altLang="en-US" sz="85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영상</a:t>
              </a:r>
              <a:r>
                <a:rPr lang="en-US" altLang="ko-KR" sz="85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, </a:t>
              </a:r>
              <a:r>
                <a:rPr lang="ko-KR" altLang="en-US" sz="85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랜딩페이지를 제작하고 검수할 수 있는 융합형 실무 역량을 학습합니다</a:t>
              </a:r>
              <a:r>
                <a:rPr lang="en-US" altLang="ko-KR" sz="85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.</a:t>
              </a:r>
              <a:endParaRPr sz="85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6919F75-1714-4B3D-A128-575486A82E10}"/>
              </a:ext>
            </a:extLst>
          </p:cNvPr>
          <p:cNvGrpSpPr/>
          <p:nvPr/>
        </p:nvGrpSpPr>
        <p:grpSpPr>
          <a:xfrm>
            <a:off x="5333300" y="3248025"/>
            <a:ext cx="4486233" cy="1219200"/>
            <a:chOff x="5333300" y="2803762"/>
            <a:chExt cx="4486233" cy="1219200"/>
          </a:xfrm>
        </p:grpSpPr>
        <p:sp>
          <p:nvSpPr>
            <p:cNvPr id="19" name="object 19"/>
            <p:cNvSpPr txBox="1"/>
            <p:nvPr/>
          </p:nvSpPr>
          <p:spPr>
            <a:xfrm>
              <a:off x="6995299" y="2803762"/>
              <a:ext cx="2824234" cy="1219200"/>
            </a:xfrm>
            <a:prstGeom prst="rect">
              <a:avLst/>
            </a:prstGeom>
          </p:spPr>
          <p:txBody>
            <a:bodyPr vert="horz" wrap="square" lIns="0" tIns="83820" rIns="0" bIns="0" rtlCol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AI 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기초부터 심화 응용까지 단계적 학습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모든 실습을 마케팅 자료 제작으로 진행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AI 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결과의 사실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·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전략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·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디자인 품질 검수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통합 캠페인과 취업용 포트폴리오 완성</a:t>
              </a:r>
              <a:endParaRPr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5333300" y="2912153"/>
              <a:ext cx="1174750" cy="19749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1200" b="1" dirty="0">
                  <a:solidFill>
                    <a:srgbClr val="E5007F"/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Agency FB"/>
                </a:rPr>
                <a:t>훈련 목표</a:t>
              </a:r>
              <a:endParaRPr sz="1200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endParaRPr>
            </a:p>
          </p:txBody>
        </p:sp>
      </p:grpSp>
      <p:sp>
        <p:nvSpPr>
          <p:cNvPr id="31" name="object 9"/>
          <p:cNvSpPr txBox="1"/>
          <p:nvPr/>
        </p:nvSpPr>
        <p:spPr>
          <a:xfrm>
            <a:off x="8647142" y="335418"/>
            <a:ext cx="1696720" cy="12439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JP Medium"/>
              </a:rPr>
              <a:t>AI Design Marketing</a:t>
            </a:r>
            <a:endParaRPr sz="7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A36ABE2-CEB1-4E62-8D16-E55FE4186565}"/>
              </a:ext>
            </a:extLst>
          </p:cNvPr>
          <p:cNvGrpSpPr/>
          <p:nvPr/>
        </p:nvGrpSpPr>
        <p:grpSpPr>
          <a:xfrm>
            <a:off x="396298" y="1495425"/>
            <a:ext cx="4207884" cy="2548434"/>
            <a:chOff x="396298" y="1571625"/>
            <a:chExt cx="4207884" cy="2548434"/>
          </a:xfrm>
        </p:grpSpPr>
        <p:sp>
          <p:nvSpPr>
            <p:cNvPr id="30" name="object 11"/>
            <p:cNvSpPr txBox="1"/>
            <p:nvPr/>
          </p:nvSpPr>
          <p:spPr>
            <a:xfrm>
              <a:off x="429329" y="1571625"/>
              <a:ext cx="3698171" cy="204414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3200" spc="-150" dirty="0">
                  <a:solidFill>
                    <a:srgbClr val="E5007F"/>
                  </a:solidFill>
                  <a:latin typeface="스웨거 TTF" panose="020B0600000101010101" pitchFamily="50" charset="-127"/>
                  <a:ea typeface="스웨거 TTF" panose="020B0600000101010101" pitchFamily="50" charset="-127"/>
                  <a:cs typeface="Calibri"/>
                </a:rPr>
                <a:t>AI</a:t>
              </a:r>
              <a:endParaRPr sz="11000" spc="-150" dirty="0">
                <a:solidFill>
                  <a:srgbClr val="E5007F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Calibri"/>
              </a:endParaRPr>
            </a:p>
          </p:txBody>
        </p:sp>
        <p:sp>
          <p:nvSpPr>
            <p:cNvPr id="32" name="object 12"/>
            <p:cNvSpPr txBox="1"/>
            <p:nvPr/>
          </p:nvSpPr>
          <p:spPr>
            <a:xfrm>
              <a:off x="396298" y="2999239"/>
              <a:ext cx="4207884" cy="11208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ko-KR" sz="7200" spc="-150">
                  <a:solidFill>
                    <a:srgbClr val="E5007F"/>
                  </a:solidFill>
                  <a:latin typeface="스웨거 TTF" panose="020B0600000101010101" pitchFamily="50" charset="-127"/>
                  <a:ea typeface="스웨거 TTF" panose="020B0600000101010101" pitchFamily="50" charset="-127"/>
                  <a:cs typeface="Calibri"/>
                </a:rPr>
                <a:t>Marketing</a:t>
              </a:r>
              <a:endParaRPr sz="7200" spc="-150" dirty="0">
                <a:solidFill>
                  <a:srgbClr val="E5007F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Calibri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839CCA9-2286-4AD6-BD93-1C7DAF46F50D}"/>
              </a:ext>
            </a:extLst>
          </p:cNvPr>
          <p:cNvGrpSpPr/>
          <p:nvPr/>
        </p:nvGrpSpPr>
        <p:grpSpPr>
          <a:xfrm>
            <a:off x="5333300" y="1621573"/>
            <a:ext cx="4661600" cy="457200"/>
            <a:chOff x="5333300" y="1621573"/>
            <a:chExt cx="4661600" cy="457200"/>
          </a:xfrm>
        </p:grpSpPr>
        <p:sp>
          <p:nvSpPr>
            <p:cNvPr id="15" name="object 15"/>
            <p:cNvSpPr txBox="1"/>
            <p:nvPr/>
          </p:nvSpPr>
          <p:spPr>
            <a:xfrm>
              <a:off x="5333300" y="1621575"/>
              <a:ext cx="1117849" cy="19749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1200" b="1" spc="-25" dirty="0">
                  <a:solidFill>
                    <a:srgbClr val="E5007F"/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Agency FB"/>
                </a:rPr>
                <a:t>사용 소프트웨어</a:t>
              </a:r>
              <a:endParaRPr sz="1200" b="1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endParaRPr>
            </a:p>
          </p:txBody>
        </p:sp>
        <p:sp>
          <p:nvSpPr>
            <p:cNvPr id="29" name="object 16"/>
            <p:cNvSpPr txBox="1"/>
            <p:nvPr/>
          </p:nvSpPr>
          <p:spPr>
            <a:xfrm>
              <a:off x="6995299" y="1621573"/>
              <a:ext cx="2999601" cy="457200"/>
            </a:xfrm>
            <a:prstGeom prst="rect">
              <a:avLst/>
            </a:prstGeom>
          </p:spPr>
          <p:txBody>
            <a:bodyPr vert="horz" wrap="square" lIns="0" tIns="12700" rIns="0" bIns="0" rtlCol="0">
              <a:noAutofit/>
            </a:bodyPr>
            <a:lstStyle/>
            <a:p>
              <a:pPr marL="184150" marR="5080" indent="-171450" algn="l">
                <a:buFont typeface="Arial" panose="020B0604020202020204" pitchFamily="34" charset="0"/>
                <a:buChar char="•"/>
              </a:pPr>
              <a:r>
                <a:rPr lang="en-US" altLang="ko-KR" sz="900" dirty="0" err="1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ChatGPT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, Gemini</a:t>
              </a:r>
            </a:p>
            <a:p>
              <a:pPr marL="184150" marR="5080" indent="-171450" algn="l"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Photoshop, Illustrator</a:t>
              </a:r>
            </a:p>
            <a:p>
              <a:pPr marL="184150" marR="5080" indent="-171450" algn="l">
                <a:buFont typeface="Arial" panose="020B0604020202020204" pitchFamily="34" charset="0"/>
                <a:buChar char="•"/>
              </a:pP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이미지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·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영상 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AI, 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코드 편집기</a:t>
              </a:r>
              <a:endParaRPr lang="en-US" sz="900" b="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636DCA6-4B80-4056-95D7-2A60FF9C2CDF}"/>
              </a:ext>
            </a:extLst>
          </p:cNvPr>
          <p:cNvGrpSpPr/>
          <p:nvPr/>
        </p:nvGrpSpPr>
        <p:grpSpPr>
          <a:xfrm>
            <a:off x="5333300" y="2333311"/>
            <a:ext cx="4486233" cy="686114"/>
            <a:chOff x="5333300" y="2009973"/>
            <a:chExt cx="4486233" cy="686114"/>
          </a:xfrm>
        </p:grpSpPr>
        <p:sp>
          <p:nvSpPr>
            <p:cNvPr id="17" name="object 17"/>
            <p:cNvSpPr txBox="1"/>
            <p:nvPr/>
          </p:nvSpPr>
          <p:spPr>
            <a:xfrm>
              <a:off x="5333300" y="2009973"/>
              <a:ext cx="1117849" cy="19749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1200" b="1" dirty="0">
                  <a:solidFill>
                    <a:srgbClr val="E5007F"/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Agency FB"/>
                </a:rPr>
                <a:t>선수 과정</a:t>
              </a:r>
              <a:endParaRPr sz="1200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endParaRPr>
            </a:p>
          </p:txBody>
        </p:sp>
        <p:sp>
          <p:nvSpPr>
            <p:cNvPr id="35" name="object 18"/>
            <p:cNvSpPr txBox="1"/>
            <p:nvPr/>
          </p:nvSpPr>
          <p:spPr>
            <a:xfrm>
              <a:off x="6995299" y="2035687"/>
              <a:ext cx="2824234" cy="660400"/>
            </a:xfrm>
            <a:prstGeom prst="rect">
              <a:avLst/>
            </a:prstGeom>
          </p:spPr>
          <p:txBody>
            <a:bodyPr vert="horz" wrap="square" lIns="0" tIns="11430" rIns="0" bIns="0" rtlCol="0">
              <a:noAutofit/>
            </a:bodyPr>
            <a:lstStyle/>
            <a:p>
              <a:pPr marL="184150" indent="-171450" algn="l">
                <a:buFont typeface="Arial" panose="020B0604020202020204" pitchFamily="34" charset="0"/>
                <a:buChar char="•"/>
              </a:pPr>
              <a:r>
                <a:rPr lang="ko-KR" altLang="en-US" sz="900" b="0" spc="-3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선수 과정 없음</a:t>
              </a:r>
            </a:p>
            <a:p>
              <a:pPr marL="184150" indent="-171450" algn="l">
                <a:spcBef>
                  <a:spcPts val="90"/>
                </a:spcBef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Chat GPT, Gemini(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유료 구독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, 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무료 버전 경우 답변의 차이가 있음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)</a:t>
              </a:r>
            </a:p>
            <a:p>
              <a:pPr marL="184150" indent="-171450" algn="l">
                <a:spcBef>
                  <a:spcPts val="90"/>
                </a:spcBef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Photoshop, </a:t>
              </a:r>
              <a:r>
                <a:rPr lang="en-US" altLang="ko-KR" sz="900" dirty="0" err="1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Illstrator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(</a:t>
              </a:r>
              <a:r>
                <a:rPr lang="ko-KR" altLang="en-US" sz="900" dirty="0" err="1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비대면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 수강생 경우 구독 필수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Source Han Sans KR ExtraLight"/>
                </a:rPr>
                <a:t>)</a:t>
              </a:r>
            </a:p>
            <a:p>
              <a:pPr marL="184150" indent="-171450" algn="l">
                <a:spcBef>
                  <a:spcPts val="90"/>
                </a:spcBef>
                <a:buFont typeface="Arial" panose="020B0604020202020204" pitchFamily="34" charset="0"/>
                <a:buChar char="•"/>
              </a:pPr>
              <a:endPara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endParaRPr>
            </a:p>
          </p:txBody>
        </p:sp>
      </p:grpSp>
      <p:sp>
        <p:nvSpPr>
          <p:cNvPr id="37" name="object 28">
            <a:extLst>
              <a:ext uri="{FF2B5EF4-FFF2-40B4-BE49-F238E27FC236}">
                <a16:creationId xmlns:a16="http://schemas.microsoft.com/office/drawing/2014/main" id="{2D41A927-8F63-4E6A-ABF5-2F3964D80FB4}"/>
              </a:ext>
            </a:extLst>
          </p:cNvPr>
          <p:cNvSpPr txBox="1">
            <a:spLocks/>
          </p:cNvSpPr>
          <p:nvPr/>
        </p:nvSpPr>
        <p:spPr>
          <a:xfrm>
            <a:off x="4474668" y="408884"/>
            <a:ext cx="6250175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</a:t>
            </a:r>
            <a:r>
              <a:rPr lang="ko-KR" altLang="en-US" sz="3500" b="1" spc="-150" dirty="0">
                <a:solidFill>
                  <a:srgbClr val="E5007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gency FB"/>
              </a:rPr>
              <a:t>콘텐츠 마케팅</a:t>
            </a:r>
            <a:endParaRPr lang="en-US" altLang="ko-KR" sz="3500" b="1" spc="-150" dirty="0">
              <a:solidFill>
                <a:srgbClr val="E5007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gency FB"/>
            </a:endParaRP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Lecture Plan</a:t>
            </a:r>
            <a:endParaRPr lang="en-US" altLang="ko-KR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1E8A2DD-B023-437F-8B2F-4FBD132588FF}"/>
              </a:ext>
            </a:extLst>
          </p:cNvPr>
          <p:cNvGrpSpPr/>
          <p:nvPr/>
        </p:nvGrpSpPr>
        <p:grpSpPr>
          <a:xfrm>
            <a:off x="5333300" y="4238625"/>
            <a:ext cx="4612658" cy="461064"/>
            <a:chOff x="5333300" y="4134067"/>
            <a:chExt cx="4612658" cy="461064"/>
          </a:xfrm>
        </p:grpSpPr>
        <p:sp>
          <p:nvSpPr>
            <p:cNvPr id="39" name="object 34">
              <a:extLst>
                <a:ext uri="{FF2B5EF4-FFF2-40B4-BE49-F238E27FC236}">
                  <a16:creationId xmlns:a16="http://schemas.microsoft.com/office/drawing/2014/main" id="{4178E04C-97DF-4D42-B9A4-223A3E8FDD32}"/>
                </a:ext>
              </a:extLst>
            </p:cNvPr>
            <p:cNvSpPr txBox="1"/>
            <p:nvPr/>
          </p:nvSpPr>
          <p:spPr>
            <a:xfrm>
              <a:off x="6995299" y="4134067"/>
              <a:ext cx="2950659" cy="451406"/>
            </a:xfrm>
            <a:prstGeom prst="rect">
              <a:avLst/>
            </a:prstGeom>
          </p:spPr>
          <p:txBody>
            <a:bodyPr vert="horz" wrap="square" lIns="0" tIns="83820" rIns="0" bIns="0" rtlCol="0">
              <a:spAutoFit/>
            </a:bodyPr>
            <a:lstStyle/>
            <a:p>
              <a:pPr marL="184150" indent="-171450" algn="l">
                <a:lnSpc>
                  <a:spcPct val="100000"/>
                </a:lnSpc>
                <a:spcBef>
                  <a:spcPts val="660"/>
                </a:spcBef>
                <a:buFont typeface="Arial" panose="020B0604020202020204" pitchFamily="34" charset="0"/>
                <a:buChar char="•"/>
              </a:pPr>
              <a:r>
                <a:rPr lang="ko-KR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나이 제한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 : 15</a:t>
              </a:r>
              <a:r>
                <a:rPr lang="ko-KR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세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~50</a:t>
              </a:r>
              <a:r>
                <a:rPr lang="ko-KR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세</a:t>
              </a:r>
              <a:endPara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  <a:p>
              <a:pPr marL="184150" indent="-171450" algn="l">
                <a:lnSpc>
                  <a:spcPct val="100000"/>
                </a:lnSpc>
                <a:spcBef>
                  <a:spcPts val="660"/>
                </a:spcBef>
                <a:buFont typeface="Arial" panose="020B0604020202020204" pitchFamily="34" charset="0"/>
                <a:buChar char="•"/>
              </a:pPr>
              <a:r>
                <a:rPr lang="ko-KR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난이도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 : 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Noto Sans KR" panose="020B0500000000000000" pitchFamily="34" charset="-127"/>
                  <a:ea typeface="Noto Sans KR" panose="020B0500000000000000" pitchFamily="34" charset="-127"/>
                </a:rPr>
                <a:t>중</a:t>
              </a:r>
              <a:endPara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40" name="object 33">
              <a:extLst>
                <a:ext uri="{FF2B5EF4-FFF2-40B4-BE49-F238E27FC236}">
                  <a16:creationId xmlns:a16="http://schemas.microsoft.com/office/drawing/2014/main" id="{DB79A692-504E-42A1-A389-448F8ACB0BFC}"/>
                </a:ext>
              </a:extLst>
            </p:cNvPr>
            <p:cNvSpPr txBox="1"/>
            <p:nvPr/>
          </p:nvSpPr>
          <p:spPr>
            <a:xfrm>
              <a:off x="5333300" y="4216166"/>
              <a:ext cx="1174750" cy="19749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1200" b="1" dirty="0">
                  <a:solidFill>
                    <a:srgbClr val="E5007F"/>
                  </a:solidFill>
                  <a:latin typeface="Noto Sans KR" panose="020B0500000000000000" pitchFamily="34" charset="-127"/>
                  <a:ea typeface="Noto Sans KR" panose="020B0500000000000000" pitchFamily="34" charset="-127"/>
                  <a:cs typeface="Agency FB"/>
                </a:rPr>
                <a:t>학습 수준</a:t>
              </a:r>
              <a:endParaRPr lang="en-US" altLang="ko-KR" sz="1200" b="1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37874D86-C7C5-45D0-89D1-BAC0B1678818}"/>
                </a:ext>
              </a:extLst>
            </p:cNvPr>
            <p:cNvSpPr/>
            <p:nvPr/>
          </p:nvSpPr>
          <p:spPr>
            <a:xfrm>
              <a:off x="5350037" y="4490737"/>
              <a:ext cx="104394" cy="104394"/>
            </a:xfrm>
            <a:prstGeom prst="ellipse">
              <a:avLst/>
            </a:prstGeom>
            <a:solidFill>
              <a:srgbClr val="E500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57A63230-04DB-4CE7-A52E-19E96029B5E3}"/>
                </a:ext>
              </a:extLst>
            </p:cNvPr>
            <p:cNvSpPr/>
            <p:nvPr/>
          </p:nvSpPr>
          <p:spPr>
            <a:xfrm>
              <a:off x="5491569" y="4490737"/>
              <a:ext cx="104394" cy="104394"/>
            </a:xfrm>
            <a:prstGeom prst="ellipse">
              <a:avLst/>
            </a:prstGeom>
            <a:solidFill>
              <a:srgbClr val="E500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479A6C17-622E-4EE8-B921-C6A3E9B2655F}"/>
                </a:ext>
              </a:extLst>
            </p:cNvPr>
            <p:cNvSpPr/>
            <p:nvPr/>
          </p:nvSpPr>
          <p:spPr>
            <a:xfrm>
              <a:off x="5639017" y="4490737"/>
              <a:ext cx="104394" cy="104394"/>
            </a:xfrm>
            <a:prstGeom prst="ellipse">
              <a:avLst/>
            </a:prstGeom>
            <a:solidFill>
              <a:srgbClr val="E500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7570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2">
            <a:extLst>
              <a:ext uri="{FF2B5EF4-FFF2-40B4-BE49-F238E27FC236}">
                <a16:creationId xmlns:a16="http://schemas.microsoft.com/office/drawing/2014/main" id="{1A2986A6-9B6A-4EC4-9ED0-028AADFE3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067" y="0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E4F8915-E188-4510-9A9C-8E0DB1CADCD7}"/>
              </a:ext>
            </a:extLst>
          </p:cNvPr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56DF04A-2CFB-478C-A0E7-9654829B2672}"/>
              </a:ext>
            </a:extLst>
          </p:cNvPr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18102E3-AB38-4AF4-94F9-077FD458F004}"/>
              </a:ext>
            </a:extLst>
          </p:cNvPr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E86ED85-5541-4551-A5A8-6BE5B389E8B4}"/>
              </a:ext>
            </a:extLst>
          </p:cNvPr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4F10D15-8DC7-412F-92ED-02981668160D}"/>
              </a:ext>
            </a:extLst>
          </p:cNvPr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F245D2D9-5FA2-45C6-A099-815A1F130C8C}"/>
              </a:ext>
            </a:extLst>
          </p:cNvPr>
          <p:cNvGrpSpPr/>
          <p:nvPr/>
        </p:nvGrpSpPr>
        <p:grpSpPr>
          <a:xfrm>
            <a:off x="8532021" y="6992183"/>
            <a:ext cx="447675" cy="198755"/>
            <a:chOff x="8532021" y="6992183"/>
            <a:chExt cx="447675" cy="198755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E215CA01-B36B-4626-8FC4-F01E5FCE823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5119" y="7039173"/>
              <a:ext cx="224348" cy="100524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00A18164-2EA3-4AF6-B785-8902309F5A3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2021" y="6992183"/>
              <a:ext cx="196524" cy="198570"/>
            </a:xfrm>
            <a:prstGeom prst="rect">
              <a:avLst/>
            </a:prstGeom>
          </p:spPr>
        </p:pic>
      </p:grpSp>
      <p:sp>
        <p:nvSpPr>
          <p:cNvPr id="11" name="object 29">
            <a:extLst>
              <a:ext uri="{FF2B5EF4-FFF2-40B4-BE49-F238E27FC236}">
                <a16:creationId xmlns:a16="http://schemas.microsoft.com/office/drawing/2014/main" id="{290533C2-A964-449B-AE0F-4BDB45BE9F3E}"/>
              </a:ext>
            </a:extLst>
          </p:cNvPr>
          <p:cNvSpPr txBox="1"/>
          <p:nvPr/>
        </p:nvSpPr>
        <p:spPr>
          <a:xfrm>
            <a:off x="2023982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</a:t>
            </a:r>
            <a:r>
              <a:rPr sz="1200" b="1" spc="-35" dirty="0">
                <a:solidFill>
                  <a:srgbClr val="E5007F"/>
                </a:solidFill>
                <a:latin typeface="Agency FB"/>
                <a:cs typeface="Agency FB"/>
              </a:rPr>
              <a:t> 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contents</a:t>
            </a:r>
          </a:p>
        </p:txBody>
      </p:sp>
      <p:sp>
        <p:nvSpPr>
          <p:cNvPr id="12" name="object 30">
            <a:extLst>
              <a:ext uri="{FF2B5EF4-FFF2-40B4-BE49-F238E27FC236}">
                <a16:creationId xmlns:a16="http://schemas.microsoft.com/office/drawing/2014/main" id="{F7C4E564-6AEC-4EC9-B15D-C12E5761A953}"/>
              </a:ext>
            </a:extLst>
          </p:cNvPr>
          <p:cNvSpPr txBox="1"/>
          <p:nvPr/>
        </p:nvSpPr>
        <p:spPr>
          <a:xfrm>
            <a:off x="2023982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13" name="object 29">
            <a:extLst>
              <a:ext uri="{FF2B5EF4-FFF2-40B4-BE49-F238E27FC236}">
                <a16:creationId xmlns:a16="http://schemas.microsoft.com/office/drawing/2014/main" id="{D5D57DA2-F3B1-4DC3-A836-2B2CB0F3D7AE}"/>
              </a:ext>
            </a:extLst>
          </p:cNvPr>
          <p:cNvSpPr txBox="1"/>
          <p:nvPr/>
        </p:nvSpPr>
        <p:spPr>
          <a:xfrm>
            <a:off x="1998547" y="2849736"/>
            <a:ext cx="1671754" cy="474489"/>
          </a:xfrm>
          <a:prstGeom prst="rect">
            <a:avLst/>
          </a:prstGeom>
        </p:spPr>
        <p:txBody>
          <a:bodyPr vert="horz" wrap="square" lIns="0" tIns="12700" rIns="0" bIns="0" rtlCol="0" anchor="t">
            <a:noAutofit/>
          </a:bodyPr>
          <a:lstStyle/>
          <a:p>
            <a:pPr marL="206375" marR="289560" indent="-171450" algn="l"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과정 이해와 </a:t>
            </a: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</a:t>
            </a: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마케팅 입문</a:t>
            </a:r>
          </a:p>
          <a:p>
            <a:pPr marL="206375" marR="289560" indent="-171450" algn="l"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고객 문제와 가치 제안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5" name="object 29">
            <a:extLst>
              <a:ext uri="{FF2B5EF4-FFF2-40B4-BE49-F238E27FC236}">
                <a16:creationId xmlns:a16="http://schemas.microsoft.com/office/drawing/2014/main" id="{7EFB22D2-531E-4C44-B2F5-02CFEC63F7B5}"/>
              </a:ext>
            </a:extLst>
          </p:cNvPr>
          <p:cNvSpPr txBox="1"/>
          <p:nvPr/>
        </p:nvSpPr>
        <p:spPr>
          <a:xfrm>
            <a:off x="3919911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</a:t>
            </a:r>
            <a:r>
              <a:rPr sz="1200" b="1" spc="-35" dirty="0">
                <a:solidFill>
                  <a:srgbClr val="E5007F"/>
                </a:solidFill>
                <a:latin typeface="Agency FB"/>
                <a:cs typeface="Agency FB"/>
              </a:rPr>
              <a:t> 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contents</a:t>
            </a:r>
          </a:p>
        </p:txBody>
      </p:sp>
      <p:sp>
        <p:nvSpPr>
          <p:cNvPr id="16" name="object 29">
            <a:extLst>
              <a:ext uri="{FF2B5EF4-FFF2-40B4-BE49-F238E27FC236}">
                <a16:creationId xmlns:a16="http://schemas.microsoft.com/office/drawing/2014/main" id="{4109F8CA-1EEC-4808-B54D-D455B5864444}"/>
              </a:ext>
            </a:extLst>
          </p:cNvPr>
          <p:cNvSpPr txBox="1"/>
          <p:nvPr/>
        </p:nvSpPr>
        <p:spPr>
          <a:xfrm>
            <a:off x="3894476" y="2849736"/>
            <a:ext cx="1565762" cy="385036"/>
          </a:xfrm>
          <a:prstGeom prst="rect">
            <a:avLst/>
          </a:prstGeom>
        </p:spPr>
        <p:txBody>
          <a:bodyPr vert="horz" wrap="square" lIns="0" tIns="12700" rIns="0" bIns="0" rtlCol="0" anchor="t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타깃 고객과 페르소나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경쟁 차별화와 포지셔닝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SWOT </a:t>
            </a: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분석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8" name="object 29">
            <a:extLst>
              <a:ext uri="{FF2B5EF4-FFF2-40B4-BE49-F238E27FC236}">
                <a16:creationId xmlns:a16="http://schemas.microsoft.com/office/drawing/2014/main" id="{77D74C7E-4D57-4FA3-AD22-06EF74D7CA0B}"/>
              </a:ext>
            </a:extLst>
          </p:cNvPr>
          <p:cNvSpPr txBox="1"/>
          <p:nvPr/>
        </p:nvSpPr>
        <p:spPr>
          <a:xfrm>
            <a:off x="5815840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</a:t>
            </a:r>
            <a:r>
              <a:rPr sz="1200" b="1" spc="-35" dirty="0">
                <a:solidFill>
                  <a:srgbClr val="E5007F"/>
                </a:solidFill>
                <a:latin typeface="Agency FB"/>
                <a:cs typeface="Agency FB"/>
              </a:rPr>
              <a:t> 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contents</a:t>
            </a:r>
          </a:p>
        </p:txBody>
      </p:sp>
      <p:sp>
        <p:nvSpPr>
          <p:cNvPr id="19" name="object 29">
            <a:extLst>
              <a:ext uri="{FF2B5EF4-FFF2-40B4-BE49-F238E27FC236}">
                <a16:creationId xmlns:a16="http://schemas.microsoft.com/office/drawing/2014/main" id="{61FD0E30-0FEB-4CD1-98B4-DD63A29F6922}"/>
              </a:ext>
            </a:extLst>
          </p:cNvPr>
          <p:cNvSpPr txBox="1"/>
          <p:nvPr/>
        </p:nvSpPr>
        <p:spPr>
          <a:xfrm>
            <a:off x="5790405" y="2849736"/>
            <a:ext cx="1689896" cy="320601"/>
          </a:xfrm>
          <a:prstGeom prst="rect">
            <a:avLst/>
          </a:prstGeom>
        </p:spPr>
        <p:txBody>
          <a:bodyPr vert="horz" wrap="square" lIns="0" tIns="12700" rIns="0" bIns="0" rtlCol="0" anchor="t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브랜드 아이덴티티와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비주얼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Photoshop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이미지 수정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1" name="object 29">
            <a:extLst>
              <a:ext uri="{FF2B5EF4-FFF2-40B4-BE49-F238E27FC236}">
                <a16:creationId xmlns:a16="http://schemas.microsoft.com/office/drawing/2014/main" id="{B1EE3B08-46E8-459A-95F5-DDC13979843A}"/>
              </a:ext>
            </a:extLst>
          </p:cNvPr>
          <p:cNvSpPr txBox="1"/>
          <p:nvPr/>
        </p:nvSpPr>
        <p:spPr>
          <a:xfrm>
            <a:off x="7711769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</a:t>
            </a:r>
            <a:r>
              <a:rPr sz="1200" b="1" spc="-35" dirty="0">
                <a:solidFill>
                  <a:srgbClr val="E5007F"/>
                </a:solidFill>
                <a:latin typeface="Agency FB"/>
                <a:cs typeface="Agency FB"/>
              </a:rPr>
              <a:t> 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contents</a:t>
            </a:r>
          </a:p>
        </p:txBody>
      </p:sp>
      <p:sp>
        <p:nvSpPr>
          <p:cNvPr id="22" name="object 29">
            <a:extLst>
              <a:ext uri="{FF2B5EF4-FFF2-40B4-BE49-F238E27FC236}">
                <a16:creationId xmlns:a16="http://schemas.microsoft.com/office/drawing/2014/main" id="{24111ED0-AE61-4F0B-B970-0689E75D9658}"/>
              </a:ext>
            </a:extLst>
          </p:cNvPr>
          <p:cNvSpPr txBox="1"/>
          <p:nvPr/>
        </p:nvSpPr>
        <p:spPr>
          <a:xfrm>
            <a:off x="7686333" y="2849736"/>
            <a:ext cx="1817787" cy="320601"/>
          </a:xfrm>
          <a:prstGeom prst="rect">
            <a:avLst/>
          </a:prstGeom>
        </p:spPr>
        <p:txBody>
          <a:bodyPr vert="horz" wrap="square" lIns="0" tIns="12700" rIns="0" bIns="0" rtlCol="0" anchor="t">
            <a:noAutofit/>
          </a:bodyPr>
          <a:lstStyle/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en-US" altLang="ko-KR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Illustrator </a:t>
            </a:r>
            <a:r>
              <a:rPr lang="ko-KR" altLang="en-US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브랜드 그래픽</a:t>
            </a:r>
          </a:p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en-US" altLang="ko-KR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SNS </a:t>
            </a:r>
            <a:r>
              <a:rPr lang="ko-KR" altLang="en-US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콘텐츠와 브랜드 패키지 완성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4AA6D480-0492-407E-8739-ADD04A2CD3E4}"/>
              </a:ext>
            </a:extLst>
          </p:cNvPr>
          <p:cNvSpPr txBox="1"/>
          <p:nvPr/>
        </p:nvSpPr>
        <p:spPr>
          <a:xfrm>
            <a:off x="2020688" y="4715622"/>
            <a:ext cx="1543693" cy="743793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마케팅 역할과 프로젝트 흐름 이해</a:t>
            </a:r>
          </a:p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en-US" altLang="ko-KR" sz="900" spc="-1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ChatGPT·Gemini</a:t>
            </a:r>
            <a:r>
              <a:rPr lang="en-US" altLang="ko-KR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 </a:t>
            </a: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기본 조작</a:t>
            </a:r>
          </a:p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브랜드 </a:t>
            </a:r>
            <a:r>
              <a:rPr lang="ko-KR" altLang="en-US" sz="900" spc="-1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브리프와</a:t>
            </a: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 가치 제안 문장 제작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4" name="object 30">
            <a:extLst>
              <a:ext uri="{FF2B5EF4-FFF2-40B4-BE49-F238E27FC236}">
                <a16:creationId xmlns:a16="http://schemas.microsoft.com/office/drawing/2014/main" id="{7B954108-A4E1-4490-829E-191F9606F9C4}"/>
              </a:ext>
            </a:extLst>
          </p:cNvPr>
          <p:cNvSpPr txBox="1"/>
          <p:nvPr/>
        </p:nvSpPr>
        <p:spPr>
          <a:xfrm>
            <a:off x="392320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5" name="object 30">
            <a:extLst>
              <a:ext uri="{FF2B5EF4-FFF2-40B4-BE49-F238E27FC236}">
                <a16:creationId xmlns:a16="http://schemas.microsoft.com/office/drawing/2014/main" id="{9AB484B8-3E00-4E98-B9E0-425209614F4C}"/>
              </a:ext>
            </a:extLst>
          </p:cNvPr>
          <p:cNvSpPr txBox="1"/>
          <p:nvPr/>
        </p:nvSpPr>
        <p:spPr>
          <a:xfrm>
            <a:off x="581374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BCC40343-6BB2-4AA6-AE0E-839D00F957FB}"/>
              </a:ext>
            </a:extLst>
          </p:cNvPr>
          <p:cNvSpPr txBox="1"/>
          <p:nvPr/>
        </p:nvSpPr>
        <p:spPr>
          <a:xfrm>
            <a:off x="5828355" y="4715622"/>
            <a:ext cx="1575745" cy="451406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톤앤매너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컬러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서체 방향 설정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무드보드 초안 제작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SNS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이미지 수정 전후 비교본 제작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7" name="object 30">
            <a:extLst>
              <a:ext uri="{FF2B5EF4-FFF2-40B4-BE49-F238E27FC236}">
                <a16:creationId xmlns:a16="http://schemas.microsoft.com/office/drawing/2014/main" id="{39BC9AD4-7C4A-45C5-BBDE-93E03EF9F990}"/>
              </a:ext>
            </a:extLst>
          </p:cNvPr>
          <p:cNvSpPr txBox="1"/>
          <p:nvPr/>
        </p:nvSpPr>
        <p:spPr>
          <a:xfrm>
            <a:off x="3914557" y="4715622"/>
            <a:ext cx="1545717" cy="1211076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시장 세분화와 타깃 선정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고객 가설의 근거 확인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포지셔닝 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맵과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 기본 프롬프트 작성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SWOT :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내부 역량과 외부 환경을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4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가지 범주로 나누어 전략을 세우는 경영 분석 도구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8" name="object 30">
            <a:extLst>
              <a:ext uri="{FF2B5EF4-FFF2-40B4-BE49-F238E27FC236}">
                <a16:creationId xmlns:a16="http://schemas.microsoft.com/office/drawing/2014/main" id="{E579966B-6E4B-44C9-B19F-E1C5703A8946}"/>
              </a:ext>
            </a:extLst>
          </p:cNvPr>
          <p:cNvSpPr txBox="1"/>
          <p:nvPr/>
        </p:nvSpPr>
        <p:spPr>
          <a:xfrm>
            <a:off x="7711769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DD791843-E8AE-422C-BE30-9AF59A6F9E11}"/>
              </a:ext>
            </a:extLst>
          </p:cNvPr>
          <p:cNvSpPr txBox="1"/>
          <p:nvPr/>
        </p:nvSpPr>
        <p:spPr>
          <a:xfrm>
            <a:off x="7711769" y="4715622"/>
            <a:ext cx="1540290" cy="597599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아이콘</a:t>
            </a:r>
            <a:r>
              <a:rPr lang="en-US" altLang="ko-KR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타이포그래피 정리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채널별 카피와 콘텐츠 </a:t>
            </a:r>
            <a:r>
              <a:rPr lang="en-US" altLang="ko-KR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2</a:t>
            </a: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종 제작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브랜드 기초 기획서와 과정 기록 완성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34" name="object 9"/>
          <p:cNvSpPr txBox="1"/>
          <p:nvPr/>
        </p:nvSpPr>
        <p:spPr>
          <a:xfrm>
            <a:off x="8647142" y="335418"/>
            <a:ext cx="1696720" cy="12439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JP Medium"/>
              </a:rPr>
              <a:t>AI Design Marketing</a:t>
            </a:r>
            <a:endParaRPr sz="7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  <p:sp>
        <p:nvSpPr>
          <p:cNvPr id="36" name="object 28">
            <a:extLst>
              <a:ext uri="{FF2B5EF4-FFF2-40B4-BE49-F238E27FC236}">
                <a16:creationId xmlns:a16="http://schemas.microsoft.com/office/drawing/2014/main" id="{81EA4965-D4BE-4F70-BE3F-3F0FD3746022}"/>
              </a:ext>
            </a:extLst>
          </p:cNvPr>
          <p:cNvSpPr txBox="1">
            <a:spLocks/>
          </p:cNvSpPr>
          <p:nvPr/>
        </p:nvSpPr>
        <p:spPr>
          <a:xfrm>
            <a:off x="2023982" y="1636153"/>
            <a:ext cx="7524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>
                <a:solidFill>
                  <a:srgbClr val="E5007F"/>
                </a:solidFill>
                <a:latin typeface="Agency FB"/>
                <a:cs typeface="Agency FB"/>
              </a:rPr>
              <a:t>01</a:t>
            </a:r>
            <a:r>
              <a:rPr lang="en-US" sz="2700" b="1" spc="-15" baseline="1543">
                <a:solidFill>
                  <a:srgbClr val="FFA3D5"/>
                </a:solidFill>
                <a:latin typeface="Agency FB"/>
                <a:cs typeface="Agency FB"/>
              </a:rPr>
              <a:t>week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CC62439F-1EAA-4EAB-8372-0A7A8B74FEF5}"/>
              </a:ext>
            </a:extLst>
          </p:cNvPr>
          <p:cNvSpPr txBox="1">
            <a:spLocks/>
          </p:cNvSpPr>
          <p:nvPr/>
        </p:nvSpPr>
        <p:spPr>
          <a:xfrm>
            <a:off x="3919911" y="1636153"/>
            <a:ext cx="89338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02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week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38" name="object 28">
            <a:extLst>
              <a:ext uri="{FF2B5EF4-FFF2-40B4-BE49-F238E27FC236}">
                <a16:creationId xmlns:a16="http://schemas.microsoft.com/office/drawing/2014/main" id="{7B26C7CA-1020-441E-B60C-515DDD1A4897}"/>
              </a:ext>
            </a:extLst>
          </p:cNvPr>
          <p:cNvSpPr txBox="1">
            <a:spLocks/>
          </p:cNvSpPr>
          <p:nvPr/>
        </p:nvSpPr>
        <p:spPr>
          <a:xfrm>
            <a:off x="5815840" y="1636153"/>
            <a:ext cx="90246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03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week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39" name="object 28">
            <a:extLst>
              <a:ext uri="{FF2B5EF4-FFF2-40B4-BE49-F238E27FC236}">
                <a16:creationId xmlns:a16="http://schemas.microsoft.com/office/drawing/2014/main" id="{92BBBDAC-C06E-46BF-B337-5BFB69186BA5}"/>
              </a:ext>
            </a:extLst>
          </p:cNvPr>
          <p:cNvSpPr txBox="1">
            <a:spLocks/>
          </p:cNvSpPr>
          <p:nvPr/>
        </p:nvSpPr>
        <p:spPr>
          <a:xfrm>
            <a:off x="7711769" y="1636153"/>
            <a:ext cx="101677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04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week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40" name="object 28">
            <a:extLst>
              <a:ext uri="{FF2B5EF4-FFF2-40B4-BE49-F238E27FC236}">
                <a16:creationId xmlns:a16="http://schemas.microsoft.com/office/drawing/2014/main" id="{222A6B47-40DA-4FB1-9787-C4A54D23693A}"/>
              </a:ext>
            </a:extLst>
          </p:cNvPr>
          <p:cNvSpPr txBox="1">
            <a:spLocks/>
          </p:cNvSpPr>
          <p:nvPr/>
        </p:nvSpPr>
        <p:spPr>
          <a:xfrm>
            <a:off x="2020688" y="508207"/>
            <a:ext cx="4850012" cy="948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</a:t>
            </a:r>
            <a:r>
              <a:rPr lang="ko-KR" altLang="en-US" sz="3500" b="1" spc="-150" dirty="0">
                <a:solidFill>
                  <a:srgbClr val="E5007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gency FB"/>
              </a:rPr>
              <a:t>콘텐츠 마케팅 </a:t>
            </a: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1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Plan</a:t>
            </a:r>
            <a:endParaRPr lang="en-US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</p:spTree>
    <p:extLst>
      <p:ext uri="{BB962C8B-B14F-4D97-AF65-F5344CB8AC3E}">
        <p14:creationId xmlns:p14="http://schemas.microsoft.com/office/powerpoint/2010/main" val="273109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2">
            <a:extLst>
              <a:ext uri="{FF2B5EF4-FFF2-40B4-BE49-F238E27FC236}">
                <a16:creationId xmlns:a16="http://schemas.microsoft.com/office/drawing/2014/main" id="{1A2986A6-9B6A-4EC4-9ED0-028AADFE3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067" y="0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E4F8915-E188-4510-9A9C-8E0DB1CADCD7}"/>
              </a:ext>
            </a:extLst>
          </p:cNvPr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56DF04A-2CFB-478C-A0E7-9654829B2672}"/>
              </a:ext>
            </a:extLst>
          </p:cNvPr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18102E3-AB38-4AF4-94F9-077FD458F004}"/>
              </a:ext>
            </a:extLst>
          </p:cNvPr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E86ED85-5541-4551-A5A8-6BE5B389E8B4}"/>
              </a:ext>
            </a:extLst>
          </p:cNvPr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4F10D15-8DC7-412F-92ED-02981668160D}"/>
              </a:ext>
            </a:extLst>
          </p:cNvPr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F245D2D9-5FA2-45C6-A099-815A1F130C8C}"/>
              </a:ext>
            </a:extLst>
          </p:cNvPr>
          <p:cNvGrpSpPr/>
          <p:nvPr/>
        </p:nvGrpSpPr>
        <p:grpSpPr>
          <a:xfrm>
            <a:off x="8532021" y="6992183"/>
            <a:ext cx="447675" cy="198755"/>
            <a:chOff x="8532021" y="6992183"/>
            <a:chExt cx="447675" cy="198755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E215CA01-B36B-4626-8FC4-F01E5FCE823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5119" y="7039173"/>
              <a:ext cx="224348" cy="100524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00A18164-2EA3-4AF6-B785-8902309F5A3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2021" y="6992183"/>
              <a:ext cx="196524" cy="198570"/>
            </a:xfrm>
            <a:prstGeom prst="rect">
              <a:avLst/>
            </a:prstGeom>
          </p:spPr>
        </p:pic>
      </p:grpSp>
      <p:sp>
        <p:nvSpPr>
          <p:cNvPr id="11" name="object 29">
            <a:extLst>
              <a:ext uri="{FF2B5EF4-FFF2-40B4-BE49-F238E27FC236}">
                <a16:creationId xmlns:a16="http://schemas.microsoft.com/office/drawing/2014/main" id="{290533C2-A964-449B-AE0F-4BDB45BE9F3E}"/>
              </a:ext>
            </a:extLst>
          </p:cNvPr>
          <p:cNvSpPr txBox="1"/>
          <p:nvPr/>
        </p:nvSpPr>
        <p:spPr>
          <a:xfrm>
            <a:off x="2023982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</a:t>
            </a:r>
            <a:r>
              <a:rPr sz="1200" b="1" spc="-35" dirty="0">
                <a:solidFill>
                  <a:srgbClr val="E5007F"/>
                </a:solidFill>
                <a:latin typeface="Agency FB"/>
                <a:cs typeface="Agency FB"/>
              </a:rPr>
              <a:t> 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contents</a:t>
            </a:r>
          </a:p>
        </p:txBody>
      </p:sp>
      <p:sp>
        <p:nvSpPr>
          <p:cNvPr id="12" name="object 30">
            <a:extLst>
              <a:ext uri="{FF2B5EF4-FFF2-40B4-BE49-F238E27FC236}">
                <a16:creationId xmlns:a16="http://schemas.microsoft.com/office/drawing/2014/main" id="{F7C4E564-6AEC-4EC9-B15D-C12E5761A953}"/>
              </a:ext>
            </a:extLst>
          </p:cNvPr>
          <p:cNvSpPr txBox="1"/>
          <p:nvPr/>
        </p:nvSpPr>
        <p:spPr>
          <a:xfrm>
            <a:off x="2023982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13" name="object 29">
            <a:extLst>
              <a:ext uri="{FF2B5EF4-FFF2-40B4-BE49-F238E27FC236}">
                <a16:creationId xmlns:a16="http://schemas.microsoft.com/office/drawing/2014/main" id="{D5D57DA2-F3B1-4DC3-A836-2B2CB0F3D7AE}"/>
              </a:ext>
            </a:extLst>
          </p:cNvPr>
          <p:cNvSpPr txBox="1"/>
          <p:nvPr/>
        </p:nvSpPr>
        <p:spPr>
          <a:xfrm>
            <a:off x="1998547" y="2849736"/>
            <a:ext cx="1671754" cy="474489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289560" indent="-171450" algn="l"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고객 여정과 마케팅 </a:t>
            </a:r>
            <a:r>
              <a:rPr lang="ko-KR" altLang="en-US" sz="900" spc="-2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퍼널</a:t>
            </a:r>
            <a:endParaRPr lang="ko-KR" altLang="en-US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289560" indent="-171450" algn="l"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시장</a:t>
            </a: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경쟁사 조사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5" name="object 29">
            <a:extLst>
              <a:ext uri="{FF2B5EF4-FFF2-40B4-BE49-F238E27FC236}">
                <a16:creationId xmlns:a16="http://schemas.microsoft.com/office/drawing/2014/main" id="{7EFB22D2-531E-4C44-B2F5-02CFEC63F7B5}"/>
              </a:ext>
            </a:extLst>
          </p:cNvPr>
          <p:cNvSpPr txBox="1"/>
          <p:nvPr/>
        </p:nvSpPr>
        <p:spPr>
          <a:xfrm>
            <a:off x="3919911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</a:t>
            </a:r>
            <a:r>
              <a:rPr sz="1200" b="1" spc="-35" dirty="0">
                <a:solidFill>
                  <a:srgbClr val="E5007F"/>
                </a:solidFill>
                <a:latin typeface="Agency FB"/>
                <a:cs typeface="Agency FB"/>
              </a:rPr>
              <a:t> 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contents</a:t>
            </a:r>
          </a:p>
        </p:txBody>
      </p:sp>
      <p:sp>
        <p:nvSpPr>
          <p:cNvPr id="16" name="object 29">
            <a:extLst>
              <a:ext uri="{FF2B5EF4-FFF2-40B4-BE49-F238E27FC236}">
                <a16:creationId xmlns:a16="http://schemas.microsoft.com/office/drawing/2014/main" id="{4109F8CA-1EEC-4808-B54D-D455B5864444}"/>
              </a:ext>
            </a:extLst>
          </p:cNvPr>
          <p:cNvSpPr txBox="1"/>
          <p:nvPr/>
        </p:nvSpPr>
        <p:spPr>
          <a:xfrm>
            <a:off x="3894476" y="2849736"/>
            <a:ext cx="1565762" cy="320601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spc="-2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캠페인 목표</a:t>
            </a:r>
            <a:r>
              <a:rPr lang="en-US" altLang="ko-KR" sz="900" spc="-2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·KPI·</a:t>
            </a:r>
            <a:r>
              <a:rPr lang="ko-KR" altLang="en-US" sz="900" spc="-2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채널 전략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spc="-2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광고 카피와 </a:t>
            </a:r>
            <a:r>
              <a:rPr lang="en-US" altLang="ko-KR" sz="900" spc="-2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A/B </a:t>
            </a:r>
            <a:r>
              <a:rPr lang="ko-KR" altLang="en-US" sz="900" spc="-2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테스트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8" name="object 29">
            <a:extLst>
              <a:ext uri="{FF2B5EF4-FFF2-40B4-BE49-F238E27FC236}">
                <a16:creationId xmlns:a16="http://schemas.microsoft.com/office/drawing/2014/main" id="{77D74C7E-4D57-4FA3-AD22-06EF74D7CA0B}"/>
              </a:ext>
            </a:extLst>
          </p:cNvPr>
          <p:cNvSpPr txBox="1"/>
          <p:nvPr/>
        </p:nvSpPr>
        <p:spPr>
          <a:xfrm>
            <a:off x="5815840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</a:t>
            </a:r>
            <a:r>
              <a:rPr sz="1200" b="1" spc="-35" dirty="0">
                <a:solidFill>
                  <a:srgbClr val="E5007F"/>
                </a:solidFill>
                <a:latin typeface="Agency FB"/>
                <a:cs typeface="Agency FB"/>
              </a:rPr>
              <a:t> 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contents</a:t>
            </a:r>
          </a:p>
        </p:txBody>
      </p:sp>
      <p:sp>
        <p:nvSpPr>
          <p:cNvPr id="19" name="object 29">
            <a:extLst>
              <a:ext uri="{FF2B5EF4-FFF2-40B4-BE49-F238E27FC236}">
                <a16:creationId xmlns:a16="http://schemas.microsoft.com/office/drawing/2014/main" id="{61FD0E30-0FEB-4CD1-98B4-DD63A29F6922}"/>
              </a:ext>
            </a:extLst>
          </p:cNvPr>
          <p:cNvSpPr txBox="1"/>
          <p:nvPr/>
        </p:nvSpPr>
        <p:spPr>
          <a:xfrm>
            <a:off x="5790405" y="2849736"/>
            <a:ext cx="1689896" cy="320601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인포그래픽 정보 구조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초안 제작과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Illustrator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완성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1" name="object 29">
            <a:extLst>
              <a:ext uri="{FF2B5EF4-FFF2-40B4-BE49-F238E27FC236}">
                <a16:creationId xmlns:a16="http://schemas.microsoft.com/office/drawing/2014/main" id="{B1EE3B08-46E8-459A-95F5-DDC13979843A}"/>
              </a:ext>
            </a:extLst>
          </p:cNvPr>
          <p:cNvSpPr txBox="1"/>
          <p:nvPr/>
        </p:nvSpPr>
        <p:spPr>
          <a:xfrm>
            <a:off x="7711769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</a:t>
            </a:r>
            <a:r>
              <a:rPr sz="1200" b="1" spc="-35" dirty="0">
                <a:solidFill>
                  <a:srgbClr val="E5007F"/>
                </a:solidFill>
                <a:latin typeface="Agency FB"/>
                <a:cs typeface="Agency FB"/>
              </a:rPr>
              <a:t> 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contents</a:t>
            </a:r>
          </a:p>
        </p:txBody>
      </p:sp>
      <p:sp>
        <p:nvSpPr>
          <p:cNvPr id="22" name="object 29">
            <a:extLst>
              <a:ext uri="{FF2B5EF4-FFF2-40B4-BE49-F238E27FC236}">
                <a16:creationId xmlns:a16="http://schemas.microsoft.com/office/drawing/2014/main" id="{24111ED0-AE61-4F0B-B970-0689E75D9658}"/>
              </a:ext>
            </a:extLst>
          </p:cNvPr>
          <p:cNvSpPr txBox="1"/>
          <p:nvPr/>
        </p:nvSpPr>
        <p:spPr>
          <a:xfrm>
            <a:off x="7686333" y="2849736"/>
            <a:ext cx="1817787" cy="320601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en-US" altLang="ko-KR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</a:t>
            </a:r>
            <a:r>
              <a:rPr lang="ko-KR" altLang="en-US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광고 소재와 채널별 변형</a:t>
            </a:r>
          </a:p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ko-KR" altLang="en-US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미니 캠페인 발표와 개선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4AA6D480-0492-407E-8739-ADD04A2CD3E4}"/>
              </a:ext>
            </a:extLst>
          </p:cNvPr>
          <p:cNvSpPr txBox="1"/>
          <p:nvPr/>
        </p:nvSpPr>
        <p:spPr>
          <a:xfrm>
            <a:off x="2020688" y="4715622"/>
            <a:ext cx="1543693" cy="743793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인지부터 재방문까지 고객 흐름 구조화</a:t>
            </a:r>
          </a:p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출처가 포함된 조사 질문 설계</a:t>
            </a:r>
          </a:p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고객 여정 지도와 경쟁사 분석표 제작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마케팅 </a:t>
            </a:r>
            <a:r>
              <a:rPr lang="ko-KR" altLang="en-US" sz="900" spc="-2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퍼널</a:t>
            </a:r>
            <a:r>
              <a:rPr lang="en-US" altLang="ko-KR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 : </a:t>
            </a: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 잠재고객이 브랜드를 처음 인지하고 최종 구매까지의 여정을 깔때기 모양으로 시각화한 비즈니스 모델</a:t>
            </a:r>
            <a:endParaRPr lang="ko-KR" altLang="en-US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4" name="object 30">
            <a:extLst>
              <a:ext uri="{FF2B5EF4-FFF2-40B4-BE49-F238E27FC236}">
                <a16:creationId xmlns:a16="http://schemas.microsoft.com/office/drawing/2014/main" id="{7B954108-A4E1-4490-829E-191F9606F9C4}"/>
              </a:ext>
            </a:extLst>
          </p:cNvPr>
          <p:cNvSpPr txBox="1"/>
          <p:nvPr/>
        </p:nvSpPr>
        <p:spPr>
          <a:xfrm>
            <a:off x="392320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5" name="object 30">
            <a:extLst>
              <a:ext uri="{FF2B5EF4-FFF2-40B4-BE49-F238E27FC236}">
                <a16:creationId xmlns:a16="http://schemas.microsoft.com/office/drawing/2014/main" id="{9AB484B8-3E00-4E98-B9E0-425209614F4C}"/>
              </a:ext>
            </a:extLst>
          </p:cNvPr>
          <p:cNvSpPr txBox="1"/>
          <p:nvPr/>
        </p:nvSpPr>
        <p:spPr>
          <a:xfrm>
            <a:off x="581374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BCC40343-6BB2-4AA6-AE0E-839D00F957FB}"/>
              </a:ext>
            </a:extLst>
          </p:cNvPr>
          <p:cNvSpPr txBox="1"/>
          <p:nvPr/>
        </p:nvSpPr>
        <p:spPr>
          <a:xfrm>
            <a:off x="5828355" y="4715622"/>
            <a:ext cx="1575745" cy="451406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데이터 표와 와이어프레임 구성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레이아웃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차트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아이콘 시안 비교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수치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출처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가독성 검수 후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1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종 완성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7" name="object 30">
            <a:extLst>
              <a:ext uri="{FF2B5EF4-FFF2-40B4-BE49-F238E27FC236}">
                <a16:creationId xmlns:a16="http://schemas.microsoft.com/office/drawing/2014/main" id="{39BC9AD4-7C4A-45C5-BBDE-93E03EF9F990}"/>
              </a:ext>
            </a:extLst>
          </p:cNvPr>
          <p:cNvSpPr txBox="1"/>
          <p:nvPr/>
        </p:nvSpPr>
        <p:spPr>
          <a:xfrm>
            <a:off x="3914557" y="4715622"/>
            <a:ext cx="1545717" cy="451406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SMART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목표와 핵심 지표 설정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채널별 역할과 메시지 설계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카피 변형과 테스트 가설 작성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8" name="object 30">
            <a:extLst>
              <a:ext uri="{FF2B5EF4-FFF2-40B4-BE49-F238E27FC236}">
                <a16:creationId xmlns:a16="http://schemas.microsoft.com/office/drawing/2014/main" id="{E579966B-6E4B-44C9-B19F-E1C5703A8946}"/>
              </a:ext>
            </a:extLst>
          </p:cNvPr>
          <p:cNvSpPr txBox="1"/>
          <p:nvPr/>
        </p:nvSpPr>
        <p:spPr>
          <a:xfrm>
            <a:off x="7711769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DD791843-E8AE-422C-BE30-9AF59A6F9E11}"/>
              </a:ext>
            </a:extLst>
          </p:cNvPr>
          <p:cNvSpPr txBox="1"/>
          <p:nvPr/>
        </p:nvSpPr>
        <p:spPr>
          <a:xfrm>
            <a:off x="7711769" y="4715622"/>
            <a:ext cx="1540290" cy="597599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광고 소재 </a:t>
            </a:r>
            <a:r>
              <a:rPr lang="en-US" altLang="ko-KR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3</a:t>
            </a: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종 제작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조사</a:t>
            </a:r>
            <a:r>
              <a:rPr lang="en-US" altLang="ko-KR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전략</a:t>
            </a:r>
            <a:r>
              <a:rPr lang="en-US" altLang="ko-KR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콘텐츠를 패키지로 통합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모의 성과 분석과 피드백 반영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34" name="object 9"/>
          <p:cNvSpPr txBox="1"/>
          <p:nvPr/>
        </p:nvSpPr>
        <p:spPr>
          <a:xfrm>
            <a:off x="8647142" y="335418"/>
            <a:ext cx="1696720" cy="12439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JP Medium"/>
              </a:rPr>
              <a:t>AI Design Marketing</a:t>
            </a:r>
            <a:endParaRPr sz="7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  <p:sp>
        <p:nvSpPr>
          <p:cNvPr id="40" name="object 28">
            <a:extLst>
              <a:ext uri="{FF2B5EF4-FFF2-40B4-BE49-F238E27FC236}">
                <a16:creationId xmlns:a16="http://schemas.microsoft.com/office/drawing/2014/main" id="{674DB07F-FFD6-4C48-B14C-82B996D78F0E}"/>
              </a:ext>
            </a:extLst>
          </p:cNvPr>
          <p:cNvSpPr txBox="1">
            <a:spLocks/>
          </p:cNvSpPr>
          <p:nvPr/>
        </p:nvSpPr>
        <p:spPr>
          <a:xfrm>
            <a:off x="2023982" y="1636153"/>
            <a:ext cx="7524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>
                <a:solidFill>
                  <a:srgbClr val="E5007F"/>
                </a:solidFill>
                <a:latin typeface="Agency FB"/>
                <a:cs typeface="Agency FB"/>
              </a:rPr>
              <a:t>01</a:t>
            </a:r>
            <a:r>
              <a:rPr lang="en-US" sz="2700" b="1" spc="-15" baseline="1543">
                <a:solidFill>
                  <a:srgbClr val="FFA3D5"/>
                </a:solidFill>
                <a:latin typeface="Agency FB"/>
                <a:cs typeface="Agency FB"/>
              </a:rPr>
              <a:t>week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41" name="object 28">
            <a:extLst>
              <a:ext uri="{FF2B5EF4-FFF2-40B4-BE49-F238E27FC236}">
                <a16:creationId xmlns:a16="http://schemas.microsoft.com/office/drawing/2014/main" id="{1609FB92-A900-42B3-B1AB-B423C4EEDD69}"/>
              </a:ext>
            </a:extLst>
          </p:cNvPr>
          <p:cNvSpPr txBox="1">
            <a:spLocks/>
          </p:cNvSpPr>
          <p:nvPr/>
        </p:nvSpPr>
        <p:spPr>
          <a:xfrm>
            <a:off x="3919911" y="1636153"/>
            <a:ext cx="89338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02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week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42" name="object 28">
            <a:extLst>
              <a:ext uri="{FF2B5EF4-FFF2-40B4-BE49-F238E27FC236}">
                <a16:creationId xmlns:a16="http://schemas.microsoft.com/office/drawing/2014/main" id="{46E815B5-483A-402A-84C8-421B37099091}"/>
              </a:ext>
            </a:extLst>
          </p:cNvPr>
          <p:cNvSpPr txBox="1">
            <a:spLocks/>
          </p:cNvSpPr>
          <p:nvPr/>
        </p:nvSpPr>
        <p:spPr>
          <a:xfrm>
            <a:off x="5815840" y="1636153"/>
            <a:ext cx="90246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03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week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43" name="object 28">
            <a:extLst>
              <a:ext uri="{FF2B5EF4-FFF2-40B4-BE49-F238E27FC236}">
                <a16:creationId xmlns:a16="http://schemas.microsoft.com/office/drawing/2014/main" id="{6F717F56-1F78-468C-837D-D7BBE3675359}"/>
              </a:ext>
            </a:extLst>
          </p:cNvPr>
          <p:cNvSpPr txBox="1">
            <a:spLocks/>
          </p:cNvSpPr>
          <p:nvPr/>
        </p:nvSpPr>
        <p:spPr>
          <a:xfrm>
            <a:off x="7711769" y="1636153"/>
            <a:ext cx="101677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04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week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44" name="object 28">
            <a:extLst>
              <a:ext uri="{FF2B5EF4-FFF2-40B4-BE49-F238E27FC236}">
                <a16:creationId xmlns:a16="http://schemas.microsoft.com/office/drawing/2014/main" id="{18F1641D-480F-4FE9-BF06-8D3185CBE280}"/>
              </a:ext>
            </a:extLst>
          </p:cNvPr>
          <p:cNvSpPr txBox="1">
            <a:spLocks/>
          </p:cNvSpPr>
          <p:nvPr/>
        </p:nvSpPr>
        <p:spPr>
          <a:xfrm>
            <a:off x="2020688" y="508207"/>
            <a:ext cx="4850012" cy="948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</a:t>
            </a:r>
            <a:r>
              <a:rPr lang="ko-KR" altLang="en-US" sz="3500" b="1" spc="-150" dirty="0">
                <a:solidFill>
                  <a:srgbClr val="E5007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gency FB"/>
              </a:rPr>
              <a:t>콘텐츠 마케팅 </a:t>
            </a: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2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Plan</a:t>
            </a:r>
            <a:endParaRPr lang="en-US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</p:spTree>
    <p:extLst>
      <p:ext uri="{BB962C8B-B14F-4D97-AF65-F5344CB8AC3E}">
        <p14:creationId xmlns:p14="http://schemas.microsoft.com/office/powerpoint/2010/main" val="942146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2">
            <a:extLst>
              <a:ext uri="{FF2B5EF4-FFF2-40B4-BE49-F238E27FC236}">
                <a16:creationId xmlns:a16="http://schemas.microsoft.com/office/drawing/2014/main" id="{1A2986A6-9B6A-4EC4-9ED0-028AADFE3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067" y="0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E4F8915-E188-4510-9A9C-8E0DB1CADCD7}"/>
              </a:ext>
            </a:extLst>
          </p:cNvPr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56DF04A-2CFB-478C-A0E7-9654829B2672}"/>
              </a:ext>
            </a:extLst>
          </p:cNvPr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18102E3-AB38-4AF4-94F9-077FD458F004}"/>
              </a:ext>
            </a:extLst>
          </p:cNvPr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E86ED85-5541-4551-A5A8-6BE5B389E8B4}"/>
              </a:ext>
            </a:extLst>
          </p:cNvPr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4F10D15-8DC7-412F-92ED-02981668160D}"/>
              </a:ext>
            </a:extLst>
          </p:cNvPr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F245D2D9-5FA2-45C6-A099-815A1F130C8C}"/>
              </a:ext>
            </a:extLst>
          </p:cNvPr>
          <p:cNvGrpSpPr/>
          <p:nvPr/>
        </p:nvGrpSpPr>
        <p:grpSpPr>
          <a:xfrm>
            <a:off x="8532021" y="6992183"/>
            <a:ext cx="447675" cy="198755"/>
            <a:chOff x="8532021" y="6992183"/>
            <a:chExt cx="447675" cy="198755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E215CA01-B36B-4626-8FC4-F01E5FCE823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5119" y="7039173"/>
              <a:ext cx="224348" cy="100524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00A18164-2EA3-4AF6-B785-8902309F5A3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2021" y="6992183"/>
              <a:ext cx="196524" cy="198570"/>
            </a:xfrm>
            <a:prstGeom prst="rect">
              <a:avLst/>
            </a:prstGeom>
          </p:spPr>
        </p:pic>
      </p:grpSp>
      <p:sp>
        <p:nvSpPr>
          <p:cNvPr id="11" name="object 29">
            <a:extLst>
              <a:ext uri="{FF2B5EF4-FFF2-40B4-BE49-F238E27FC236}">
                <a16:creationId xmlns:a16="http://schemas.microsoft.com/office/drawing/2014/main" id="{290533C2-A964-449B-AE0F-4BDB45BE9F3E}"/>
              </a:ext>
            </a:extLst>
          </p:cNvPr>
          <p:cNvSpPr txBox="1"/>
          <p:nvPr/>
        </p:nvSpPr>
        <p:spPr>
          <a:xfrm>
            <a:off x="2023982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</a:t>
            </a:r>
            <a:r>
              <a:rPr sz="1200" b="1" spc="-35" dirty="0">
                <a:solidFill>
                  <a:srgbClr val="E5007F"/>
                </a:solidFill>
                <a:latin typeface="Agency FB"/>
                <a:cs typeface="Agency FB"/>
              </a:rPr>
              <a:t> 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contents</a:t>
            </a:r>
          </a:p>
        </p:txBody>
      </p:sp>
      <p:sp>
        <p:nvSpPr>
          <p:cNvPr id="12" name="object 30">
            <a:extLst>
              <a:ext uri="{FF2B5EF4-FFF2-40B4-BE49-F238E27FC236}">
                <a16:creationId xmlns:a16="http://schemas.microsoft.com/office/drawing/2014/main" id="{F7C4E564-6AEC-4EC9-B15D-C12E5761A953}"/>
              </a:ext>
            </a:extLst>
          </p:cNvPr>
          <p:cNvSpPr txBox="1"/>
          <p:nvPr/>
        </p:nvSpPr>
        <p:spPr>
          <a:xfrm>
            <a:off x="2023982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13" name="object 29">
            <a:extLst>
              <a:ext uri="{FF2B5EF4-FFF2-40B4-BE49-F238E27FC236}">
                <a16:creationId xmlns:a16="http://schemas.microsoft.com/office/drawing/2014/main" id="{D5D57DA2-F3B1-4DC3-A836-2B2CB0F3D7AE}"/>
              </a:ext>
            </a:extLst>
          </p:cNvPr>
          <p:cNvSpPr txBox="1"/>
          <p:nvPr/>
        </p:nvSpPr>
        <p:spPr>
          <a:xfrm>
            <a:off x="1998547" y="2849736"/>
            <a:ext cx="1671754" cy="474489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289560" indent="-171450" algn="l"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브랜드 마스터 프롬프트</a:t>
            </a:r>
          </a:p>
          <a:p>
            <a:pPr marL="206375" marR="289560" indent="-171450" algn="l">
              <a:buFont typeface="Arial" panose="020B0604020202020204" pitchFamily="34" charset="0"/>
              <a:buChar char="•"/>
            </a:pP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</a:t>
            </a: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마케팅 제작 시스템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5" name="object 29">
            <a:extLst>
              <a:ext uri="{FF2B5EF4-FFF2-40B4-BE49-F238E27FC236}">
                <a16:creationId xmlns:a16="http://schemas.microsoft.com/office/drawing/2014/main" id="{7EFB22D2-531E-4C44-B2F5-02CFEC63F7B5}"/>
              </a:ext>
            </a:extLst>
          </p:cNvPr>
          <p:cNvSpPr txBox="1"/>
          <p:nvPr/>
        </p:nvSpPr>
        <p:spPr>
          <a:xfrm>
            <a:off x="3919911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</a:t>
            </a:r>
            <a:r>
              <a:rPr sz="1200" b="1" spc="-35" dirty="0">
                <a:solidFill>
                  <a:srgbClr val="E5007F"/>
                </a:solidFill>
                <a:latin typeface="Agency FB"/>
                <a:cs typeface="Agency FB"/>
              </a:rPr>
              <a:t> 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contents</a:t>
            </a:r>
          </a:p>
        </p:txBody>
      </p:sp>
      <p:sp>
        <p:nvSpPr>
          <p:cNvPr id="16" name="object 29">
            <a:extLst>
              <a:ext uri="{FF2B5EF4-FFF2-40B4-BE49-F238E27FC236}">
                <a16:creationId xmlns:a16="http://schemas.microsoft.com/office/drawing/2014/main" id="{4109F8CA-1EEC-4808-B54D-D455B5864444}"/>
              </a:ext>
            </a:extLst>
          </p:cNvPr>
          <p:cNvSpPr txBox="1"/>
          <p:nvPr/>
        </p:nvSpPr>
        <p:spPr>
          <a:xfrm>
            <a:off x="3894476" y="2849736"/>
            <a:ext cx="1565762" cy="320601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spc="-2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숏폼 광고 영상 기획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en-US" altLang="ko-KR" sz="900" spc="-2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</a:t>
            </a:r>
            <a:r>
              <a:rPr lang="ko-KR" altLang="en-US" sz="900" spc="-2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대본과 스토리보드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8" name="object 29">
            <a:extLst>
              <a:ext uri="{FF2B5EF4-FFF2-40B4-BE49-F238E27FC236}">
                <a16:creationId xmlns:a16="http://schemas.microsoft.com/office/drawing/2014/main" id="{77D74C7E-4D57-4FA3-AD22-06EF74D7CA0B}"/>
              </a:ext>
            </a:extLst>
          </p:cNvPr>
          <p:cNvSpPr txBox="1"/>
          <p:nvPr/>
        </p:nvSpPr>
        <p:spPr>
          <a:xfrm>
            <a:off x="5815840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</a:t>
            </a:r>
            <a:r>
              <a:rPr sz="1200" b="1" spc="-35" dirty="0">
                <a:solidFill>
                  <a:srgbClr val="E5007F"/>
                </a:solidFill>
                <a:latin typeface="Agency FB"/>
                <a:cs typeface="Agency FB"/>
              </a:rPr>
              <a:t> 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contents</a:t>
            </a:r>
          </a:p>
        </p:txBody>
      </p:sp>
      <p:sp>
        <p:nvSpPr>
          <p:cNvPr id="19" name="object 29">
            <a:extLst>
              <a:ext uri="{FF2B5EF4-FFF2-40B4-BE49-F238E27FC236}">
                <a16:creationId xmlns:a16="http://schemas.microsoft.com/office/drawing/2014/main" id="{61FD0E30-0FEB-4CD1-98B4-DD63A29F6922}"/>
              </a:ext>
            </a:extLst>
          </p:cNvPr>
          <p:cNvSpPr txBox="1"/>
          <p:nvPr/>
        </p:nvSpPr>
        <p:spPr>
          <a:xfrm>
            <a:off x="5790405" y="2849736"/>
            <a:ext cx="1689896" cy="320601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영상 소스 제작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영상 보정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편집과 최종 검수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1" name="object 29">
            <a:extLst>
              <a:ext uri="{FF2B5EF4-FFF2-40B4-BE49-F238E27FC236}">
                <a16:creationId xmlns:a16="http://schemas.microsoft.com/office/drawing/2014/main" id="{B1EE3B08-46E8-459A-95F5-DDC13979843A}"/>
              </a:ext>
            </a:extLst>
          </p:cNvPr>
          <p:cNvSpPr txBox="1"/>
          <p:nvPr/>
        </p:nvSpPr>
        <p:spPr>
          <a:xfrm>
            <a:off x="7711769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</a:t>
            </a:r>
            <a:r>
              <a:rPr sz="1200" b="1" spc="-35" dirty="0">
                <a:solidFill>
                  <a:srgbClr val="E5007F"/>
                </a:solidFill>
                <a:latin typeface="Agency FB"/>
                <a:cs typeface="Agency FB"/>
              </a:rPr>
              <a:t> 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contents</a:t>
            </a:r>
          </a:p>
        </p:txBody>
      </p:sp>
      <p:sp>
        <p:nvSpPr>
          <p:cNvPr id="22" name="object 29">
            <a:extLst>
              <a:ext uri="{FF2B5EF4-FFF2-40B4-BE49-F238E27FC236}">
                <a16:creationId xmlns:a16="http://schemas.microsoft.com/office/drawing/2014/main" id="{24111ED0-AE61-4F0B-B970-0689E75D9658}"/>
              </a:ext>
            </a:extLst>
          </p:cNvPr>
          <p:cNvSpPr txBox="1"/>
          <p:nvPr/>
        </p:nvSpPr>
        <p:spPr>
          <a:xfrm>
            <a:off x="7686333" y="2849736"/>
            <a:ext cx="1817787" cy="320601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ko-KR" altLang="en-US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마케팅 랜딩페이지 기획</a:t>
            </a:r>
          </a:p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en-US" altLang="ko-KR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</a:t>
            </a:r>
            <a:r>
              <a:rPr lang="ko-KR" altLang="en-US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바이브 코딩으로 웹 초안 제작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4AA6D480-0492-407E-8739-ADD04A2CD3E4}"/>
              </a:ext>
            </a:extLst>
          </p:cNvPr>
          <p:cNvSpPr txBox="1"/>
          <p:nvPr/>
        </p:nvSpPr>
        <p:spPr>
          <a:xfrm>
            <a:off x="2020688" y="4715622"/>
            <a:ext cx="1543693" cy="743793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ko-KR" altLang="en-US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브랜드 정보</a:t>
            </a:r>
            <a:r>
              <a:rPr lang="en-US" altLang="ko-KR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타깃</a:t>
            </a:r>
            <a:r>
              <a:rPr lang="en-US" altLang="ko-KR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톤앤매너 기준 정리</a:t>
            </a:r>
          </a:p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ko-KR" altLang="en-US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반복 가능한 조사→제작→검수 흐름 설계</a:t>
            </a:r>
          </a:p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ko-KR" altLang="en-US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프롬프트</a:t>
            </a:r>
            <a:r>
              <a:rPr lang="en-US" altLang="ko-KR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템플릿</a:t>
            </a:r>
            <a:r>
              <a:rPr lang="en-US" altLang="ko-KR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체크리스트 제작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4" name="object 30">
            <a:extLst>
              <a:ext uri="{FF2B5EF4-FFF2-40B4-BE49-F238E27FC236}">
                <a16:creationId xmlns:a16="http://schemas.microsoft.com/office/drawing/2014/main" id="{7B954108-A4E1-4490-829E-191F9606F9C4}"/>
              </a:ext>
            </a:extLst>
          </p:cNvPr>
          <p:cNvSpPr txBox="1"/>
          <p:nvPr/>
        </p:nvSpPr>
        <p:spPr>
          <a:xfrm>
            <a:off x="392320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5" name="object 30">
            <a:extLst>
              <a:ext uri="{FF2B5EF4-FFF2-40B4-BE49-F238E27FC236}">
                <a16:creationId xmlns:a16="http://schemas.microsoft.com/office/drawing/2014/main" id="{9AB484B8-3E00-4E98-B9E0-425209614F4C}"/>
              </a:ext>
            </a:extLst>
          </p:cNvPr>
          <p:cNvSpPr txBox="1"/>
          <p:nvPr/>
        </p:nvSpPr>
        <p:spPr>
          <a:xfrm>
            <a:off x="581374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BCC40343-6BB2-4AA6-AE0E-839D00F957FB}"/>
              </a:ext>
            </a:extLst>
          </p:cNvPr>
          <p:cNvSpPr txBox="1"/>
          <p:nvPr/>
        </p:nvSpPr>
        <p:spPr>
          <a:xfrm>
            <a:off x="5828355" y="4715622"/>
            <a:ext cx="1575745" cy="451406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브랜드 스타일이 유지된 장면 소스 제작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Photoshop·Illustrator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로 이미지와 그래픽 보정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20~30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초 홍보 영상과 검수표 완성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7" name="object 30">
            <a:extLst>
              <a:ext uri="{FF2B5EF4-FFF2-40B4-BE49-F238E27FC236}">
                <a16:creationId xmlns:a16="http://schemas.microsoft.com/office/drawing/2014/main" id="{39BC9AD4-7C4A-45C5-BBDE-93E03EF9F990}"/>
              </a:ext>
            </a:extLst>
          </p:cNvPr>
          <p:cNvSpPr txBox="1"/>
          <p:nvPr/>
        </p:nvSpPr>
        <p:spPr>
          <a:xfrm>
            <a:off x="3914557" y="4715622"/>
            <a:ext cx="1545717" cy="451406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후킹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문제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해결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·CTA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영상 구조 설계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시간대별 장면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자막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내레이션 작성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장면 프롬프트와 스토리보드 제작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8" name="object 30">
            <a:extLst>
              <a:ext uri="{FF2B5EF4-FFF2-40B4-BE49-F238E27FC236}">
                <a16:creationId xmlns:a16="http://schemas.microsoft.com/office/drawing/2014/main" id="{E579966B-6E4B-44C9-B19F-E1C5703A8946}"/>
              </a:ext>
            </a:extLst>
          </p:cNvPr>
          <p:cNvSpPr txBox="1"/>
          <p:nvPr/>
        </p:nvSpPr>
        <p:spPr>
          <a:xfrm>
            <a:off x="7711769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DD791843-E8AE-422C-BE30-9AF59A6F9E11}"/>
              </a:ext>
            </a:extLst>
          </p:cNvPr>
          <p:cNvSpPr txBox="1"/>
          <p:nvPr/>
        </p:nvSpPr>
        <p:spPr>
          <a:xfrm>
            <a:off x="7711769" y="4715622"/>
            <a:ext cx="1540290" cy="597599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히어로</a:t>
            </a:r>
            <a:r>
              <a:rPr lang="en-US" altLang="ko-KR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편익</a:t>
            </a:r>
            <a:r>
              <a:rPr lang="en-US" altLang="ko-KR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근거</a:t>
            </a:r>
            <a:r>
              <a:rPr lang="en-US" altLang="ko-KR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·FAQ·CTA </a:t>
            </a: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구조 설계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사이트맵</a:t>
            </a:r>
            <a:r>
              <a:rPr lang="en-US" altLang="ko-KR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와이어프레임</a:t>
            </a:r>
            <a:r>
              <a:rPr lang="en-US" altLang="ko-KR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섹션별 카피 작성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en-US" altLang="ko-KR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HTML·CSS </a:t>
            </a: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생성 코드 실행 및 수정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34" name="object 9"/>
          <p:cNvSpPr txBox="1"/>
          <p:nvPr/>
        </p:nvSpPr>
        <p:spPr>
          <a:xfrm>
            <a:off x="8647142" y="335418"/>
            <a:ext cx="1696720" cy="12439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JP Medium"/>
              </a:rPr>
              <a:t>AI Design Marketing</a:t>
            </a:r>
            <a:endParaRPr sz="7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  <p:sp>
        <p:nvSpPr>
          <p:cNvPr id="35" name="object 28">
            <a:extLst>
              <a:ext uri="{FF2B5EF4-FFF2-40B4-BE49-F238E27FC236}">
                <a16:creationId xmlns:a16="http://schemas.microsoft.com/office/drawing/2014/main" id="{1AB9F5EB-D4FC-4E32-8D8F-7451B1219972}"/>
              </a:ext>
            </a:extLst>
          </p:cNvPr>
          <p:cNvSpPr txBox="1">
            <a:spLocks/>
          </p:cNvSpPr>
          <p:nvPr/>
        </p:nvSpPr>
        <p:spPr>
          <a:xfrm>
            <a:off x="2023982" y="1636153"/>
            <a:ext cx="7524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>
                <a:solidFill>
                  <a:srgbClr val="E5007F"/>
                </a:solidFill>
                <a:latin typeface="Agency FB"/>
                <a:cs typeface="Agency FB"/>
              </a:rPr>
              <a:t>01</a:t>
            </a:r>
            <a:r>
              <a:rPr lang="en-US" sz="2700" b="1" spc="-15" baseline="1543">
                <a:solidFill>
                  <a:srgbClr val="FFA3D5"/>
                </a:solidFill>
                <a:latin typeface="Agency FB"/>
                <a:cs typeface="Agency FB"/>
              </a:rPr>
              <a:t>week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36" name="object 28">
            <a:extLst>
              <a:ext uri="{FF2B5EF4-FFF2-40B4-BE49-F238E27FC236}">
                <a16:creationId xmlns:a16="http://schemas.microsoft.com/office/drawing/2014/main" id="{3210E36E-EF26-480A-BEF2-F286420BD187}"/>
              </a:ext>
            </a:extLst>
          </p:cNvPr>
          <p:cNvSpPr txBox="1">
            <a:spLocks/>
          </p:cNvSpPr>
          <p:nvPr/>
        </p:nvSpPr>
        <p:spPr>
          <a:xfrm>
            <a:off x="3919911" y="1636153"/>
            <a:ext cx="89338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02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week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EFF9D527-F3B0-4B16-AEDB-F46CF7C2696A}"/>
              </a:ext>
            </a:extLst>
          </p:cNvPr>
          <p:cNvSpPr txBox="1">
            <a:spLocks/>
          </p:cNvSpPr>
          <p:nvPr/>
        </p:nvSpPr>
        <p:spPr>
          <a:xfrm>
            <a:off x="5815840" y="1636153"/>
            <a:ext cx="90246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03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week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38" name="object 28">
            <a:extLst>
              <a:ext uri="{FF2B5EF4-FFF2-40B4-BE49-F238E27FC236}">
                <a16:creationId xmlns:a16="http://schemas.microsoft.com/office/drawing/2014/main" id="{C563293B-3290-4748-89BA-872B2B71257C}"/>
              </a:ext>
            </a:extLst>
          </p:cNvPr>
          <p:cNvSpPr txBox="1">
            <a:spLocks/>
          </p:cNvSpPr>
          <p:nvPr/>
        </p:nvSpPr>
        <p:spPr>
          <a:xfrm>
            <a:off x="7711769" y="1636153"/>
            <a:ext cx="101677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04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week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39" name="object 28">
            <a:extLst>
              <a:ext uri="{FF2B5EF4-FFF2-40B4-BE49-F238E27FC236}">
                <a16:creationId xmlns:a16="http://schemas.microsoft.com/office/drawing/2014/main" id="{9D003500-1544-4906-8669-4E401A0A4A47}"/>
              </a:ext>
            </a:extLst>
          </p:cNvPr>
          <p:cNvSpPr txBox="1">
            <a:spLocks/>
          </p:cNvSpPr>
          <p:nvPr/>
        </p:nvSpPr>
        <p:spPr>
          <a:xfrm>
            <a:off x="2020688" y="508207"/>
            <a:ext cx="4850012" cy="948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</a:t>
            </a:r>
            <a:r>
              <a:rPr lang="ko-KR" altLang="en-US" sz="3500" b="1" spc="-150" dirty="0">
                <a:solidFill>
                  <a:srgbClr val="E5007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gency FB"/>
              </a:rPr>
              <a:t>콘텐츠 마케팅 </a:t>
            </a: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3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Plan</a:t>
            </a:r>
            <a:endParaRPr lang="en-US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</p:spTree>
    <p:extLst>
      <p:ext uri="{BB962C8B-B14F-4D97-AF65-F5344CB8AC3E}">
        <p14:creationId xmlns:p14="http://schemas.microsoft.com/office/powerpoint/2010/main" val="599287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2">
            <a:extLst>
              <a:ext uri="{FF2B5EF4-FFF2-40B4-BE49-F238E27FC236}">
                <a16:creationId xmlns:a16="http://schemas.microsoft.com/office/drawing/2014/main" id="{1A2986A6-9B6A-4EC4-9ED0-028AADFE3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067" y="0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E4F8915-E188-4510-9A9C-8E0DB1CADCD7}"/>
              </a:ext>
            </a:extLst>
          </p:cNvPr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56DF04A-2CFB-478C-A0E7-9654829B2672}"/>
              </a:ext>
            </a:extLst>
          </p:cNvPr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18102E3-AB38-4AF4-94F9-077FD458F004}"/>
              </a:ext>
            </a:extLst>
          </p:cNvPr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E86ED85-5541-4551-A5A8-6BE5B389E8B4}"/>
              </a:ext>
            </a:extLst>
          </p:cNvPr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4F10D15-8DC7-412F-92ED-02981668160D}"/>
              </a:ext>
            </a:extLst>
          </p:cNvPr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F245D2D9-5FA2-45C6-A099-815A1F130C8C}"/>
              </a:ext>
            </a:extLst>
          </p:cNvPr>
          <p:cNvGrpSpPr/>
          <p:nvPr/>
        </p:nvGrpSpPr>
        <p:grpSpPr>
          <a:xfrm>
            <a:off x="8532021" y="6992183"/>
            <a:ext cx="447675" cy="198755"/>
            <a:chOff x="8532021" y="6992183"/>
            <a:chExt cx="447675" cy="198755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E215CA01-B36B-4626-8FC4-F01E5FCE823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5119" y="7039173"/>
              <a:ext cx="224348" cy="100524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00A18164-2EA3-4AF6-B785-8902309F5A3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2021" y="6992183"/>
              <a:ext cx="196524" cy="198570"/>
            </a:xfrm>
            <a:prstGeom prst="rect">
              <a:avLst/>
            </a:prstGeom>
          </p:spPr>
        </p:pic>
      </p:grpSp>
      <p:sp>
        <p:nvSpPr>
          <p:cNvPr id="11" name="object 29">
            <a:extLst>
              <a:ext uri="{FF2B5EF4-FFF2-40B4-BE49-F238E27FC236}">
                <a16:creationId xmlns:a16="http://schemas.microsoft.com/office/drawing/2014/main" id="{290533C2-A964-449B-AE0F-4BDB45BE9F3E}"/>
              </a:ext>
            </a:extLst>
          </p:cNvPr>
          <p:cNvSpPr txBox="1"/>
          <p:nvPr/>
        </p:nvSpPr>
        <p:spPr>
          <a:xfrm>
            <a:off x="2023982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</a:t>
            </a:r>
            <a:r>
              <a:rPr sz="1200" b="1" spc="-35" dirty="0">
                <a:solidFill>
                  <a:srgbClr val="E5007F"/>
                </a:solidFill>
                <a:latin typeface="Agency FB"/>
                <a:cs typeface="Agency FB"/>
              </a:rPr>
              <a:t> 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contents</a:t>
            </a:r>
          </a:p>
        </p:txBody>
      </p:sp>
      <p:sp>
        <p:nvSpPr>
          <p:cNvPr id="12" name="object 30">
            <a:extLst>
              <a:ext uri="{FF2B5EF4-FFF2-40B4-BE49-F238E27FC236}">
                <a16:creationId xmlns:a16="http://schemas.microsoft.com/office/drawing/2014/main" id="{F7C4E564-6AEC-4EC9-B15D-C12E5761A953}"/>
              </a:ext>
            </a:extLst>
          </p:cNvPr>
          <p:cNvSpPr txBox="1"/>
          <p:nvPr/>
        </p:nvSpPr>
        <p:spPr>
          <a:xfrm>
            <a:off x="2023982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13" name="object 29">
            <a:extLst>
              <a:ext uri="{FF2B5EF4-FFF2-40B4-BE49-F238E27FC236}">
                <a16:creationId xmlns:a16="http://schemas.microsoft.com/office/drawing/2014/main" id="{D5D57DA2-F3B1-4DC3-A836-2B2CB0F3D7AE}"/>
              </a:ext>
            </a:extLst>
          </p:cNvPr>
          <p:cNvSpPr txBox="1"/>
          <p:nvPr/>
        </p:nvSpPr>
        <p:spPr>
          <a:xfrm>
            <a:off x="1998547" y="2925936"/>
            <a:ext cx="1671754" cy="474489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289560" indent="-171450" algn="l"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랜딩페이지 디자인 </a:t>
            </a:r>
            <a:r>
              <a:rPr lang="ko-KR" altLang="en-US" sz="900" spc="-2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에셋</a:t>
            </a: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 제작</a:t>
            </a:r>
          </a:p>
          <a:p>
            <a:pPr marL="206375" marR="289560" indent="-171450" algn="l"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랜딩페이지 디자인 고도화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5" name="object 29">
            <a:extLst>
              <a:ext uri="{FF2B5EF4-FFF2-40B4-BE49-F238E27FC236}">
                <a16:creationId xmlns:a16="http://schemas.microsoft.com/office/drawing/2014/main" id="{7EFB22D2-531E-4C44-B2F5-02CFEC63F7B5}"/>
              </a:ext>
            </a:extLst>
          </p:cNvPr>
          <p:cNvSpPr txBox="1"/>
          <p:nvPr/>
        </p:nvSpPr>
        <p:spPr>
          <a:xfrm>
            <a:off x="3919911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</a:t>
            </a:r>
            <a:r>
              <a:rPr sz="1200" b="1" spc="-35" dirty="0">
                <a:solidFill>
                  <a:srgbClr val="E5007F"/>
                </a:solidFill>
                <a:latin typeface="Agency FB"/>
                <a:cs typeface="Agency FB"/>
              </a:rPr>
              <a:t> 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contents</a:t>
            </a:r>
          </a:p>
        </p:txBody>
      </p:sp>
      <p:sp>
        <p:nvSpPr>
          <p:cNvPr id="16" name="object 29">
            <a:extLst>
              <a:ext uri="{FF2B5EF4-FFF2-40B4-BE49-F238E27FC236}">
                <a16:creationId xmlns:a16="http://schemas.microsoft.com/office/drawing/2014/main" id="{4109F8CA-1EEC-4808-B54D-D455B5864444}"/>
              </a:ext>
            </a:extLst>
          </p:cNvPr>
          <p:cNvSpPr txBox="1"/>
          <p:nvPr/>
        </p:nvSpPr>
        <p:spPr>
          <a:xfrm>
            <a:off x="3894476" y="2925936"/>
            <a:ext cx="1565762" cy="320601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spc="-2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반응형</a:t>
            </a:r>
            <a:r>
              <a:rPr lang="en-US" altLang="ko-KR" sz="900" spc="-2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2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접근성</a:t>
            </a:r>
            <a:r>
              <a:rPr lang="en-US" altLang="ko-KR" sz="900" spc="-2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2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전환 검수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spc="-2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최종 통합 캠페인 설계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8" name="object 29">
            <a:extLst>
              <a:ext uri="{FF2B5EF4-FFF2-40B4-BE49-F238E27FC236}">
                <a16:creationId xmlns:a16="http://schemas.microsoft.com/office/drawing/2014/main" id="{77D74C7E-4D57-4FA3-AD22-06EF74D7CA0B}"/>
              </a:ext>
            </a:extLst>
          </p:cNvPr>
          <p:cNvSpPr txBox="1"/>
          <p:nvPr/>
        </p:nvSpPr>
        <p:spPr>
          <a:xfrm>
            <a:off x="5815840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</a:t>
            </a:r>
            <a:r>
              <a:rPr sz="1200" b="1" spc="-35" dirty="0">
                <a:solidFill>
                  <a:srgbClr val="E5007F"/>
                </a:solidFill>
                <a:latin typeface="Agency FB"/>
                <a:cs typeface="Agency FB"/>
              </a:rPr>
              <a:t> 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contents</a:t>
            </a:r>
          </a:p>
        </p:txBody>
      </p:sp>
      <p:sp>
        <p:nvSpPr>
          <p:cNvPr id="19" name="object 29">
            <a:extLst>
              <a:ext uri="{FF2B5EF4-FFF2-40B4-BE49-F238E27FC236}">
                <a16:creationId xmlns:a16="http://schemas.microsoft.com/office/drawing/2014/main" id="{61FD0E30-0FEB-4CD1-98B4-DD63A29F6922}"/>
              </a:ext>
            </a:extLst>
          </p:cNvPr>
          <p:cNvSpPr txBox="1"/>
          <p:nvPr/>
        </p:nvSpPr>
        <p:spPr>
          <a:xfrm>
            <a:off x="5790405" y="2925936"/>
            <a:ext cx="1689896" cy="320601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조사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전략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·AI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활용 과정 정리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마케팅 프로세스 시각화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1" name="object 29">
            <a:extLst>
              <a:ext uri="{FF2B5EF4-FFF2-40B4-BE49-F238E27FC236}">
                <a16:creationId xmlns:a16="http://schemas.microsoft.com/office/drawing/2014/main" id="{B1EE3B08-46E8-459A-95F5-DDC13979843A}"/>
              </a:ext>
            </a:extLst>
          </p:cNvPr>
          <p:cNvSpPr txBox="1"/>
          <p:nvPr/>
        </p:nvSpPr>
        <p:spPr>
          <a:xfrm>
            <a:off x="7711769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</a:t>
            </a:r>
            <a:r>
              <a:rPr sz="1200" b="1" spc="-35" dirty="0">
                <a:solidFill>
                  <a:srgbClr val="E5007F"/>
                </a:solidFill>
                <a:latin typeface="Agency FB"/>
                <a:cs typeface="Agency FB"/>
              </a:rPr>
              <a:t> 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contents</a:t>
            </a:r>
          </a:p>
        </p:txBody>
      </p:sp>
      <p:sp>
        <p:nvSpPr>
          <p:cNvPr id="22" name="object 29">
            <a:extLst>
              <a:ext uri="{FF2B5EF4-FFF2-40B4-BE49-F238E27FC236}">
                <a16:creationId xmlns:a16="http://schemas.microsoft.com/office/drawing/2014/main" id="{24111ED0-AE61-4F0B-B970-0689E75D9658}"/>
              </a:ext>
            </a:extLst>
          </p:cNvPr>
          <p:cNvSpPr txBox="1"/>
          <p:nvPr/>
        </p:nvSpPr>
        <p:spPr>
          <a:xfrm>
            <a:off x="7686333" y="2925936"/>
            <a:ext cx="1817787" cy="320601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개별 프로젝트 프로세스 제작</a:t>
            </a:r>
          </a:p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포트폴리오 케이스 스터디 완성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4AA6D480-0492-407E-8739-ADD04A2CD3E4}"/>
              </a:ext>
            </a:extLst>
          </p:cNvPr>
          <p:cNvSpPr txBox="1"/>
          <p:nvPr/>
        </p:nvSpPr>
        <p:spPr>
          <a:xfrm>
            <a:off x="2020688" y="4715622"/>
            <a:ext cx="1543693" cy="743793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ko-KR" altLang="en-US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웹용 이미지</a:t>
            </a:r>
            <a:r>
              <a:rPr lang="en-US" altLang="ko-KR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배너</a:t>
            </a:r>
            <a:r>
              <a:rPr lang="en-US" altLang="ko-KR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아이콘 최적화</a:t>
            </a:r>
          </a:p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ko-KR" altLang="en-US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콘텐츠 위계와 신뢰 요소 강화</a:t>
            </a:r>
          </a:p>
          <a:p>
            <a:pPr marL="206375" indent="-171450" algn="l">
              <a:buFont typeface="Arial" panose="020B0604020202020204" pitchFamily="34" charset="0"/>
              <a:buChar char="•"/>
            </a:pPr>
            <a:r>
              <a:rPr lang="ko-KR" altLang="en-US" sz="900" spc="-1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브랜드 디자인이 적용된 페이지 완성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4" name="object 30">
            <a:extLst>
              <a:ext uri="{FF2B5EF4-FFF2-40B4-BE49-F238E27FC236}">
                <a16:creationId xmlns:a16="http://schemas.microsoft.com/office/drawing/2014/main" id="{7B954108-A4E1-4490-829E-191F9606F9C4}"/>
              </a:ext>
            </a:extLst>
          </p:cNvPr>
          <p:cNvSpPr txBox="1"/>
          <p:nvPr/>
        </p:nvSpPr>
        <p:spPr>
          <a:xfrm>
            <a:off x="392320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5" name="object 30">
            <a:extLst>
              <a:ext uri="{FF2B5EF4-FFF2-40B4-BE49-F238E27FC236}">
                <a16:creationId xmlns:a16="http://schemas.microsoft.com/office/drawing/2014/main" id="{9AB484B8-3E00-4E98-B9E0-425209614F4C}"/>
              </a:ext>
            </a:extLst>
          </p:cNvPr>
          <p:cNvSpPr txBox="1"/>
          <p:nvPr/>
        </p:nvSpPr>
        <p:spPr>
          <a:xfrm>
            <a:off x="581374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BCC40343-6BB2-4AA6-AE0E-839D00F957FB}"/>
              </a:ext>
            </a:extLst>
          </p:cNvPr>
          <p:cNvSpPr txBox="1"/>
          <p:nvPr/>
        </p:nvSpPr>
        <p:spPr>
          <a:xfrm>
            <a:off x="5828355" y="4715622"/>
            <a:ext cx="1575745" cy="451406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프롬프트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시안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수정 기록 정리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증빙 자료 목록과 프로세스 원고 제작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타임라인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퍼널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다이어그램으로 과정 시각화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7" name="object 30">
            <a:extLst>
              <a:ext uri="{FF2B5EF4-FFF2-40B4-BE49-F238E27FC236}">
                <a16:creationId xmlns:a16="http://schemas.microsoft.com/office/drawing/2014/main" id="{39BC9AD4-7C4A-45C5-BBDE-93E03EF9F990}"/>
              </a:ext>
            </a:extLst>
          </p:cNvPr>
          <p:cNvSpPr txBox="1"/>
          <p:nvPr/>
        </p:nvSpPr>
        <p:spPr>
          <a:xfrm>
            <a:off x="3914557" y="4715622"/>
            <a:ext cx="1545717" cy="451406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모바일 대응과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CTA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작동 확인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를 이용한 코드 오류 진단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문제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목표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·KPI·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타깃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채널 실행 계획 수립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8" name="object 30">
            <a:extLst>
              <a:ext uri="{FF2B5EF4-FFF2-40B4-BE49-F238E27FC236}">
                <a16:creationId xmlns:a16="http://schemas.microsoft.com/office/drawing/2014/main" id="{E579966B-6E4B-44C9-B19F-E1C5703A8946}"/>
              </a:ext>
            </a:extLst>
          </p:cNvPr>
          <p:cNvSpPr txBox="1"/>
          <p:nvPr/>
        </p:nvSpPr>
        <p:spPr>
          <a:xfrm>
            <a:off x="7711769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DD791843-E8AE-422C-BE30-9AF59A6F9E11}"/>
              </a:ext>
            </a:extLst>
          </p:cNvPr>
          <p:cNvSpPr txBox="1"/>
          <p:nvPr/>
        </p:nvSpPr>
        <p:spPr>
          <a:xfrm>
            <a:off x="7711769" y="4715622"/>
            <a:ext cx="1540290" cy="597599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개인별 작업 순서와 </a:t>
            </a:r>
            <a:r>
              <a:rPr lang="en-US" altLang="ko-KR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</a:t>
            </a: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활용 흐름 설계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조사</a:t>
            </a:r>
            <a:r>
              <a:rPr lang="en-US" altLang="ko-KR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전략</a:t>
            </a:r>
            <a:r>
              <a:rPr lang="en-US" altLang="ko-KR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제작</a:t>
            </a:r>
            <a:r>
              <a:rPr lang="en-US" altLang="ko-KR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검수</a:t>
            </a:r>
            <a:r>
              <a:rPr lang="en-US" altLang="ko-KR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·</a:t>
            </a: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개선 과정을 시각화</a:t>
            </a:r>
          </a:p>
          <a:p>
            <a:pPr marL="206375" marR="5080" indent="-171450" algn="l">
              <a:buFont typeface="Arial" panose="020B0604020202020204" pitchFamily="34" charset="0"/>
              <a:buChar char="•"/>
            </a:pPr>
            <a:r>
              <a:rPr lang="ko-KR" altLang="en-US" sz="900" spc="-35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프로세스 기반 발표 자료와 제출 패키지 완성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34" name="object 9"/>
          <p:cNvSpPr txBox="1"/>
          <p:nvPr/>
        </p:nvSpPr>
        <p:spPr>
          <a:xfrm>
            <a:off x="8647142" y="335418"/>
            <a:ext cx="1696720" cy="12439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JP Medium"/>
              </a:rPr>
              <a:t>AI Design Marketing</a:t>
            </a:r>
            <a:endParaRPr sz="7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  <p:sp>
        <p:nvSpPr>
          <p:cNvPr id="35" name="object 28">
            <a:extLst>
              <a:ext uri="{FF2B5EF4-FFF2-40B4-BE49-F238E27FC236}">
                <a16:creationId xmlns:a16="http://schemas.microsoft.com/office/drawing/2014/main" id="{518C8C28-8A07-4443-861B-D81649CD133D}"/>
              </a:ext>
            </a:extLst>
          </p:cNvPr>
          <p:cNvSpPr txBox="1">
            <a:spLocks/>
          </p:cNvSpPr>
          <p:nvPr/>
        </p:nvSpPr>
        <p:spPr>
          <a:xfrm>
            <a:off x="2023982" y="1636153"/>
            <a:ext cx="7524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>
                <a:solidFill>
                  <a:srgbClr val="E5007F"/>
                </a:solidFill>
                <a:latin typeface="Agency FB"/>
                <a:cs typeface="Agency FB"/>
              </a:rPr>
              <a:t>01</a:t>
            </a:r>
            <a:r>
              <a:rPr lang="en-US" sz="2700" b="1" spc="-15" baseline="1543">
                <a:solidFill>
                  <a:srgbClr val="FFA3D5"/>
                </a:solidFill>
                <a:latin typeface="Agency FB"/>
                <a:cs typeface="Agency FB"/>
              </a:rPr>
              <a:t>week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36" name="object 28">
            <a:extLst>
              <a:ext uri="{FF2B5EF4-FFF2-40B4-BE49-F238E27FC236}">
                <a16:creationId xmlns:a16="http://schemas.microsoft.com/office/drawing/2014/main" id="{000DB57F-60D1-4563-85F1-639107B05FCA}"/>
              </a:ext>
            </a:extLst>
          </p:cNvPr>
          <p:cNvSpPr txBox="1">
            <a:spLocks/>
          </p:cNvSpPr>
          <p:nvPr/>
        </p:nvSpPr>
        <p:spPr>
          <a:xfrm>
            <a:off x="3919911" y="1636153"/>
            <a:ext cx="89338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02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week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54E97C53-94C9-43C9-8292-A34A33D0BF84}"/>
              </a:ext>
            </a:extLst>
          </p:cNvPr>
          <p:cNvSpPr txBox="1">
            <a:spLocks/>
          </p:cNvSpPr>
          <p:nvPr/>
        </p:nvSpPr>
        <p:spPr>
          <a:xfrm>
            <a:off x="5815840" y="1636153"/>
            <a:ext cx="90246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03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week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38" name="object 28">
            <a:extLst>
              <a:ext uri="{FF2B5EF4-FFF2-40B4-BE49-F238E27FC236}">
                <a16:creationId xmlns:a16="http://schemas.microsoft.com/office/drawing/2014/main" id="{21258278-6EA9-45F7-A5A6-4E19A675CA9F}"/>
              </a:ext>
            </a:extLst>
          </p:cNvPr>
          <p:cNvSpPr txBox="1">
            <a:spLocks/>
          </p:cNvSpPr>
          <p:nvPr/>
        </p:nvSpPr>
        <p:spPr>
          <a:xfrm>
            <a:off x="7711769" y="1636153"/>
            <a:ext cx="101677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04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week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39" name="object 28">
            <a:extLst>
              <a:ext uri="{FF2B5EF4-FFF2-40B4-BE49-F238E27FC236}">
                <a16:creationId xmlns:a16="http://schemas.microsoft.com/office/drawing/2014/main" id="{F91C5451-4D05-4E26-99AD-0D9721BBFDE6}"/>
              </a:ext>
            </a:extLst>
          </p:cNvPr>
          <p:cNvSpPr txBox="1">
            <a:spLocks/>
          </p:cNvSpPr>
          <p:nvPr/>
        </p:nvSpPr>
        <p:spPr>
          <a:xfrm>
            <a:off x="2020688" y="508207"/>
            <a:ext cx="4850012" cy="948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</a:t>
            </a:r>
            <a:r>
              <a:rPr lang="ko-KR" altLang="en-US" sz="3500" b="1" spc="-150" dirty="0">
                <a:solidFill>
                  <a:srgbClr val="E5007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gency FB"/>
              </a:rPr>
              <a:t>콘텐츠 마케팅 </a:t>
            </a: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4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Plan</a:t>
            </a:r>
            <a:endParaRPr lang="en-US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</p:spTree>
    <p:extLst>
      <p:ext uri="{BB962C8B-B14F-4D97-AF65-F5344CB8AC3E}">
        <p14:creationId xmlns:p14="http://schemas.microsoft.com/office/powerpoint/2010/main" val="2612371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1010</TotalTime>
  <Words>757</Words>
  <Application>Microsoft Office PowerPoint</Application>
  <PresentationFormat>사용자 지정</PresentationFormat>
  <Paragraphs>174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Noto Sans KR</vt:lpstr>
      <vt:lpstr>맑은 고딕</vt:lpstr>
      <vt:lpstr>스웨거 TTF</vt:lpstr>
      <vt:lpstr>Agency FB</vt:lpstr>
      <vt:lpstr>Arial</vt:lpstr>
      <vt:lpstr>Calibri</vt:lpstr>
      <vt:lpstr>Office Theme</vt:lpstr>
      <vt:lpstr>AI 콘텐츠 마케팅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EFFECTS MAYA</dc:title>
  <dc:creator>SBS</dc:creator>
  <cp:lastModifiedBy>SBS</cp:lastModifiedBy>
  <cp:revision>115</cp:revision>
  <dcterms:created xsi:type="dcterms:W3CDTF">2022-10-31T05:24:15Z</dcterms:created>
  <dcterms:modified xsi:type="dcterms:W3CDTF">2026-09-04T02:52:38Z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2022-10-31T00:00:00Z</vt:filetime>
  </property>
  <property fmtid="{D5CDD505-2E9C-101B-9397-08002B2CF9AE}" pid="3" name="Creator">
    <vt:lpwstr>Adobe InDesign 15.1 (Windows)</vt:lpwstr>
  </property>
  <property fmtid="{D5CDD505-2E9C-101B-9397-08002B2CF9AE}" pid="4" name="LastSaved">
    <vt:filetime>2022-10-31T00:00:00Z</vt:filetime>
  </property>
  <property fmtid="{D5CDD505-2E9C-101B-9397-08002B2CF9AE}" pid="5" name="Producer">
    <vt:lpwstr>Adobe PDF Library 15.0</vt:lpwstr>
  </property>
</Properties>
</file>