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323" r:id="rId2"/>
    <p:sldId id="272" r:id="rId3"/>
    <p:sldId id="363" r:id="rId4"/>
    <p:sldId id="364" r:id="rId5"/>
    <p:sldId id="325" r:id="rId6"/>
    <p:sldId id="369" r:id="rId7"/>
    <p:sldId id="368" r:id="rId8"/>
    <p:sldId id="365" r:id="rId9"/>
    <p:sldId id="380" r:id="rId10"/>
    <p:sldId id="366" r:id="rId11"/>
    <p:sldId id="346" r:id="rId12"/>
    <p:sldId id="376" r:id="rId13"/>
    <p:sldId id="377" r:id="rId14"/>
    <p:sldId id="374" r:id="rId15"/>
    <p:sldId id="375" r:id="rId16"/>
    <p:sldId id="370" r:id="rId17"/>
    <p:sldId id="367" r:id="rId18"/>
    <p:sldId id="347" r:id="rId19"/>
    <p:sldId id="348" r:id="rId20"/>
    <p:sldId id="360" r:id="rId21"/>
    <p:sldId id="350" r:id="rId22"/>
    <p:sldId id="353" r:id="rId23"/>
    <p:sldId id="326" r:id="rId24"/>
    <p:sldId id="352" r:id="rId25"/>
    <p:sldId id="343" r:id="rId26"/>
    <p:sldId id="344" r:id="rId27"/>
    <p:sldId id="345" r:id="rId28"/>
    <p:sldId id="381" r:id="rId29"/>
    <p:sldId id="382" r:id="rId30"/>
    <p:sldId id="383" r:id="rId31"/>
    <p:sldId id="384" r:id="rId32"/>
    <p:sldId id="385" r:id="rId33"/>
    <p:sldId id="386" r:id="rId34"/>
    <p:sldId id="387" r:id="rId35"/>
    <p:sldId id="388" r:id="rId36"/>
    <p:sldId id="389" r:id="rId37"/>
    <p:sldId id="269" r:id="rId38"/>
    <p:sldId id="391" r:id="rId39"/>
    <p:sldId id="392" r:id="rId40"/>
    <p:sldId id="393" r:id="rId41"/>
    <p:sldId id="394" r:id="rId42"/>
    <p:sldId id="395" r:id="rId43"/>
    <p:sldId id="396" r:id="rId44"/>
    <p:sldId id="397" r:id="rId45"/>
    <p:sldId id="398" r:id="rId46"/>
    <p:sldId id="399" r:id="rId47"/>
    <p:sldId id="400" r:id="rId48"/>
    <p:sldId id="401" r:id="rId49"/>
    <p:sldId id="402" r:id="rId50"/>
    <p:sldId id="390" r:id="rId51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7B87"/>
    <a:srgbClr val="D9D9D9"/>
    <a:srgbClr val="FFFFFF"/>
    <a:srgbClr val="282828"/>
    <a:srgbClr val="000E74"/>
    <a:srgbClr val="21B1A4"/>
    <a:srgbClr val="595959"/>
    <a:srgbClr val="A9D18E"/>
    <a:srgbClr val="203864"/>
    <a:srgbClr val="1C98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9786" cy="49869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053BCB10-224D-45EA-A70F-21E4F07F0E6B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40647"/>
            <a:ext cx="2949786" cy="49869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EC2180A1-0950-4FD7-B841-6AA1F22F9B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5740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9786" cy="49869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B91D9E88-D975-4BCF-A84A-2E3895983E9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83307"/>
            <a:ext cx="5445760" cy="3913614"/>
          </a:xfrm>
          <a:prstGeom prst="rect">
            <a:avLst/>
          </a:prstGeom>
        </p:spPr>
        <p:txBody>
          <a:bodyPr vert="horz" lIns="91431" tIns="45715" rIns="91431" bIns="45715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40647"/>
            <a:ext cx="2949786" cy="49869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494AF622-1872-4085-BF23-7BAFAEA08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721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A10577FD-D4C8-4CC3-876E-D735E7FB7C48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6071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9FE99-345C-4F31-8F31-E93DD3AC1919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828309" y="6472463"/>
            <a:ext cx="3349171" cy="363764"/>
          </a:xfrm>
        </p:spPr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18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70A9-C6B6-4C07-BECE-DE40A2457EA2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709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D875-B3E9-4F45-B2DE-C809E7BFF002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324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BD140-85C8-44B1-8F0B-5DEC1B6D8EA7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265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65A25-2B9B-44B7-BF58-27B8D3FCAB2D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92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12C-61C6-4BA5-92AF-B961D6FB9AF2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614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6A1B4-5C7A-4C8D-BCF6-C374BB2991AF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055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A3E5-5AAB-4969-BC2C-11A69DBE5B00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229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D6B8A-FCE2-40C5-BBAD-10BB42FC8098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909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67E7-EA4B-4E8D-9F9B-611B60547ECB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768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B770-7FC1-4664-957B-8B858EFE0CB5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184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8E9B0-B330-4921-A533-4FBCB68B8805}" type="datetime1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13801" y="6472464"/>
            <a:ext cx="3349171" cy="363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30345-2020-4BC8-8988-AF45F579A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31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530744E8-56C7-4C96-8641-8F39C132F0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0" t="6354" r="3400" b="88141"/>
          <a:stretch/>
        </p:blipFill>
        <p:spPr>
          <a:xfrm>
            <a:off x="5404117" y="2801256"/>
            <a:ext cx="1383765" cy="57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62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125507-D1E4-4C24-861D-835FDB94E268}"/>
              </a:ext>
            </a:extLst>
          </p:cNvPr>
          <p:cNvSpPr txBox="1"/>
          <p:nvPr/>
        </p:nvSpPr>
        <p:spPr>
          <a:xfrm>
            <a:off x="533400" y="1016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40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CONTENTS</a:t>
            </a:r>
            <a:endParaRPr lang="ko-KR" altLang="en-US" sz="850" b="1" spc="-40">
              <a:solidFill>
                <a:srgbClr val="8AA6C7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F67689-A723-4185-A90A-A1FCB8036476}"/>
              </a:ext>
            </a:extLst>
          </p:cNvPr>
          <p:cNvSpPr txBox="1"/>
          <p:nvPr/>
        </p:nvSpPr>
        <p:spPr>
          <a:xfrm>
            <a:off x="533400" y="381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1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컨택</a:t>
            </a:r>
            <a:r>
              <a:rPr lang="en-US" altLang="ko-KR" sz="2700" b="1" spc="-11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&amp;</a:t>
            </a:r>
            <a:r>
              <a:rPr lang="ko-KR" altLang="en-US" sz="2700" b="1" spc="-11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노하우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0E2F383-96B4-456F-88F5-CE0AF8180DC8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F58C6D6F-BB0A-48BD-AC9E-70EFE1A07475}"/>
              </a:ext>
            </a:extLst>
          </p:cNvPr>
          <p:cNvCxnSpPr/>
          <p:nvPr/>
        </p:nvCxnSpPr>
        <p:spPr>
          <a:xfrm>
            <a:off x="2527300" y="2108200"/>
            <a:ext cx="3048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9ABB29F-E613-4BFC-B8D7-2E07FA983541}"/>
              </a:ext>
            </a:extLst>
          </p:cNvPr>
          <p:cNvCxnSpPr/>
          <p:nvPr/>
        </p:nvCxnSpPr>
        <p:spPr>
          <a:xfrm>
            <a:off x="2832100" y="1524000"/>
            <a:ext cx="0" cy="107950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6526DE3-4718-47D4-A05C-04C5FDF28B16}"/>
              </a:ext>
            </a:extLst>
          </p:cNvPr>
          <p:cNvCxnSpPr/>
          <p:nvPr/>
        </p:nvCxnSpPr>
        <p:spPr>
          <a:xfrm>
            <a:off x="2832100" y="1524000"/>
            <a:ext cx="2921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BFF9BDCA-8418-4F4E-BF56-DBA1942FA72D}"/>
              </a:ext>
            </a:extLst>
          </p:cNvPr>
          <p:cNvCxnSpPr/>
          <p:nvPr/>
        </p:nvCxnSpPr>
        <p:spPr>
          <a:xfrm>
            <a:off x="2832100" y="2603500"/>
            <a:ext cx="2921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F1534AA-D9F2-461A-9687-8DE4848F5652}"/>
              </a:ext>
            </a:extLst>
          </p:cNvPr>
          <p:cNvCxnSpPr/>
          <p:nvPr/>
        </p:nvCxnSpPr>
        <p:spPr>
          <a:xfrm>
            <a:off x="2527300" y="4940300"/>
            <a:ext cx="3048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94171C1-1EE9-451B-9773-72E91A5666BA}"/>
              </a:ext>
            </a:extLst>
          </p:cNvPr>
          <p:cNvCxnSpPr/>
          <p:nvPr/>
        </p:nvCxnSpPr>
        <p:spPr>
          <a:xfrm>
            <a:off x="2832100" y="4356100"/>
            <a:ext cx="0" cy="107950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6DC647B5-DAE7-459E-AB56-E4F061839D93}"/>
              </a:ext>
            </a:extLst>
          </p:cNvPr>
          <p:cNvCxnSpPr/>
          <p:nvPr/>
        </p:nvCxnSpPr>
        <p:spPr>
          <a:xfrm>
            <a:off x="2832100" y="4356100"/>
            <a:ext cx="2921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9BF4151E-461D-4E93-9295-60D3FDBB449F}"/>
              </a:ext>
            </a:extLst>
          </p:cNvPr>
          <p:cNvCxnSpPr/>
          <p:nvPr/>
        </p:nvCxnSpPr>
        <p:spPr>
          <a:xfrm>
            <a:off x="2832100" y="5435600"/>
            <a:ext cx="292100" cy="0"/>
          </a:xfrm>
          <a:prstGeom prst="line">
            <a:avLst/>
          </a:prstGeom>
          <a:ln w="21590">
            <a:solidFill>
              <a:srgbClr val="0B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021B6821-8CB0-434C-BA89-3B41B2FFA32D}"/>
              </a:ext>
            </a:extLst>
          </p:cNvPr>
          <p:cNvSpPr/>
          <p:nvPr/>
        </p:nvSpPr>
        <p:spPr>
          <a:xfrm>
            <a:off x="596900" y="1155700"/>
            <a:ext cx="1930400" cy="1955800"/>
          </a:xfrm>
          <a:prstGeom prst="roundRect">
            <a:avLst/>
          </a:prstGeom>
          <a:solidFill>
            <a:srgbClr val="064682"/>
          </a:solidFill>
          <a:ln w="1524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B9FFA8E7-F395-46B7-A7A1-4212AEB70315}"/>
              </a:ext>
            </a:extLst>
          </p:cNvPr>
          <p:cNvSpPr/>
          <p:nvPr/>
        </p:nvSpPr>
        <p:spPr>
          <a:xfrm>
            <a:off x="1206500" y="1384300"/>
            <a:ext cx="711200" cy="711200"/>
          </a:xfrm>
          <a:prstGeom prst="ellipse">
            <a:avLst/>
          </a:prstGeom>
          <a:noFill/>
          <a:ln w="2286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2AF9B36-A10E-48FA-8946-4CE06DA11893}"/>
              </a:ext>
            </a:extLst>
          </p:cNvPr>
          <p:cNvCxnSpPr/>
          <p:nvPr/>
        </p:nvCxnSpPr>
        <p:spPr>
          <a:xfrm>
            <a:off x="1562100" y="1600200"/>
            <a:ext cx="0" cy="3175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898849FA-56BD-4BCB-93CC-6D5DA4E0A4AB}"/>
              </a:ext>
            </a:extLst>
          </p:cNvPr>
          <p:cNvCxnSpPr/>
          <p:nvPr/>
        </p:nvCxnSpPr>
        <p:spPr>
          <a:xfrm>
            <a:off x="1308100" y="1600200"/>
            <a:ext cx="203200" cy="50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563F24-186E-47C5-B997-03AF43A1DFD7}"/>
              </a:ext>
            </a:extLst>
          </p:cNvPr>
          <p:cNvCxnSpPr/>
          <p:nvPr/>
        </p:nvCxnSpPr>
        <p:spPr>
          <a:xfrm>
            <a:off x="1308100" y="1600200"/>
            <a:ext cx="0" cy="2794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257263DC-164B-4D49-88D4-3051360D8171}"/>
              </a:ext>
            </a:extLst>
          </p:cNvPr>
          <p:cNvCxnSpPr/>
          <p:nvPr/>
        </p:nvCxnSpPr>
        <p:spPr>
          <a:xfrm>
            <a:off x="1308100" y="1879600"/>
            <a:ext cx="203200" cy="381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0804901-A674-4B8C-A477-AEB74F8A4AE9}"/>
              </a:ext>
            </a:extLst>
          </p:cNvPr>
          <p:cNvCxnSpPr/>
          <p:nvPr/>
        </p:nvCxnSpPr>
        <p:spPr>
          <a:xfrm flipH="1">
            <a:off x="1612900" y="1600200"/>
            <a:ext cx="203200" cy="50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154A30D1-40AE-43E8-892A-976EBF00CBB1}"/>
              </a:ext>
            </a:extLst>
          </p:cNvPr>
          <p:cNvCxnSpPr/>
          <p:nvPr/>
        </p:nvCxnSpPr>
        <p:spPr>
          <a:xfrm>
            <a:off x="1816100" y="1600200"/>
            <a:ext cx="0" cy="2794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703E8A0-38DA-49DA-83F5-992A335447A8}"/>
              </a:ext>
            </a:extLst>
          </p:cNvPr>
          <p:cNvCxnSpPr/>
          <p:nvPr/>
        </p:nvCxnSpPr>
        <p:spPr>
          <a:xfrm flipH="1">
            <a:off x="1612900" y="1879600"/>
            <a:ext cx="203200" cy="381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6A7D2679-1CF3-440B-B535-89CCCCEC9FF3}"/>
              </a:ext>
            </a:extLst>
          </p:cNvPr>
          <p:cNvSpPr txBox="1"/>
          <p:nvPr/>
        </p:nvSpPr>
        <p:spPr>
          <a:xfrm>
            <a:off x="749300" y="22733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900" b="1" spc="-7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컨택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C800628B-35C9-45BD-A28E-2FA342357C42}"/>
              </a:ext>
            </a:extLst>
          </p:cNvPr>
          <p:cNvSpPr/>
          <p:nvPr/>
        </p:nvSpPr>
        <p:spPr>
          <a:xfrm>
            <a:off x="596900" y="3987800"/>
            <a:ext cx="1930400" cy="1955800"/>
          </a:xfrm>
          <a:prstGeom prst="roundRect">
            <a:avLst/>
          </a:prstGeom>
          <a:solidFill>
            <a:srgbClr val="064682"/>
          </a:solidFill>
          <a:ln w="1524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92CD30FA-E213-47FA-B58D-6DBDC8A64B00}"/>
              </a:ext>
            </a:extLst>
          </p:cNvPr>
          <p:cNvSpPr/>
          <p:nvPr/>
        </p:nvSpPr>
        <p:spPr>
          <a:xfrm>
            <a:off x="1206500" y="4216400"/>
            <a:ext cx="711200" cy="711200"/>
          </a:xfrm>
          <a:prstGeom prst="ellipse">
            <a:avLst/>
          </a:prstGeom>
          <a:noFill/>
          <a:ln w="2286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FD046043-C2E9-439D-9351-9B2C681AB1C0}"/>
              </a:ext>
            </a:extLst>
          </p:cNvPr>
          <p:cNvSpPr/>
          <p:nvPr/>
        </p:nvSpPr>
        <p:spPr>
          <a:xfrm>
            <a:off x="1295400" y="4445000"/>
            <a:ext cx="533400" cy="317500"/>
          </a:xfrm>
          <a:prstGeom prst="roundRect">
            <a:avLst/>
          </a:prstGeom>
          <a:noFill/>
          <a:ln w="2032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4C9538AD-1E26-4D98-9A84-9F583C631E3C}"/>
              </a:ext>
            </a:extLst>
          </p:cNvPr>
          <p:cNvCxnSpPr/>
          <p:nvPr/>
        </p:nvCxnSpPr>
        <p:spPr>
          <a:xfrm>
            <a:off x="1333500" y="4546600"/>
            <a:ext cx="4572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타원 74">
            <a:extLst>
              <a:ext uri="{FF2B5EF4-FFF2-40B4-BE49-F238E27FC236}">
                <a16:creationId xmlns:a16="http://schemas.microsoft.com/office/drawing/2014/main" id="{A7F85FB6-8660-4CF0-8DE1-4408192E264A}"/>
              </a:ext>
            </a:extLst>
          </p:cNvPr>
          <p:cNvSpPr/>
          <p:nvPr/>
        </p:nvSpPr>
        <p:spPr>
          <a:xfrm>
            <a:off x="1384300" y="4622800"/>
            <a:ext cx="88900" cy="889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CC11AB-FF7F-43B1-8CE9-9D310F74FC12}"/>
              </a:ext>
            </a:extLst>
          </p:cNvPr>
          <p:cNvSpPr txBox="1"/>
          <p:nvPr/>
        </p:nvSpPr>
        <p:spPr>
          <a:xfrm>
            <a:off x="749300" y="51054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900" b="1" spc="-7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운영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446D5074-29B4-41C9-BD8B-D05774C2C914}"/>
              </a:ext>
            </a:extLst>
          </p:cNvPr>
          <p:cNvSpPr/>
          <p:nvPr/>
        </p:nvSpPr>
        <p:spPr>
          <a:xfrm>
            <a:off x="3124200" y="1104900"/>
            <a:ext cx="4000500" cy="8382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AED2A788-B077-42D6-A4A7-E90365ECE3EE}"/>
              </a:ext>
            </a:extLst>
          </p:cNvPr>
          <p:cNvSpPr/>
          <p:nvPr/>
        </p:nvSpPr>
        <p:spPr>
          <a:xfrm>
            <a:off x="3302000" y="1282700"/>
            <a:ext cx="482600" cy="4826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01</a:t>
            </a:r>
            <a:endParaRPr lang="ko-KR" altLang="en-US" sz="140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DD33639-4D1F-4EC3-A881-C052ED45054F}"/>
              </a:ext>
            </a:extLst>
          </p:cNvPr>
          <p:cNvSpPr txBox="1"/>
          <p:nvPr/>
        </p:nvSpPr>
        <p:spPr>
          <a:xfrm>
            <a:off x="3911600" y="12954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국비지원 종류</a:t>
            </a:r>
          </a:p>
        </p:txBody>
      </p:sp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8EA805E5-3B9C-4E0C-AC72-9F1C82A1462B}"/>
              </a:ext>
            </a:extLst>
          </p:cNvPr>
          <p:cNvSpPr/>
          <p:nvPr/>
        </p:nvSpPr>
        <p:spPr>
          <a:xfrm rot="5400000">
            <a:off x="7353300" y="1447800"/>
            <a:ext cx="152400" cy="1651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5AAF1CF-613B-4D2C-821F-19728280C243}"/>
              </a:ext>
            </a:extLst>
          </p:cNvPr>
          <p:cNvSpPr/>
          <p:nvPr/>
        </p:nvSpPr>
        <p:spPr>
          <a:xfrm>
            <a:off x="7683500" y="1104900"/>
            <a:ext cx="3937000" cy="838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63500" rIns="177800" bIns="63500" rtlCol="0" anchor="ctr">
            <a:noAutofit/>
          </a:bodyPr>
          <a:lstStyle/>
          <a:p>
            <a:r>
              <a:rPr lang="ko-KR" altLang="en-US" sz="1450" b="1" spc="-4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지원 유형과 카드 발급 기준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484004BB-36A5-4A76-A455-B15956DBCC61}"/>
              </a:ext>
            </a:extLst>
          </p:cNvPr>
          <p:cNvSpPr/>
          <p:nvPr/>
        </p:nvSpPr>
        <p:spPr>
          <a:xfrm>
            <a:off x="3124200" y="2184400"/>
            <a:ext cx="4000500" cy="8382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9E7DA09D-6DF9-4537-A24C-4368509E922F}"/>
              </a:ext>
            </a:extLst>
          </p:cNvPr>
          <p:cNvSpPr/>
          <p:nvPr/>
        </p:nvSpPr>
        <p:spPr>
          <a:xfrm>
            <a:off x="3302000" y="2362200"/>
            <a:ext cx="482600" cy="4826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02</a:t>
            </a:r>
            <a:endParaRPr lang="ko-KR" altLang="en-US" sz="140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379B800-AFA0-4D4F-9950-E8B6A2FB4120}"/>
              </a:ext>
            </a:extLst>
          </p:cNvPr>
          <p:cNvSpPr txBox="1"/>
          <p:nvPr/>
        </p:nvSpPr>
        <p:spPr>
          <a:xfrm>
            <a:off x="3911600" y="23749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컨택 스피치</a:t>
            </a:r>
          </a:p>
        </p:txBody>
      </p:sp>
      <p:sp>
        <p:nvSpPr>
          <p:cNvPr id="85" name="이등변 삼각형 84">
            <a:extLst>
              <a:ext uri="{FF2B5EF4-FFF2-40B4-BE49-F238E27FC236}">
                <a16:creationId xmlns:a16="http://schemas.microsoft.com/office/drawing/2014/main" id="{22684D47-9732-443A-9FD8-542A6EC9CC0D}"/>
              </a:ext>
            </a:extLst>
          </p:cNvPr>
          <p:cNvSpPr/>
          <p:nvPr/>
        </p:nvSpPr>
        <p:spPr>
          <a:xfrm rot="5400000">
            <a:off x="7353300" y="2527300"/>
            <a:ext cx="152400" cy="1651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387E8F73-FC5E-436A-A979-88AACF8BF417}"/>
              </a:ext>
            </a:extLst>
          </p:cNvPr>
          <p:cNvSpPr/>
          <p:nvPr/>
        </p:nvSpPr>
        <p:spPr>
          <a:xfrm>
            <a:off x="7683500" y="2184400"/>
            <a:ext cx="3937000" cy="838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63500" rIns="177800" bIns="63500" rtlCol="0" anchor="ctr">
            <a:noAutofit/>
          </a:bodyPr>
          <a:lstStyle/>
          <a:p>
            <a:r>
              <a:rPr lang="ko-KR" altLang="en-US" sz="1450" b="1" spc="-4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상황별 문의 응대와 방문 유도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34B1E51A-5448-4CD5-93A5-18730573D8F1}"/>
              </a:ext>
            </a:extLst>
          </p:cNvPr>
          <p:cNvSpPr/>
          <p:nvPr/>
        </p:nvSpPr>
        <p:spPr>
          <a:xfrm>
            <a:off x="3124200" y="3937000"/>
            <a:ext cx="4000500" cy="8382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990483C3-0AA7-495E-A61E-C9375E39A4FD}"/>
              </a:ext>
            </a:extLst>
          </p:cNvPr>
          <p:cNvSpPr/>
          <p:nvPr/>
        </p:nvSpPr>
        <p:spPr>
          <a:xfrm>
            <a:off x="3302000" y="4114800"/>
            <a:ext cx="482600" cy="4826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03</a:t>
            </a:r>
            <a:endParaRPr lang="ko-KR" altLang="en-US" sz="140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56744F8-06E6-4B2B-9C9D-B883FD47F2D5}"/>
              </a:ext>
            </a:extLst>
          </p:cNvPr>
          <p:cNvSpPr txBox="1"/>
          <p:nvPr/>
        </p:nvSpPr>
        <p:spPr>
          <a:xfrm>
            <a:off x="3911600" y="41275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90" name="이등변 삼각형 89">
            <a:extLst>
              <a:ext uri="{FF2B5EF4-FFF2-40B4-BE49-F238E27FC236}">
                <a16:creationId xmlns:a16="http://schemas.microsoft.com/office/drawing/2014/main" id="{E8F07863-BA17-45BF-A00B-092E372770A9}"/>
              </a:ext>
            </a:extLst>
          </p:cNvPr>
          <p:cNvSpPr/>
          <p:nvPr/>
        </p:nvSpPr>
        <p:spPr>
          <a:xfrm rot="5400000">
            <a:off x="7353300" y="4279900"/>
            <a:ext cx="152400" cy="1651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E3591302-4070-4A3D-846C-9DADCEFFE60E}"/>
              </a:ext>
            </a:extLst>
          </p:cNvPr>
          <p:cNvSpPr/>
          <p:nvPr/>
        </p:nvSpPr>
        <p:spPr>
          <a:xfrm>
            <a:off x="7683500" y="3937000"/>
            <a:ext cx="3937000" cy="838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63500" rIns="177800" bIns="63500" rtlCol="0" anchor="ctr">
            <a:noAutofit/>
          </a:bodyPr>
          <a:lstStyle/>
          <a:p>
            <a:r>
              <a:rPr lang="ko-KR" altLang="en-US" sz="1450" b="1" spc="-4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설계와 국취제 활용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EF3285EB-B5D4-42EE-9CC5-2129AE275991}"/>
              </a:ext>
            </a:extLst>
          </p:cNvPr>
          <p:cNvSpPr/>
          <p:nvPr/>
        </p:nvSpPr>
        <p:spPr>
          <a:xfrm>
            <a:off x="3124200" y="5016500"/>
            <a:ext cx="4000500" cy="8382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7A7ACE67-AF55-489C-8EC7-AEBDCF42AFFD}"/>
              </a:ext>
            </a:extLst>
          </p:cNvPr>
          <p:cNvSpPr/>
          <p:nvPr/>
        </p:nvSpPr>
        <p:spPr>
          <a:xfrm>
            <a:off x="3302000" y="5194300"/>
            <a:ext cx="482600" cy="4826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04</a:t>
            </a:r>
            <a:endParaRPr lang="ko-KR" altLang="en-US" sz="140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8377536-EBD2-45D1-8647-9BCAE7130E77}"/>
              </a:ext>
            </a:extLst>
          </p:cNvPr>
          <p:cNvSpPr txBox="1"/>
          <p:nvPr/>
        </p:nvSpPr>
        <p:spPr>
          <a:xfrm>
            <a:off x="3911600" y="5207000"/>
            <a:ext cx="294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</a:t>
            </a:r>
            <a:r>
              <a:rPr lang="en-US" altLang="ko-KR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+ </a:t>
            </a:r>
            <a:r>
              <a:rPr lang="ko-KR" altLang="en-US" sz="1700" b="1" spc="-6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</a:p>
        </p:txBody>
      </p:sp>
      <p:sp>
        <p:nvSpPr>
          <p:cNvPr id="95" name="이등변 삼각형 94">
            <a:extLst>
              <a:ext uri="{FF2B5EF4-FFF2-40B4-BE49-F238E27FC236}">
                <a16:creationId xmlns:a16="http://schemas.microsoft.com/office/drawing/2014/main" id="{BA4C23C5-C6BC-4DEA-973F-1F8C71F4F4A0}"/>
              </a:ext>
            </a:extLst>
          </p:cNvPr>
          <p:cNvSpPr/>
          <p:nvPr/>
        </p:nvSpPr>
        <p:spPr>
          <a:xfrm rot="5400000">
            <a:off x="7353300" y="5359400"/>
            <a:ext cx="152400" cy="1651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C8D5F6FC-05F2-49E7-B379-3CF7902946D3}"/>
              </a:ext>
            </a:extLst>
          </p:cNvPr>
          <p:cNvSpPr/>
          <p:nvPr/>
        </p:nvSpPr>
        <p:spPr>
          <a:xfrm>
            <a:off x="7683500" y="5016500"/>
            <a:ext cx="3937000" cy="83820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63500" rIns="177800" bIns="63500" rtlCol="0" anchor="ctr">
            <a:noAutofit/>
          </a:bodyPr>
          <a:lstStyle/>
          <a:p>
            <a:r>
              <a:rPr lang="ko-KR" altLang="en-US" sz="1450" b="1" spc="-4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일반과정과 국비과정 연결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9A12731-CD33-4AFD-8986-4B750F64D097}"/>
              </a:ext>
            </a:extLst>
          </p:cNvPr>
          <p:cNvSpPr txBox="1"/>
          <p:nvPr/>
        </p:nvSpPr>
        <p:spPr>
          <a:xfrm>
            <a:off x="609600" y="6248400"/>
            <a:ext cx="10985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050" spc="-35">
                <a:solidFill>
                  <a:srgbClr val="7B8794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컨택부터 상담 운영까지 한 흐름으로 정리한 실무 목차</a:t>
            </a:r>
          </a:p>
        </p:txBody>
      </p:sp>
    </p:spTree>
    <p:extLst>
      <p:ext uri="{BB962C8B-B14F-4D97-AF65-F5344CB8AC3E}">
        <p14:creationId xmlns:p14="http://schemas.microsoft.com/office/powerpoint/2010/main" val="13872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03_Chapter">
            <a:extLst>
              <a:ext uri="{FF2B5EF4-FFF2-40B4-BE49-F238E27FC236}">
                <a16:creationId xmlns:a16="http://schemas.microsoft.com/office/drawing/2014/main" id="{E1926821-1FD2-4DF8-9804-38FB155EBF61}"/>
              </a:ext>
            </a:extLst>
          </p:cNvPr>
          <p:cNvSpPr txBox="1"/>
          <p:nvPr/>
        </p:nvSpPr>
        <p:spPr>
          <a:xfrm>
            <a:off x="533400" y="101600"/>
            <a:ext cx="381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1.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국비지원</a:t>
            </a:r>
          </a:p>
        </p:txBody>
      </p:sp>
      <p:sp>
        <p:nvSpPr>
          <p:cNvPr id="65" name="S03_Title">
            <a:extLst>
              <a:ext uri="{FF2B5EF4-FFF2-40B4-BE49-F238E27FC236}">
                <a16:creationId xmlns:a16="http://schemas.microsoft.com/office/drawing/2014/main" id="{864F67CF-27B8-4A83-90EE-B151F603C863}"/>
              </a:ext>
            </a:extLst>
          </p:cNvPr>
          <p:cNvSpPr txBox="1"/>
          <p:nvPr/>
        </p:nvSpPr>
        <p:spPr>
          <a:xfrm>
            <a:off x="533400" y="381000"/>
            <a:ext cx="965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국비지원 종류</a:t>
            </a:r>
          </a:p>
        </p:txBody>
      </p:sp>
      <p:sp>
        <p:nvSpPr>
          <p:cNvPr id="66" name="S03_PageBadge">
            <a:extLst>
              <a:ext uri="{FF2B5EF4-FFF2-40B4-BE49-F238E27FC236}">
                <a16:creationId xmlns:a16="http://schemas.microsoft.com/office/drawing/2014/main" id="{53D68C53-64A6-4F38-9F04-538297B07A02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2000"/>
            </a:avLst>
          </a:prstGeom>
          <a:solidFill>
            <a:srgbClr val="DDF0FF"/>
          </a:solidFill>
          <a:ln w="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03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67" name="S03_HeaderRule">
            <a:extLst>
              <a:ext uri="{FF2B5EF4-FFF2-40B4-BE49-F238E27FC236}">
                <a16:creationId xmlns:a16="http://schemas.microsoft.com/office/drawing/2014/main" id="{B417C864-DC82-4C2D-BA67-F539D7245FEC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S03_Training_Panel">
            <a:extLst>
              <a:ext uri="{FF2B5EF4-FFF2-40B4-BE49-F238E27FC236}">
                <a16:creationId xmlns:a16="http://schemas.microsoft.com/office/drawing/2014/main" id="{B410687B-A06B-40C8-B629-E0065A7C29DF}"/>
              </a:ext>
            </a:extLst>
          </p:cNvPr>
          <p:cNvSpPr/>
          <p:nvPr/>
        </p:nvSpPr>
        <p:spPr>
          <a:xfrm>
            <a:off x="596900" y="1143000"/>
            <a:ext cx="1930400" cy="2171700"/>
          </a:xfrm>
          <a:prstGeom prst="roundRect">
            <a:avLst>
              <a:gd name="adj" fmla="val 15000"/>
            </a:avLst>
          </a:prstGeom>
          <a:solidFill>
            <a:srgbClr val="064682"/>
          </a:solidFill>
          <a:ln w="1524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S03_Training_IconCircle">
            <a:extLst>
              <a:ext uri="{FF2B5EF4-FFF2-40B4-BE49-F238E27FC236}">
                <a16:creationId xmlns:a16="http://schemas.microsoft.com/office/drawing/2014/main" id="{EF094DFA-4804-4CC1-9708-024B359AB49C}"/>
              </a:ext>
            </a:extLst>
          </p:cNvPr>
          <p:cNvSpPr/>
          <p:nvPr/>
        </p:nvSpPr>
        <p:spPr>
          <a:xfrm>
            <a:off x="1244600" y="1320800"/>
            <a:ext cx="635000" cy="635000"/>
          </a:xfrm>
          <a:prstGeom prst="ellipse">
            <a:avLst/>
          </a:prstGeom>
          <a:noFill/>
          <a:ln w="2159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0" name="S03_Training_BookCenter">
            <a:extLst>
              <a:ext uri="{FF2B5EF4-FFF2-40B4-BE49-F238E27FC236}">
                <a16:creationId xmlns:a16="http://schemas.microsoft.com/office/drawing/2014/main" id="{4F633FE9-0364-43DF-83CD-C37B080A1467}"/>
              </a:ext>
            </a:extLst>
          </p:cNvPr>
          <p:cNvCxnSpPr/>
          <p:nvPr/>
        </p:nvCxnSpPr>
        <p:spPr>
          <a:xfrm>
            <a:off x="1562100" y="1511300"/>
            <a:ext cx="0" cy="266700"/>
          </a:xfrm>
          <a:prstGeom prst="line">
            <a:avLst/>
          </a:prstGeom>
          <a:ln w="1714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03_Training_BookLine1">
            <a:extLst>
              <a:ext uri="{FF2B5EF4-FFF2-40B4-BE49-F238E27FC236}">
                <a16:creationId xmlns:a16="http://schemas.microsoft.com/office/drawing/2014/main" id="{3273F4BC-4096-4565-A9D6-9E51B040061E}"/>
              </a:ext>
            </a:extLst>
          </p:cNvPr>
          <p:cNvCxnSpPr/>
          <p:nvPr/>
        </p:nvCxnSpPr>
        <p:spPr>
          <a:xfrm>
            <a:off x="1346200" y="1511300"/>
            <a:ext cx="177800" cy="38100"/>
          </a:xfrm>
          <a:prstGeom prst="line">
            <a:avLst/>
          </a:prstGeom>
          <a:ln w="1714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03_Training_BookLine2">
            <a:extLst>
              <a:ext uri="{FF2B5EF4-FFF2-40B4-BE49-F238E27FC236}">
                <a16:creationId xmlns:a16="http://schemas.microsoft.com/office/drawing/2014/main" id="{43FD4325-1753-455D-9821-36D151D3B1AD}"/>
              </a:ext>
            </a:extLst>
          </p:cNvPr>
          <p:cNvCxnSpPr/>
          <p:nvPr/>
        </p:nvCxnSpPr>
        <p:spPr>
          <a:xfrm>
            <a:off x="1346200" y="1511300"/>
            <a:ext cx="0" cy="228600"/>
          </a:xfrm>
          <a:prstGeom prst="line">
            <a:avLst/>
          </a:prstGeom>
          <a:ln w="1714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03_Training_BookLine3">
            <a:extLst>
              <a:ext uri="{FF2B5EF4-FFF2-40B4-BE49-F238E27FC236}">
                <a16:creationId xmlns:a16="http://schemas.microsoft.com/office/drawing/2014/main" id="{DC7A4388-F847-4D38-9AA3-6B2DC0E4E454}"/>
              </a:ext>
            </a:extLst>
          </p:cNvPr>
          <p:cNvCxnSpPr/>
          <p:nvPr/>
        </p:nvCxnSpPr>
        <p:spPr>
          <a:xfrm>
            <a:off x="1346200" y="1739900"/>
            <a:ext cx="177800" cy="38100"/>
          </a:xfrm>
          <a:prstGeom prst="line">
            <a:avLst/>
          </a:prstGeom>
          <a:ln w="1714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03_Training_BookLine4">
            <a:extLst>
              <a:ext uri="{FF2B5EF4-FFF2-40B4-BE49-F238E27FC236}">
                <a16:creationId xmlns:a16="http://schemas.microsoft.com/office/drawing/2014/main" id="{75BA8353-AC50-42F7-B25F-3EB0EB0CAB39}"/>
              </a:ext>
            </a:extLst>
          </p:cNvPr>
          <p:cNvCxnSpPr/>
          <p:nvPr/>
        </p:nvCxnSpPr>
        <p:spPr>
          <a:xfrm flipH="1">
            <a:off x="1600200" y="1511300"/>
            <a:ext cx="177800" cy="38100"/>
          </a:xfrm>
          <a:prstGeom prst="line">
            <a:avLst/>
          </a:prstGeom>
          <a:ln w="1714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03_Training_BookLine5">
            <a:extLst>
              <a:ext uri="{FF2B5EF4-FFF2-40B4-BE49-F238E27FC236}">
                <a16:creationId xmlns:a16="http://schemas.microsoft.com/office/drawing/2014/main" id="{37ED70B5-81F1-410A-84B9-7941D32B0E6A}"/>
              </a:ext>
            </a:extLst>
          </p:cNvPr>
          <p:cNvCxnSpPr/>
          <p:nvPr/>
        </p:nvCxnSpPr>
        <p:spPr>
          <a:xfrm>
            <a:off x="1778000" y="1511300"/>
            <a:ext cx="0" cy="228600"/>
          </a:xfrm>
          <a:prstGeom prst="line">
            <a:avLst/>
          </a:prstGeom>
          <a:ln w="1714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03_Training_BookLine6">
            <a:extLst>
              <a:ext uri="{FF2B5EF4-FFF2-40B4-BE49-F238E27FC236}">
                <a16:creationId xmlns:a16="http://schemas.microsoft.com/office/drawing/2014/main" id="{ABCC145A-92C8-47D8-A0EB-73C1BB8DC5C1}"/>
              </a:ext>
            </a:extLst>
          </p:cNvPr>
          <p:cNvCxnSpPr/>
          <p:nvPr/>
        </p:nvCxnSpPr>
        <p:spPr>
          <a:xfrm flipH="1">
            <a:off x="1600200" y="1739900"/>
            <a:ext cx="177800" cy="38100"/>
          </a:xfrm>
          <a:prstGeom prst="line">
            <a:avLst/>
          </a:prstGeom>
          <a:ln w="1714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S03_Training_Label">
            <a:extLst>
              <a:ext uri="{FF2B5EF4-FFF2-40B4-BE49-F238E27FC236}">
                <a16:creationId xmlns:a16="http://schemas.microsoft.com/office/drawing/2014/main" id="{17A87BE1-BB01-423C-AC8E-0AB065C284ED}"/>
              </a:ext>
            </a:extLst>
          </p:cNvPr>
          <p:cNvSpPr txBox="1"/>
          <p:nvPr/>
        </p:nvSpPr>
        <p:spPr>
          <a:xfrm>
            <a:off x="749300" y="2387600"/>
            <a:ext cx="1625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750" b="1" spc="-5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훈련 유형</a:t>
            </a:r>
          </a:p>
        </p:txBody>
      </p:sp>
      <p:cxnSp>
        <p:nvCxnSpPr>
          <p:cNvPr id="78" name="S03_TrainingBranch_Stem">
            <a:extLst>
              <a:ext uri="{FF2B5EF4-FFF2-40B4-BE49-F238E27FC236}">
                <a16:creationId xmlns:a16="http://schemas.microsoft.com/office/drawing/2014/main" id="{A94822EA-9602-43C1-B5D9-D9E2CF49167C}"/>
              </a:ext>
            </a:extLst>
          </p:cNvPr>
          <p:cNvCxnSpPr/>
          <p:nvPr/>
        </p:nvCxnSpPr>
        <p:spPr>
          <a:xfrm>
            <a:off x="2527300" y="2222500"/>
            <a:ext cx="304800" cy="0"/>
          </a:xfrm>
          <a:prstGeom prst="line">
            <a:avLst/>
          </a:prstGeom>
          <a:ln w="2159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03_TrainingBranch_Vertical">
            <a:extLst>
              <a:ext uri="{FF2B5EF4-FFF2-40B4-BE49-F238E27FC236}">
                <a16:creationId xmlns:a16="http://schemas.microsoft.com/office/drawing/2014/main" id="{64954BCE-E452-4E25-9DEF-F761CD7D5850}"/>
              </a:ext>
            </a:extLst>
          </p:cNvPr>
          <p:cNvCxnSpPr/>
          <p:nvPr/>
        </p:nvCxnSpPr>
        <p:spPr>
          <a:xfrm>
            <a:off x="2832100" y="1473200"/>
            <a:ext cx="0" cy="1524000"/>
          </a:xfrm>
          <a:prstGeom prst="line">
            <a:avLst/>
          </a:prstGeom>
          <a:ln w="2159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03_TrainingBranch_Arm1">
            <a:extLst>
              <a:ext uri="{FF2B5EF4-FFF2-40B4-BE49-F238E27FC236}">
                <a16:creationId xmlns:a16="http://schemas.microsoft.com/office/drawing/2014/main" id="{C8E558D0-0AAE-4EBF-A947-40215EB7E956}"/>
              </a:ext>
            </a:extLst>
          </p:cNvPr>
          <p:cNvCxnSpPr/>
          <p:nvPr/>
        </p:nvCxnSpPr>
        <p:spPr>
          <a:xfrm>
            <a:off x="2832100" y="1473200"/>
            <a:ext cx="292100" cy="0"/>
          </a:xfrm>
          <a:prstGeom prst="line">
            <a:avLst/>
          </a:prstGeom>
          <a:ln w="2159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03_TrainingBranch_Arm2">
            <a:extLst>
              <a:ext uri="{FF2B5EF4-FFF2-40B4-BE49-F238E27FC236}">
                <a16:creationId xmlns:a16="http://schemas.microsoft.com/office/drawing/2014/main" id="{E8FFD67B-9A22-4578-8261-122391D6C9EA}"/>
              </a:ext>
            </a:extLst>
          </p:cNvPr>
          <p:cNvCxnSpPr/>
          <p:nvPr/>
        </p:nvCxnSpPr>
        <p:spPr>
          <a:xfrm>
            <a:off x="2832100" y="2235200"/>
            <a:ext cx="292100" cy="0"/>
          </a:xfrm>
          <a:prstGeom prst="line">
            <a:avLst/>
          </a:prstGeom>
          <a:ln w="2159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03_TrainingBranch_Arm3">
            <a:extLst>
              <a:ext uri="{FF2B5EF4-FFF2-40B4-BE49-F238E27FC236}">
                <a16:creationId xmlns:a16="http://schemas.microsoft.com/office/drawing/2014/main" id="{A74CB321-3B3B-4299-8509-B2D43D6563E6}"/>
              </a:ext>
            </a:extLst>
          </p:cNvPr>
          <p:cNvCxnSpPr/>
          <p:nvPr/>
        </p:nvCxnSpPr>
        <p:spPr>
          <a:xfrm>
            <a:off x="2832100" y="2997200"/>
            <a:ext cx="292100" cy="0"/>
          </a:xfrm>
          <a:prstGeom prst="line">
            <a:avLst/>
          </a:prstGeom>
          <a:ln w="2159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S03_TrainingItem1_Main">
            <a:extLst>
              <a:ext uri="{FF2B5EF4-FFF2-40B4-BE49-F238E27FC236}">
                <a16:creationId xmlns:a16="http://schemas.microsoft.com/office/drawing/2014/main" id="{A5915B59-04D7-425B-B822-C3DB69E1DBE0}"/>
              </a:ext>
            </a:extLst>
          </p:cNvPr>
          <p:cNvSpPr/>
          <p:nvPr/>
        </p:nvSpPr>
        <p:spPr>
          <a:xfrm>
            <a:off x="3124200" y="1155700"/>
            <a:ext cx="4000500" cy="63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S03_TrainingItem1_Badge">
            <a:extLst>
              <a:ext uri="{FF2B5EF4-FFF2-40B4-BE49-F238E27FC236}">
                <a16:creationId xmlns:a16="http://schemas.microsoft.com/office/drawing/2014/main" id="{EB6F9BCC-5F40-42EF-83A1-A585E4F8B0B7}"/>
              </a:ext>
            </a:extLst>
          </p:cNvPr>
          <p:cNvSpPr/>
          <p:nvPr/>
        </p:nvSpPr>
        <p:spPr>
          <a:xfrm>
            <a:off x="3263900" y="1270000"/>
            <a:ext cx="406400" cy="4064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5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01</a:t>
            </a:r>
            <a:endParaRPr lang="ko-KR" altLang="en-US" sz="125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85" name="S03_TrainingItem1_Title">
            <a:extLst>
              <a:ext uri="{FF2B5EF4-FFF2-40B4-BE49-F238E27FC236}">
                <a16:creationId xmlns:a16="http://schemas.microsoft.com/office/drawing/2014/main" id="{3C522E5B-F7E3-4859-906D-B28FCA94C450}"/>
              </a:ext>
            </a:extLst>
          </p:cNvPr>
          <p:cNvSpPr txBox="1"/>
          <p:nvPr/>
        </p:nvSpPr>
        <p:spPr>
          <a:xfrm>
            <a:off x="3835400" y="1244600"/>
            <a:ext cx="314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00" b="1" spc="-5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국가기간 </a:t>
            </a:r>
            <a:r>
              <a:rPr lang="en-US" altLang="ko-KR" sz="1300" b="1" spc="-5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· </a:t>
            </a:r>
            <a:r>
              <a:rPr lang="ko-KR" altLang="en-US" sz="1300" b="1" spc="-5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국가전략산업직종 훈련</a:t>
            </a:r>
          </a:p>
        </p:txBody>
      </p:sp>
      <p:sp>
        <p:nvSpPr>
          <p:cNvPr id="86" name="S03_TrainingItem1_Arrow">
            <a:extLst>
              <a:ext uri="{FF2B5EF4-FFF2-40B4-BE49-F238E27FC236}">
                <a16:creationId xmlns:a16="http://schemas.microsoft.com/office/drawing/2014/main" id="{0235B43B-CE0B-4CC5-90E7-61C7B391B296}"/>
              </a:ext>
            </a:extLst>
          </p:cNvPr>
          <p:cNvSpPr/>
          <p:nvPr/>
        </p:nvSpPr>
        <p:spPr>
          <a:xfrm rot="5400000">
            <a:off x="7353300" y="1397000"/>
            <a:ext cx="139700" cy="1524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S03_TrainingItem1_Detail">
            <a:extLst>
              <a:ext uri="{FF2B5EF4-FFF2-40B4-BE49-F238E27FC236}">
                <a16:creationId xmlns:a16="http://schemas.microsoft.com/office/drawing/2014/main" id="{B12762DD-7AF1-47C7-AA46-BB42FD99EF02}"/>
              </a:ext>
            </a:extLst>
          </p:cNvPr>
          <p:cNvSpPr/>
          <p:nvPr/>
        </p:nvSpPr>
        <p:spPr>
          <a:xfrm>
            <a:off x="7683500" y="1155700"/>
            <a:ext cx="3937000" cy="635000"/>
          </a:xfrm>
          <a:prstGeom prst="roundRect">
            <a:avLst>
              <a:gd name="adj" fmla="val 12000"/>
            </a:avLst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50800" rIns="127000" bIns="50800" rtlCol="0" anchor="ctr">
            <a:noAutofit/>
          </a:bodyPr>
          <a:lstStyle/>
          <a:p>
            <a:r>
              <a:rPr lang="ko-KR" altLang="en-US" sz="1120" b="1" spc="-3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훈련비 </a:t>
            </a:r>
            <a:r>
              <a:rPr lang="en-US" altLang="ko-KR" sz="1120" b="1" spc="-3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90% </a:t>
            </a:r>
            <a:r>
              <a:rPr lang="ko-KR" altLang="en-US" sz="1120" b="1" spc="-3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이상 지원</a:t>
            </a:r>
            <a:r>
              <a:rPr lang="en-US" altLang="ko-KR" sz="1120" b="1" spc="-3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120" b="1" spc="-3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유형에 따라 </a:t>
            </a:r>
            <a:r>
              <a:rPr lang="en-US" altLang="ko-KR" sz="1120" b="1" spc="-3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100% </a:t>
            </a:r>
            <a:r>
              <a:rPr lang="ko-KR" altLang="en-US" sz="1120" b="1" spc="-3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지원</a:t>
            </a:r>
          </a:p>
        </p:txBody>
      </p:sp>
      <p:sp>
        <p:nvSpPr>
          <p:cNvPr id="88" name="S03_TrainingItem2_Main">
            <a:extLst>
              <a:ext uri="{FF2B5EF4-FFF2-40B4-BE49-F238E27FC236}">
                <a16:creationId xmlns:a16="http://schemas.microsoft.com/office/drawing/2014/main" id="{88F94532-F29E-4A69-A87C-C84CB918E4F7}"/>
              </a:ext>
            </a:extLst>
          </p:cNvPr>
          <p:cNvSpPr/>
          <p:nvPr/>
        </p:nvSpPr>
        <p:spPr>
          <a:xfrm>
            <a:off x="3124200" y="1917700"/>
            <a:ext cx="4000500" cy="63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S03_TrainingItem2_Badge">
            <a:extLst>
              <a:ext uri="{FF2B5EF4-FFF2-40B4-BE49-F238E27FC236}">
                <a16:creationId xmlns:a16="http://schemas.microsoft.com/office/drawing/2014/main" id="{D175B6E0-6A5A-40AA-9217-3B4D8A6098FC}"/>
              </a:ext>
            </a:extLst>
          </p:cNvPr>
          <p:cNvSpPr/>
          <p:nvPr/>
        </p:nvSpPr>
        <p:spPr>
          <a:xfrm>
            <a:off x="3263900" y="2032000"/>
            <a:ext cx="406400" cy="4064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5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02</a:t>
            </a:r>
            <a:endParaRPr lang="ko-KR" altLang="en-US" sz="125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0" name="S03_TrainingItem2_Title">
            <a:extLst>
              <a:ext uri="{FF2B5EF4-FFF2-40B4-BE49-F238E27FC236}">
                <a16:creationId xmlns:a16="http://schemas.microsoft.com/office/drawing/2014/main" id="{8F3DCE3C-A0B7-4BD8-A302-186CCB0ABB37}"/>
              </a:ext>
            </a:extLst>
          </p:cNvPr>
          <p:cNvSpPr txBox="1"/>
          <p:nvPr/>
        </p:nvSpPr>
        <p:spPr>
          <a:xfrm>
            <a:off x="3835400" y="2006600"/>
            <a:ext cx="314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500" b="1" spc="-5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실업자 계좌제</a:t>
            </a:r>
          </a:p>
        </p:txBody>
      </p:sp>
      <p:sp>
        <p:nvSpPr>
          <p:cNvPr id="91" name="S03_TrainingItem2_Arrow">
            <a:extLst>
              <a:ext uri="{FF2B5EF4-FFF2-40B4-BE49-F238E27FC236}">
                <a16:creationId xmlns:a16="http://schemas.microsoft.com/office/drawing/2014/main" id="{AAE4750A-B548-468B-9B73-6C68CFB55388}"/>
              </a:ext>
            </a:extLst>
          </p:cNvPr>
          <p:cNvSpPr/>
          <p:nvPr/>
        </p:nvSpPr>
        <p:spPr>
          <a:xfrm rot="5400000">
            <a:off x="7353300" y="2159000"/>
            <a:ext cx="139700" cy="1524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S03_TrainingItem2_Detail">
            <a:extLst>
              <a:ext uri="{FF2B5EF4-FFF2-40B4-BE49-F238E27FC236}">
                <a16:creationId xmlns:a16="http://schemas.microsoft.com/office/drawing/2014/main" id="{5A102285-A9AC-4210-AD81-F38DDBC2B392}"/>
              </a:ext>
            </a:extLst>
          </p:cNvPr>
          <p:cNvSpPr/>
          <p:nvPr/>
        </p:nvSpPr>
        <p:spPr>
          <a:xfrm>
            <a:off x="7683500" y="1917700"/>
            <a:ext cx="3937000" cy="635000"/>
          </a:xfrm>
          <a:prstGeom prst="roundRect">
            <a:avLst>
              <a:gd name="adj" fmla="val 12000"/>
            </a:avLst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50800" rIns="127000" bIns="50800" rtlCol="0" anchor="ctr">
            <a:noAutofit/>
          </a:bodyPr>
          <a:lstStyle/>
          <a:p>
            <a:r>
              <a:rPr lang="ko-KR" altLang="en-US" sz="1300" b="1" spc="-3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유형에 따라 자부담금 발생</a:t>
            </a:r>
          </a:p>
        </p:txBody>
      </p:sp>
      <p:sp>
        <p:nvSpPr>
          <p:cNvPr id="93" name="S03_TrainingItem3_Main">
            <a:extLst>
              <a:ext uri="{FF2B5EF4-FFF2-40B4-BE49-F238E27FC236}">
                <a16:creationId xmlns:a16="http://schemas.microsoft.com/office/drawing/2014/main" id="{DBF24ADF-829B-4A87-923C-B7F4D869EA3A}"/>
              </a:ext>
            </a:extLst>
          </p:cNvPr>
          <p:cNvSpPr/>
          <p:nvPr/>
        </p:nvSpPr>
        <p:spPr>
          <a:xfrm>
            <a:off x="3124200" y="2679700"/>
            <a:ext cx="4000500" cy="63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S03_TrainingItem3_Badge">
            <a:extLst>
              <a:ext uri="{FF2B5EF4-FFF2-40B4-BE49-F238E27FC236}">
                <a16:creationId xmlns:a16="http://schemas.microsoft.com/office/drawing/2014/main" id="{7B0736FD-9B30-4FE4-B31D-44C6C2E5278F}"/>
              </a:ext>
            </a:extLst>
          </p:cNvPr>
          <p:cNvSpPr/>
          <p:nvPr/>
        </p:nvSpPr>
        <p:spPr>
          <a:xfrm>
            <a:off x="3263900" y="2794000"/>
            <a:ext cx="406400" cy="4064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5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03</a:t>
            </a:r>
            <a:endParaRPr lang="ko-KR" altLang="en-US" sz="125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5" name="S03_TrainingItem3_Title">
            <a:extLst>
              <a:ext uri="{FF2B5EF4-FFF2-40B4-BE49-F238E27FC236}">
                <a16:creationId xmlns:a16="http://schemas.microsoft.com/office/drawing/2014/main" id="{DB31EED6-6F2B-4347-B9DF-96F654B2CBD0}"/>
              </a:ext>
            </a:extLst>
          </p:cNvPr>
          <p:cNvSpPr txBox="1"/>
          <p:nvPr/>
        </p:nvSpPr>
        <p:spPr>
          <a:xfrm>
            <a:off x="3835400" y="2768600"/>
            <a:ext cx="314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500" b="1" spc="-5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근로자</a:t>
            </a:r>
          </a:p>
        </p:txBody>
      </p:sp>
      <p:sp>
        <p:nvSpPr>
          <p:cNvPr id="96" name="S03_TrainingItem3_Arrow">
            <a:extLst>
              <a:ext uri="{FF2B5EF4-FFF2-40B4-BE49-F238E27FC236}">
                <a16:creationId xmlns:a16="http://schemas.microsoft.com/office/drawing/2014/main" id="{E3D53E83-D7E2-4046-ABFD-1089DA421110}"/>
              </a:ext>
            </a:extLst>
          </p:cNvPr>
          <p:cNvSpPr/>
          <p:nvPr/>
        </p:nvSpPr>
        <p:spPr>
          <a:xfrm rot="5400000">
            <a:off x="7353300" y="2921000"/>
            <a:ext cx="139700" cy="1524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S03_TrainingItem3_Detail">
            <a:extLst>
              <a:ext uri="{FF2B5EF4-FFF2-40B4-BE49-F238E27FC236}">
                <a16:creationId xmlns:a16="http://schemas.microsoft.com/office/drawing/2014/main" id="{E09A98B2-1E68-4E17-B936-B91D85467885}"/>
              </a:ext>
            </a:extLst>
          </p:cNvPr>
          <p:cNvSpPr/>
          <p:nvPr/>
        </p:nvSpPr>
        <p:spPr>
          <a:xfrm>
            <a:off x="7683500" y="2679700"/>
            <a:ext cx="3937000" cy="635000"/>
          </a:xfrm>
          <a:prstGeom prst="roundRect">
            <a:avLst>
              <a:gd name="adj" fmla="val 12000"/>
            </a:avLst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50800" rIns="127000" bIns="50800" rtlCol="0" anchor="ctr">
            <a:noAutofit/>
          </a:bodyPr>
          <a:lstStyle/>
          <a:p>
            <a:r>
              <a:rPr lang="ko-KR" altLang="en-US" sz="1300" b="1" spc="-3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유형에 따라 자부담금 발생</a:t>
            </a:r>
          </a:p>
        </p:txBody>
      </p:sp>
      <p:sp>
        <p:nvSpPr>
          <p:cNvPr id="98" name="S03_Card_Panel">
            <a:extLst>
              <a:ext uri="{FF2B5EF4-FFF2-40B4-BE49-F238E27FC236}">
                <a16:creationId xmlns:a16="http://schemas.microsoft.com/office/drawing/2014/main" id="{031EE6DA-75B1-4AEB-ABD0-81B3A5F5F085}"/>
              </a:ext>
            </a:extLst>
          </p:cNvPr>
          <p:cNvSpPr/>
          <p:nvPr/>
        </p:nvSpPr>
        <p:spPr>
          <a:xfrm>
            <a:off x="596900" y="3581400"/>
            <a:ext cx="1930400" cy="2387600"/>
          </a:xfrm>
          <a:prstGeom prst="roundRect">
            <a:avLst>
              <a:gd name="adj" fmla="val 15000"/>
            </a:avLst>
          </a:prstGeom>
          <a:solidFill>
            <a:srgbClr val="064682"/>
          </a:solidFill>
          <a:ln w="1524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S03_Card_IconCircle">
            <a:extLst>
              <a:ext uri="{FF2B5EF4-FFF2-40B4-BE49-F238E27FC236}">
                <a16:creationId xmlns:a16="http://schemas.microsoft.com/office/drawing/2014/main" id="{DED6BF30-02E0-447D-8EB2-B8DBB34C6F98}"/>
              </a:ext>
            </a:extLst>
          </p:cNvPr>
          <p:cNvSpPr/>
          <p:nvPr/>
        </p:nvSpPr>
        <p:spPr>
          <a:xfrm>
            <a:off x="1244600" y="3759200"/>
            <a:ext cx="635000" cy="635000"/>
          </a:xfrm>
          <a:prstGeom prst="ellipse">
            <a:avLst/>
          </a:prstGeom>
          <a:noFill/>
          <a:ln w="2159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S03_Card_CardIcon">
            <a:extLst>
              <a:ext uri="{FF2B5EF4-FFF2-40B4-BE49-F238E27FC236}">
                <a16:creationId xmlns:a16="http://schemas.microsoft.com/office/drawing/2014/main" id="{43C0902A-D588-4810-ADA1-00AB83E1C91A}"/>
              </a:ext>
            </a:extLst>
          </p:cNvPr>
          <p:cNvSpPr/>
          <p:nvPr/>
        </p:nvSpPr>
        <p:spPr>
          <a:xfrm>
            <a:off x="1320800" y="3962400"/>
            <a:ext cx="482600" cy="292100"/>
          </a:xfrm>
          <a:prstGeom prst="roundRect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1" name="S03_Card_CardStripe">
            <a:extLst>
              <a:ext uri="{FF2B5EF4-FFF2-40B4-BE49-F238E27FC236}">
                <a16:creationId xmlns:a16="http://schemas.microsoft.com/office/drawing/2014/main" id="{67F49158-36B0-44BA-B2E8-7AED0DC6AB93}"/>
              </a:ext>
            </a:extLst>
          </p:cNvPr>
          <p:cNvCxnSpPr/>
          <p:nvPr/>
        </p:nvCxnSpPr>
        <p:spPr>
          <a:xfrm>
            <a:off x="1358900" y="4051300"/>
            <a:ext cx="406400" cy="0"/>
          </a:xfrm>
          <a:prstGeom prst="line">
            <a:avLst/>
          </a:prstGeom>
          <a:ln w="1714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S03_Card_CardDot">
            <a:extLst>
              <a:ext uri="{FF2B5EF4-FFF2-40B4-BE49-F238E27FC236}">
                <a16:creationId xmlns:a16="http://schemas.microsoft.com/office/drawing/2014/main" id="{6574B83D-3DA8-4099-B4C8-9C5527C50D3F}"/>
              </a:ext>
            </a:extLst>
          </p:cNvPr>
          <p:cNvSpPr/>
          <p:nvPr/>
        </p:nvSpPr>
        <p:spPr>
          <a:xfrm>
            <a:off x="1384300" y="4127500"/>
            <a:ext cx="76200" cy="76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S03_Card_Label">
            <a:extLst>
              <a:ext uri="{FF2B5EF4-FFF2-40B4-BE49-F238E27FC236}">
                <a16:creationId xmlns:a16="http://schemas.microsoft.com/office/drawing/2014/main" id="{768289B7-C670-42D7-A41F-DBC859B923DD}"/>
              </a:ext>
            </a:extLst>
          </p:cNvPr>
          <p:cNvSpPr txBox="1"/>
          <p:nvPr/>
        </p:nvSpPr>
        <p:spPr>
          <a:xfrm>
            <a:off x="749300" y="5041899"/>
            <a:ext cx="1625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750" b="1" spc="-50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카드 발급
유형</a:t>
            </a:r>
          </a:p>
        </p:txBody>
      </p:sp>
      <p:cxnSp>
        <p:nvCxnSpPr>
          <p:cNvPr id="104" name="S03_CardBranch_Stem">
            <a:extLst>
              <a:ext uri="{FF2B5EF4-FFF2-40B4-BE49-F238E27FC236}">
                <a16:creationId xmlns:a16="http://schemas.microsoft.com/office/drawing/2014/main" id="{C4B814CC-110C-4176-979D-88D8615C7E97}"/>
              </a:ext>
            </a:extLst>
          </p:cNvPr>
          <p:cNvCxnSpPr/>
          <p:nvPr/>
        </p:nvCxnSpPr>
        <p:spPr>
          <a:xfrm>
            <a:off x="2527300" y="4775200"/>
            <a:ext cx="304800" cy="0"/>
          </a:xfrm>
          <a:prstGeom prst="line">
            <a:avLst/>
          </a:prstGeom>
          <a:ln w="2159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03_CardBranch_Vertical">
            <a:extLst>
              <a:ext uri="{FF2B5EF4-FFF2-40B4-BE49-F238E27FC236}">
                <a16:creationId xmlns:a16="http://schemas.microsoft.com/office/drawing/2014/main" id="{2AEEBFA2-196D-4017-B3BF-534A6F83CADA}"/>
              </a:ext>
            </a:extLst>
          </p:cNvPr>
          <p:cNvCxnSpPr/>
          <p:nvPr/>
        </p:nvCxnSpPr>
        <p:spPr>
          <a:xfrm>
            <a:off x="2832100" y="4152900"/>
            <a:ext cx="0" cy="1206500"/>
          </a:xfrm>
          <a:prstGeom prst="line">
            <a:avLst/>
          </a:prstGeom>
          <a:ln w="2159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03_CardBranch_Arm1">
            <a:extLst>
              <a:ext uri="{FF2B5EF4-FFF2-40B4-BE49-F238E27FC236}">
                <a16:creationId xmlns:a16="http://schemas.microsoft.com/office/drawing/2014/main" id="{5894749B-D804-45E2-9224-B9344276CBC4}"/>
              </a:ext>
            </a:extLst>
          </p:cNvPr>
          <p:cNvCxnSpPr/>
          <p:nvPr/>
        </p:nvCxnSpPr>
        <p:spPr>
          <a:xfrm>
            <a:off x="2832100" y="4152900"/>
            <a:ext cx="292100" cy="0"/>
          </a:xfrm>
          <a:prstGeom prst="line">
            <a:avLst/>
          </a:prstGeom>
          <a:ln w="2159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03_CardBranch_Arm2">
            <a:extLst>
              <a:ext uri="{FF2B5EF4-FFF2-40B4-BE49-F238E27FC236}">
                <a16:creationId xmlns:a16="http://schemas.microsoft.com/office/drawing/2014/main" id="{DB2D707B-18BE-45C5-998A-52FD85CFB206}"/>
              </a:ext>
            </a:extLst>
          </p:cNvPr>
          <p:cNvCxnSpPr/>
          <p:nvPr/>
        </p:nvCxnSpPr>
        <p:spPr>
          <a:xfrm>
            <a:off x="2832100" y="5359400"/>
            <a:ext cx="292100" cy="0"/>
          </a:xfrm>
          <a:prstGeom prst="line">
            <a:avLst/>
          </a:prstGeom>
          <a:ln w="2159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S03_CardItem1_Main">
            <a:extLst>
              <a:ext uri="{FF2B5EF4-FFF2-40B4-BE49-F238E27FC236}">
                <a16:creationId xmlns:a16="http://schemas.microsoft.com/office/drawing/2014/main" id="{8CCC17A4-0B56-45C9-A16B-F1C6ABEF8E30}"/>
              </a:ext>
            </a:extLst>
          </p:cNvPr>
          <p:cNvSpPr/>
          <p:nvPr/>
        </p:nvSpPr>
        <p:spPr>
          <a:xfrm>
            <a:off x="3124200" y="3594100"/>
            <a:ext cx="3073400" cy="111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S03_CardItem1_Badge">
            <a:extLst>
              <a:ext uri="{FF2B5EF4-FFF2-40B4-BE49-F238E27FC236}">
                <a16:creationId xmlns:a16="http://schemas.microsoft.com/office/drawing/2014/main" id="{820CBF0A-B167-4ADC-80AC-AC6E28A4D7EA}"/>
              </a:ext>
            </a:extLst>
          </p:cNvPr>
          <p:cNvSpPr/>
          <p:nvPr/>
        </p:nvSpPr>
        <p:spPr>
          <a:xfrm>
            <a:off x="3276600" y="3924300"/>
            <a:ext cx="457200" cy="4572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5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04</a:t>
            </a:r>
            <a:endParaRPr lang="ko-KR" altLang="en-US" sz="125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0" name="S03_CardItem1_Title">
            <a:extLst>
              <a:ext uri="{FF2B5EF4-FFF2-40B4-BE49-F238E27FC236}">
                <a16:creationId xmlns:a16="http://schemas.microsoft.com/office/drawing/2014/main" id="{6A5CC376-FB86-493A-B52B-43E6A454658F}"/>
              </a:ext>
            </a:extLst>
          </p:cNvPr>
          <p:cNvSpPr txBox="1"/>
          <p:nvPr/>
        </p:nvSpPr>
        <p:spPr>
          <a:xfrm>
            <a:off x="3898900" y="3835400"/>
            <a:ext cx="2159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80" b="1" spc="-55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국민 내일배움카드</a:t>
            </a:r>
          </a:p>
        </p:txBody>
      </p:sp>
      <p:sp>
        <p:nvSpPr>
          <p:cNvPr id="111" name="S03_CardItem1_Arrow">
            <a:extLst>
              <a:ext uri="{FF2B5EF4-FFF2-40B4-BE49-F238E27FC236}">
                <a16:creationId xmlns:a16="http://schemas.microsoft.com/office/drawing/2014/main" id="{42967F3C-CF8C-4FA7-9219-0DF2F1E0B534}"/>
              </a:ext>
            </a:extLst>
          </p:cNvPr>
          <p:cNvSpPr/>
          <p:nvPr/>
        </p:nvSpPr>
        <p:spPr>
          <a:xfrm rot="5400000">
            <a:off x="6311900" y="4076700"/>
            <a:ext cx="139700" cy="1524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S03_CardItem1_Detail">
            <a:extLst>
              <a:ext uri="{FF2B5EF4-FFF2-40B4-BE49-F238E27FC236}">
                <a16:creationId xmlns:a16="http://schemas.microsoft.com/office/drawing/2014/main" id="{2C5B3A5F-E265-400D-84DE-A0BA4DDC6238}"/>
              </a:ext>
            </a:extLst>
          </p:cNvPr>
          <p:cNvSpPr/>
          <p:nvPr/>
        </p:nvSpPr>
        <p:spPr>
          <a:xfrm>
            <a:off x="6604000" y="3594100"/>
            <a:ext cx="5016500" cy="1117600"/>
          </a:xfrm>
          <a:prstGeom prst="roundRect">
            <a:avLst>
              <a:gd name="adj" fmla="val 12000"/>
            </a:avLst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63500" rIns="101600" bIns="63500" rtlCol="0" anchor="ctr">
            <a:noAutofit/>
          </a:bodyPr>
          <a:lstStyle/>
          <a:p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훈련비 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300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지원
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자부담비용은 직종평균 취업률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과거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년 평균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에 따라 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15~55% 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자부담하여야 함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자부담비율은 직종평균 취업률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고용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24 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기준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에 따라 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15~55% 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자부담해야 함</a:t>
            </a:r>
          </a:p>
        </p:txBody>
      </p:sp>
      <p:sp>
        <p:nvSpPr>
          <p:cNvPr id="113" name="S03_CardItem2_Main">
            <a:extLst>
              <a:ext uri="{FF2B5EF4-FFF2-40B4-BE49-F238E27FC236}">
                <a16:creationId xmlns:a16="http://schemas.microsoft.com/office/drawing/2014/main" id="{C7986ACE-1CEA-4537-B9BB-B3C2835C7CCA}"/>
              </a:ext>
            </a:extLst>
          </p:cNvPr>
          <p:cNvSpPr/>
          <p:nvPr/>
        </p:nvSpPr>
        <p:spPr>
          <a:xfrm>
            <a:off x="3124200" y="4876800"/>
            <a:ext cx="2921000" cy="965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S03_CardItem2_Badge">
            <a:extLst>
              <a:ext uri="{FF2B5EF4-FFF2-40B4-BE49-F238E27FC236}">
                <a16:creationId xmlns:a16="http://schemas.microsoft.com/office/drawing/2014/main" id="{AC9D8B52-DD08-468A-9EBF-6F872E0D227F}"/>
              </a:ext>
            </a:extLst>
          </p:cNvPr>
          <p:cNvSpPr/>
          <p:nvPr/>
        </p:nvSpPr>
        <p:spPr>
          <a:xfrm>
            <a:off x="3276600" y="5130800"/>
            <a:ext cx="457200" cy="4572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50" b="1" spc="-3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05</a:t>
            </a:r>
            <a:endParaRPr lang="ko-KR" altLang="en-US" sz="1250" b="1" spc="-30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15" name="S03_CardItem2_Title">
            <a:extLst>
              <a:ext uri="{FF2B5EF4-FFF2-40B4-BE49-F238E27FC236}">
                <a16:creationId xmlns:a16="http://schemas.microsoft.com/office/drawing/2014/main" id="{CD29C3F9-440E-4865-BE53-0554C2D45517}"/>
              </a:ext>
            </a:extLst>
          </p:cNvPr>
          <p:cNvSpPr txBox="1"/>
          <p:nvPr/>
        </p:nvSpPr>
        <p:spPr>
          <a:xfrm>
            <a:off x="3898900" y="5041900"/>
            <a:ext cx="20066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320" b="1" spc="-55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국민취업지원제도</a:t>
            </a:r>
          </a:p>
        </p:txBody>
      </p:sp>
      <p:cxnSp>
        <p:nvCxnSpPr>
          <p:cNvPr id="116" name="S03_TypeStem">
            <a:extLst>
              <a:ext uri="{FF2B5EF4-FFF2-40B4-BE49-F238E27FC236}">
                <a16:creationId xmlns:a16="http://schemas.microsoft.com/office/drawing/2014/main" id="{6AA9F0D2-9238-4AE5-8F32-4C0F70EE5D30}"/>
              </a:ext>
            </a:extLst>
          </p:cNvPr>
          <p:cNvCxnSpPr/>
          <p:nvPr/>
        </p:nvCxnSpPr>
        <p:spPr>
          <a:xfrm>
            <a:off x="6045200" y="5359400"/>
            <a:ext cx="165100" cy="0"/>
          </a:xfrm>
          <a:prstGeom prst="line">
            <a:avLst/>
          </a:prstGeom>
          <a:ln w="2159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03_TypeVertical">
            <a:extLst>
              <a:ext uri="{FF2B5EF4-FFF2-40B4-BE49-F238E27FC236}">
                <a16:creationId xmlns:a16="http://schemas.microsoft.com/office/drawing/2014/main" id="{8181B6D9-E508-4075-8433-7673985C8CA9}"/>
              </a:ext>
            </a:extLst>
          </p:cNvPr>
          <p:cNvCxnSpPr/>
          <p:nvPr/>
        </p:nvCxnSpPr>
        <p:spPr>
          <a:xfrm>
            <a:off x="6210300" y="5054600"/>
            <a:ext cx="0" cy="571500"/>
          </a:xfrm>
          <a:prstGeom prst="line">
            <a:avLst/>
          </a:prstGeom>
          <a:ln w="2159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03_TypeArm1">
            <a:extLst>
              <a:ext uri="{FF2B5EF4-FFF2-40B4-BE49-F238E27FC236}">
                <a16:creationId xmlns:a16="http://schemas.microsoft.com/office/drawing/2014/main" id="{0B0BBF47-58CD-4784-9BB7-6BF332F08B69}"/>
              </a:ext>
            </a:extLst>
          </p:cNvPr>
          <p:cNvCxnSpPr/>
          <p:nvPr/>
        </p:nvCxnSpPr>
        <p:spPr>
          <a:xfrm>
            <a:off x="6210300" y="5054600"/>
            <a:ext cx="152400" cy="0"/>
          </a:xfrm>
          <a:prstGeom prst="line">
            <a:avLst/>
          </a:prstGeom>
          <a:ln w="2159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03_TypeArm2">
            <a:extLst>
              <a:ext uri="{FF2B5EF4-FFF2-40B4-BE49-F238E27FC236}">
                <a16:creationId xmlns:a16="http://schemas.microsoft.com/office/drawing/2014/main" id="{91652323-7075-4A87-98A3-4DC028BD111B}"/>
              </a:ext>
            </a:extLst>
          </p:cNvPr>
          <p:cNvCxnSpPr/>
          <p:nvPr/>
        </p:nvCxnSpPr>
        <p:spPr>
          <a:xfrm>
            <a:off x="6210300" y="5626100"/>
            <a:ext cx="152400" cy="0"/>
          </a:xfrm>
          <a:prstGeom prst="line">
            <a:avLst/>
          </a:prstGeom>
          <a:ln w="2159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S03_Type1_Label">
            <a:extLst>
              <a:ext uri="{FF2B5EF4-FFF2-40B4-BE49-F238E27FC236}">
                <a16:creationId xmlns:a16="http://schemas.microsoft.com/office/drawing/2014/main" id="{F8E610F8-31F8-4E26-A417-12D2CB795724}"/>
              </a:ext>
            </a:extLst>
          </p:cNvPr>
          <p:cNvSpPr/>
          <p:nvPr/>
        </p:nvSpPr>
        <p:spPr>
          <a:xfrm>
            <a:off x="6362700" y="4813300"/>
            <a:ext cx="889000" cy="482600"/>
          </a:xfrm>
          <a:prstGeom prst="roundRect">
            <a:avLst>
              <a:gd name="adj" fmla="val 12000"/>
            </a:avLst>
          </a:prstGeom>
          <a:solidFill>
            <a:srgbClr val="064682"/>
          </a:solidFill>
          <a:ln w="1270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r>
              <a:rPr lang="ko-KR" altLang="en-US" sz="12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유형</a:t>
            </a:r>
          </a:p>
        </p:txBody>
      </p:sp>
      <p:sp>
        <p:nvSpPr>
          <p:cNvPr id="121" name="S03_Type1_Arrow">
            <a:extLst>
              <a:ext uri="{FF2B5EF4-FFF2-40B4-BE49-F238E27FC236}">
                <a16:creationId xmlns:a16="http://schemas.microsoft.com/office/drawing/2014/main" id="{C5B77CAB-F079-4182-9582-6827FAAF5657}"/>
              </a:ext>
            </a:extLst>
          </p:cNvPr>
          <p:cNvSpPr/>
          <p:nvPr/>
        </p:nvSpPr>
        <p:spPr>
          <a:xfrm rot="5400000">
            <a:off x="7353300" y="4978400"/>
            <a:ext cx="139700" cy="1524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S03_Type1_Detail">
            <a:extLst>
              <a:ext uri="{FF2B5EF4-FFF2-40B4-BE49-F238E27FC236}">
                <a16:creationId xmlns:a16="http://schemas.microsoft.com/office/drawing/2014/main" id="{64B91347-C31F-4BB7-AA60-C737968A0F3B}"/>
              </a:ext>
            </a:extLst>
          </p:cNvPr>
          <p:cNvSpPr/>
          <p:nvPr/>
        </p:nvSpPr>
        <p:spPr>
          <a:xfrm>
            <a:off x="7620000" y="4813300"/>
            <a:ext cx="4000500" cy="482600"/>
          </a:xfrm>
          <a:prstGeom prst="roundRect">
            <a:avLst>
              <a:gd name="adj" fmla="val 12000"/>
            </a:avLst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38100" rIns="101600" bIns="38100" rtlCol="0" anchor="ctr">
            <a:noAutofit/>
          </a:bodyPr>
          <a:lstStyle/>
          <a:p>
            <a:r>
              <a:rPr lang="ko-KR" altLang="en-US" sz="1080" b="1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구직촉진수당 </a:t>
            </a:r>
            <a:r>
              <a:rPr lang="en-US" altLang="ko-KR" sz="1080" b="1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080" b="1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월</a:t>
            </a:r>
            <a:r>
              <a:rPr lang="en-US" altLang="ko-KR" sz="1080" b="1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60</a:t>
            </a:r>
            <a:r>
              <a:rPr lang="ko-KR" altLang="en-US" sz="1080" b="1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 최대</a:t>
            </a:r>
            <a:r>
              <a:rPr lang="en-US" altLang="ko-KR" sz="1080" b="1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6</a:t>
            </a:r>
            <a:r>
              <a:rPr lang="ko-KR" altLang="en-US" sz="1080" b="1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개월 </a:t>
            </a:r>
            <a:r>
              <a:rPr lang="en-US" altLang="ko-KR" sz="1080" b="1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= 360</a:t>
            </a:r>
            <a:r>
              <a:rPr lang="ko-KR" altLang="en-US" sz="1080" b="1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</a:t>
            </a:r>
          </a:p>
        </p:txBody>
      </p:sp>
      <p:sp>
        <p:nvSpPr>
          <p:cNvPr id="123" name="S03_Type2_Label">
            <a:extLst>
              <a:ext uri="{FF2B5EF4-FFF2-40B4-BE49-F238E27FC236}">
                <a16:creationId xmlns:a16="http://schemas.microsoft.com/office/drawing/2014/main" id="{023113B6-79CD-43AE-9E55-5A806DDB1DD5}"/>
              </a:ext>
            </a:extLst>
          </p:cNvPr>
          <p:cNvSpPr/>
          <p:nvPr/>
        </p:nvSpPr>
        <p:spPr>
          <a:xfrm>
            <a:off x="6362700" y="5372100"/>
            <a:ext cx="889000" cy="571500"/>
          </a:xfrm>
          <a:prstGeom prst="roundRect">
            <a:avLst>
              <a:gd name="adj" fmla="val 12000"/>
            </a:avLst>
          </a:prstGeom>
          <a:solidFill>
            <a:srgbClr val="064682"/>
          </a:solidFill>
          <a:ln w="1270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</a:t>
            </a:r>
            <a:r>
              <a:rPr lang="ko-KR" altLang="en-US" sz="12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유형</a:t>
            </a:r>
          </a:p>
        </p:txBody>
      </p:sp>
      <p:sp>
        <p:nvSpPr>
          <p:cNvPr id="124" name="S03_Type2_Arrow">
            <a:extLst>
              <a:ext uri="{FF2B5EF4-FFF2-40B4-BE49-F238E27FC236}">
                <a16:creationId xmlns:a16="http://schemas.microsoft.com/office/drawing/2014/main" id="{FBDCA9D1-B185-4DF1-9D0F-A0C6587EA0C0}"/>
              </a:ext>
            </a:extLst>
          </p:cNvPr>
          <p:cNvSpPr/>
          <p:nvPr/>
        </p:nvSpPr>
        <p:spPr>
          <a:xfrm rot="5400000">
            <a:off x="7353300" y="5588000"/>
            <a:ext cx="139700" cy="152400"/>
          </a:xfrm>
          <a:prstGeom prst="triangle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S03_Type2_Detail">
            <a:extLst>
              <a:ext uri="{FF2B5EF4-FFF2-40B4-BE49-F238E27FC236}">
                <a16:creationId xmlns:a16="http://schemas.microsoft.com/office/drawing/2014/main" id="{ACD72B26-3332-41B5-B0C9-D14B37F40525}"/>
              </a:ext>
            </a:extLst>
          </p:cNvPr>
          <p:cNvSpPr/>
          <p:nvPr/>
        </p:nvSpPr>
        <p:spPr>
          <a:xfrm>
            <a:off x="7620000" y="5372100"/>
            <a:ext cx="4000500" cy="571500"/>
          </a:xfrm>
          <a:prstGeom prst="roundRect">
            <a:avLst>
              <a:gd name="adj" fmla="val 12000"/>
            </a:avLst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38100" rIns="88900" bIns="38100" rtlCol="0" anchor="ctr">
            <a:noAutofit/>
          </a:bodyPr>
          <a:lstStyle/>
          <a:p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참여수당 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: 15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+ 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프로그램에 따라 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3~10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추가 지급
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참여장려수당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: 1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회 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X 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최대 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5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회 </a:t>
            </a:r>
            <a:r>
              <a:rPr lang="en-US" altLang="ko-KR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= 10</a:t>
            </a:r>
            <a:r>
              <a:rPr lang="ko-KR" altLang="en-US" sz="950" spc="-2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</a:t>
            </a:r>
          </a:p>
        </p:txBody>
      </p:sp>
    </p:spTree>
    <p:extLst>
      <p:ext uri="{BB962C8B-B14F-4D97-AF65-F5344CB8AC3E}">
        <p14:creationId xmlns:p14="http://schemas.microsoft.com/office/powerpoint/2010/main" val="422565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_Chapter">
            <a:extLst>
              <a:ext uri="{FF2B5EF4-FFF2-40B4-BE49-F238E27FC236}">
                <a16:creationId xmlns:a16="http://schemas.microsoft.com/office/drawing/2014/main" id="{D6E82FAE-537A-4C80-B988-6DFFF1EC1808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1.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국비지원</a:t>
            </a:r>
          </a:p>
        </p:txBody>
      </p:sp>
      <p:sp>
        <p:nvSpPr>
          <p:cNvPr id="8" name="S4_Title">
            <a:extLst>
              <a:ext uri="{FF2B5EF4-FFF2-40B4-BE49-F238E27FC236}">
                <a16:creationId xmlns:a16="http://schemas.microsoft.com/office/drawing/2014/main" id="{32A80391-4683-47FD-BFC3-78596E45BECB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국비지원 대상 및 지원한도</a:t>
            </a:r>
          </a:p>
        </p:txBody>
      </p:sp>
      <p:sp>
        <p:nvSpPr>
          <p:cNvPr id="23" name="S4_PageBadge">
            <a:extLst>
              <a:ext uri="{FF2B5EF4-FFF2-40B4-BE49-F238E27FC236}">
                <a16:creationId xmlns:a16="http://schemas.microsoft.com/office/drawing/2014/main" id="{3B8E423F-EE14-44CF-BFDD-3480E37AA616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04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24" name="S4_HeaderRule">
            <a:extLst>
              <a:ext uri="{FF2B5EF4-FFF2-40B4-BE49-F238E27FC236}">
                <a16:creationId xmlns:a16="http://schemas.microsoft.com/office/drawing/2014/main" id="{C8E74F2B-A2B1-47CB-8571-09F9661EE395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04_Headline">
            <a:extLst>
              <a:ext uri="{FF2B5EF4-FFF2-40B4-BE49-F238E27FC236}">
                <a16:creationId xmlns:a16="http://schemas.microsoft.com/office/drawing/2014/main" id="{978AED5F-D971-4F7E-9CD2-18FE2525E15E}"/>
              </a:ext>
            </a:extLst>
          </p:cNvPr>
          <p:cNvSpPr/>
          <p:nvPr/>
        </p:nvSpPr>
        <p:spPr>
          <a:xfrm>
            <a:off x="533400" y="1168400"/>
            <a:ext cx="11112500" cy="431800"/>
          </a:xfrm>
          <a:prstGeom prst="roundRect">
            <a:avLst>
              <a:gd name="adj" fmla="val 10000"/>
            </a:avLst>
          </a:prstGeom>
          <a:solidFill>
            <a:srgbClr val="064682"/>
          </a:solidFill>
          <a:ln w="6350">
            <a:solidFill>
              <a:srgbClr val="0646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en-US" altLang="ko-KR" sz="15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300</a:t>
            </a:r>
            <a:r>
              <a:rPr lang="ko-KR" altLang="en-US" sz="15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기본 지원</a:t>
            </a:r>
            <a:r>
              <a:rPr lang="en-US" altLang="ko-KR" sz="15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5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최대 </a:t>
            </a:r>
            <a:r>
              <a:rPr lang="en-US" altLang="ko-KR" sz="15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500</a:t>
            </a:r>
            <a:r>
              <a:rPr lang="ko-KR" altLang="en-US" sz="15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만원까지</a:t>
            </a:r>
          </a:p>
        </p:txBody>
      </p:sp>
      <p:sp>
        <p:nvSpPr>
          <p:cNvPr id="26" name="S04_Eligibility">
            <a:extLst>
              <a:ext uri="{FF2B5EF4-FFF2-40B4-BE49-F238E27FC236}">
                <a16:creationId xmlns:a16="http://schemas.microsoft.com/office/drawing/2014/main" id="{D2C6C465-4E61-48E8-A14C-174ED938CD5C}"/>
              </a:ext>
            </a:extLst>
          </p:cNvPr>
          <p:cNvSpPr/>
          <p:nvPr/>
        </p:nvSpPr>
        <p:spPr>
          <a:xfrm>
            <a:off x="533400" y="1727200"/>
            <a:ext cx="5105400" cy="4279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S04_EligibilityTitle">
            <a:extLst>
              <a:ext uri="{FF2B5EF4-FFF2-40B4-BE49-F238E27FC236}">
                <a16:creationId xmlns:a16="http://schemas.microsoft.com/office/drawing/2014/main" id="{96E73FED-D7E2-468B-B8A4-D259EF7BBA1C}"/>
              </a:ext>
            </a:extLst>
          </p:cNvPr>
          <p:cNvSpPr txBox="1"/>
          <p:nvPr/>
        </p:nvSpPr>
        <p:spPr>
          <a:xfrm>
            <a:off x="736600" y="1854200"/>
            <a:ext cx="4699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500" b="1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지원대상</a:t>
            </a:r>
          </a:p>
        </p:txBody>
      </p:sp>
      <p:sp>
        <p:nvSpPr>
          <p:cNvPr id="28" name="S04_EligibilityLead">
            <a:extLst>
              <a:ext uri="{FF2B5EF4-FFF2-40B4-BE49-F238E27FC236}">
                <a16:creationId xmlns:a16="http://schemas.microsoft.com/office/drawing/2014/main" id="{21BF2F6F-AF0D-448D-84DC-1FF9D676C3F7}"/>
              </a:ext>
            </a:extLst>
          </p:cNvPr>
          <p:cNvSpPr/>
          <p:nvPr/>
        </p:nvSpPr>
        <p:spPr>
          <a:xfrm>
            <a:off x="736600" y="2286000"/>
            <a:ext cx="4699000" cy="812800"/>
          </a:xfrm>
          <a:prstGeom prst="roundRect">
            <a:avLst>
              <a:gd name="adj" fmla="val 10000"/>
            </a:avLst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10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업무 능력을 키우고 싶은 누구나
대학</a:t>
            </a:r>
            <a:r>
              <a:rPr lang="en-US" altLang="ko-KR" sz="110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10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원</a:t>
            </a:r>
            <a:r>
              <a:rPr lang="en-US" altLang="ko-KR" sz="110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r>
              <a:rPr lang="ko-KR" altLang="en-US" sz="110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생도 졸업까지 남은 수업연한이 </a:t>
            </a:r>
            <a:r>
              <a:rPr lang="en-US" altLang="ko-KR" sz="110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</a:t>
            </a:r>
            <a:r>
              <a:rPr lang="ko-KR" altLang="en-US" sz="110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년 이내면 발급 가능</a:t>
            </a:r>
          </a:p>
        </p:txBody>
      </p:sp>
      <p:sp>
        <p:nvSpPr>
          <p:cNvPr id="29" name="S04_ExclusionTitle">
            <a:extLst>
              <a:ext uri="{FF2B5EF4-FFF2-40B4-BE49-F238E27FC236}">
                <a16:creationId xmlns:a16="http://schemas.microsoft.com/office/drawing/2014/main" id="{F06904E3-8224-40AA-8EB3-B07ABE311423}"/>
              </a:ext>
            </a:extLst>
          </p:cNvPr>
          <p:cNvSpPr txBox="1"/>
          <p:nvPr/>
        </p:nvSpPr>
        <p:spPr>
          <a:xfrm>
            <a:off x="838200" y="3200400"/>
            <a:ext cx="44958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ko-KR" altLang="en-US" sz="1080" b="1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지원 제외 대상</a:t>
            </a:r>
            <a:r>
              <a:rPr lang="en-US" altLang="ko-KR" sz="1080" b="1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080" b="1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요약</a:t>
            </a:r>
            <a:r>
              <a:rPr lang="en-US" altLang="ko-KR" sz="1080" b="1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endParaRPr lang="ko-KR" altLang="en-US" sz="1080" b="1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0" name="S04_Exclusions">
            <a:extLst>
              <a:ext uri="{FF2B5EF4-FFF2-40B4-BE49-F238E27FC236}">
                <a16:creationId xmlns:a16="http://schemas.microsoft.com/office/drawing/2014/main" id="{A8F1883C-B7D7-4EE7-9729-7601916F044D}"/>
              </a:ext>
            </a:extLst>
          </p:cNvPr>
          <p:cNvSpPr txBox="1"/>
          <p:nvPr/>
        </p:nvSpPr>
        <p:spPr>
          <a:xfrm>
            <a:off x="889000" y="3556000"/>
            <a:ext cx="4419600" cy="228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공무원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사립학교 교직원
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75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세 이상
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대규모기업 근로자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월 임금 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300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이상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·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 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45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세 미만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
• 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월 소득 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500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이상 특수형태근로종사자
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사업기간 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년 미만이거나 연 매출 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4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억원 이상 자영업자
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사업기간 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년 미만이거나 월 소득 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300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이상 법인대표
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월 소득 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300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이상 비영리단체 대표
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졸업까지 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년 이상 남은 대학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원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생
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생계급여 수급자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단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조건부 수급자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·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조건부 유예자는 가능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
• 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다른 부처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·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지자체에서 훈련비를 지원받는 사람
</a:t>
            </a:r>
            <a:r>
              <a:rPr lang="en-US" altLang="ko-KR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88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부정수급자 등</a:t>
            </a:r>
          </a:p>
        </p:txBody>
      </p:sp>
      <p:sp>
        <p:nvSpPr>
          <p:cNvPr id="31" name="S04_Rates_Base">
            <a:extLst>
              <a:ext uri="{FF2B5EF4-FFF2-40B4-BE49-F238E27FC236}">
                <a16:creationId xmlns:a16="http://schemas.microsoft.com/office/drawing/2014/main" id="{48B2EC64-81B6-4C5B-8111-78A6FF44D8D7}"/>
              </a:ext>
            </a:extLst>
          </p:cNvPr>
          <p:cNvSpPr/>
          <p:nvPr/>
        </p:nvSpPr>
        <p:spPr>
          <a:xfrm>
            <a:off x="5867400" y="1727200"/>
            <a:ext cx="5778500" cy="184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S04_Rates_Header">
            <a:extLst>
              <a:ext uri="{FF2B5EF4-FFF2-40B4-BE49-F238E27FC236}">
                <a16:creationId xmlns:a16="http://schemas.microsoft.com/office/drawing/2014/main" id="{5E1557E1-5EAB-4BAE-8ABE-6F1AAFC5536C}"/>
              </a:ext>
            </a:extLst>
          </p:cNvPr>
          <p:cNvSpPr/>
          <p:nvPr/>
        </p:nvSpPr>
        <p:spPr>
          <a:xfrm>
            <a:off x="5867400" y="1727200"/>
            <a:ext cx="57785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3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훈련비 지원율</a:t>
            </a:r>
          </a:p>
        </p:txBody>
      </p:sp>
      <p:sp>
        <p:nvSpPr>
          <p:cNvPr id="33" name="S04_Rates_Body">
            <a:extLst>
              <a:ext uri="{FF2B5EF4-FFF2-40B4-BE49-F238E27FC236}">
                <a16:creationId xmlns:a16="http://schemas.microsoft.com/office/drawing/2014/main" id="{30705870-8B01-4FC6-A901-883FF5913E0E}"/>
              </a:ext>
            </a:extLst>
          </p:cNvPr>
          <p:cNvSpPr txBox="1"/>
          <p:nvPr/>
        </p:nvSpPr>
        <p:spPr>
          <a:xfrm>
            <a:off x="6019800" y="2184400"/>
            <a:ext cx="54737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일반 참여자 </a:t>
            </a:r>
            <a:r>
              <a:rPr lang="en-US" altLang="ko-KR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45~85%
• </a:t>
            </a:r>
            <a:r>
              <a:rPr lang="ko-KR" altLang="en-US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국민취업지원제도 </a:t>
            </a:r>
            <a:r>
              <a:rPr lang="en-US" altLang="ko-KR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I</a:t>
            </a:r>
            <a:r>
              <a:rPr lang="ko-KR" altLang="en-US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유형</a:t>
            </a:r>
            <a:r>
              <a:rPr lang="en-US" altLang="ko-KR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II</a:t>
            </a:r>
            <a:r>
              <a:rPr lang="ko-KR" altLang="en-US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유형 중 특정계층 등 일반 </a:t>
            </a:r>
            <a:r>
              <a:rPr lang="ko-KR" altLang="en-US" sz="980" spc="-20" dirty="0" err="1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자부담</a:t>
            </a:r>
            <a:r>
              <a:rPr lang="ko-KR" altLang="en-US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980" spc="-20" dirty="0" err="1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적용자</a:t>
            </a:r>
            <a:r>
              <a:rPr lang="ko-KR" altLang="en-US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80~100%
• </a:t>
            </a:r>
            <a:r>
              <a:rPr lang="ko-KR" altLang="en-US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국민취업지원제도 </a:t>
            </a:r>
            <a:r>
              <a:rPr lang="en-US" altLang="ko-KR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II</a:t>
            </a:r>
            <a:r>
              <a:rPr lang="ko-KR" altLang="en-US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유형</a:t>
            </a:r>
            <a:r>
              <a:rPr lang="en-US" altLang="ko-KR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청년</a:t>
            </a:r>
            <a:r>
              <a:rPr lang="en-US" altLang="ko-KR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·</a:t>
            </a:r>
            <a:r>
              <a:rPr lang="ko-KR" altLang="en-US" sz="980" spc="-20" dirty="0" err="1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중장년</a:t>
            </a:r>
            <a:r>
              <a:rPr lang="ko-KR" altLang="en-US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 등</a:t>
            </a:r>
            <a:r>
              <a:rPr lang="en-US" altLang="ko-KR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 50~85%
• </a:t>
            </a:r>
            <a:r>
              <a:rPr lang="ko-KR" altLang="en-US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근로장려금</a:t>
            </a:r>
            <a:r>
              <a:rPr lang="en-US" altLang="ko-KR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(EITC) </a:t>
            </a:r>
            <a:r>
              <a:rPr lang="ko-KR" altLang="en-US" sz="980" spc="-20" dirty="0" err="1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수급자</a:t>
            </a:r>
            <a:r>
              <a:rPr lang="ko-KR" altLang="en-US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980" spc="-20" dirty="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72.5~92.5%</a:t>
            </a:r>
            <a:endParaRPr lang="ko-KR" altLang="en-US" sz="980" spc="-20" dirty="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4" name="S04_ExtraBase">
            <a:extLst>
              <a:ext uri="{FF2B5EF4-FFF2-40B4-BE49-F238E27FC236}">
                <a16:creationId xmlns:a16="http://schemas.microsoft.com/office/drawing/2014/main" id="{2614A243-15A5-4334-8619-EFD2E34DF037}"/>
              </a:ext>
            </a:extLst>
          </p:cNvPr>
          <p:cNvSpPr/>
          <p:nvPr/>
        </p:nvSpPr>
        <p:spPr>
          <a:xfrm>
            <a:off x="5867400" y="3708400"/>
            <a:ext cx="5778500" cy="22987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S04_ExtraHeader">
            <a:extLst>
              <a:ext uri="{FF2B5EF4-FFF2-40B4-BE49-F238E27FC236}">
                <a16:creationId xmlns:a16="http://schemas.microsoft.com/office/drawing/2014/main" id="{4A458024-170A-4883-B48C-3F45243B3B17}"/>
              </a:ext>
            </a:extLst>
          </p:cNvPr>
          <p:cNvSpPr/>
          <p:nvPr/>
        </p:nvSpPr>
        <p:spPr>
          <a:xfrm>
            <a:off x="5867400" y="3708400"/>
            <a:ext cx="5778500" cy="381000"/>
          </a:xfrm>
          <a:prstGeom prst="roundRect">
            <a:avLst>
              <a:gd name="adj" fmla="val 10000"/>
            </a:avLst>
          </a:prstGeom>
          <a:solidFill>
            <a:srgbClr val="064682"/>
          </a:solidFill>
          <a:ln w="6350">
            <a:solidFill>
              <a:srgbClr val="0646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3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추가 지원 대상자</a:t>
            </a:r>
          </a:p>
        </p:txBody>
      </p:sp>
      <p:sp>
        <p:nvSpPr>
          <p:cNvPr id="36" name="S04_ExtraLead">
            <a:extLst>
              <a:ext uri="{FF2B5EF4-FFF2-40B4-BE49-F238E27FC236}">
                <a16:creationId xmlns:a16="http://schemas.microsoft.com/office/drawing/2014/main" id="{03247BBC-8941-4C0F-A6D6-96149C2EA401}"/>
              </a:ext>
            </a:extLst>
          </p:cNvPr>
          <p:cNvSpPr/>
          <p:nvPr/>
        </p:nvSpPr>
        <p:spPr>
          <a:xfrm>
            <a:off x="6070600" y="4191000"/>
            <a:ext cx="5372100" cy="3429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en-US" altLang="ko-KR" sz="96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300</a:t>
            </a:r>
            <a:r>
              <a:rPr lang="ko-KR" altLang="en-US" sz="96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소진 시 </a:t>
            </a:r>
            <a:r>
              <a:rPr lang="en-US" altLang="ko-KR" sz="96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200</a:t>
            </a:r>
            <a:r>
              <a:rPr lang="ko-KR" altLang="en-US" sz="96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추가 </a:t>
            </a:r>
            <a:r>
              <a:rPr lang="en-US" altLang="ko-KR" sz="96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/ </a:t>
            </a:r>
            <a:r>
              <a:rPr lang="ko-KR" altLang="en-US" sz="96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총 </a:t>
            </a:r>
            <a:r>
              <a:rPr lang="en-US" altLang="ko-KR" sz="96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500</a:t>
            </a:r>
            <a:r>
              <a:rPr lang="ko-KR" altLang="en-US" sz="96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한도</a:t>
            </a:r>
          </a:p>
        </p:txBody>
      </p:sp>
      <p:sp>
        <p:nvSpPr>
          <p:cNvPr id="37" name="S04_Extras">
            <a:extLst>
              <a:ext uri="{FF2B5EF4-FFF2-40B4-BE49-F238E27FC236}">
                <a16:creationId xmlns:a16="http://schemas.microsoft.com/office/drawing/2014/main" id="{B94C9E61-67D6-4531-9DB2-461A9F9D92A8}"/>
              </a:ext>
            </a:extLst>
          </p:cNvPr>
          <p:cNvSpPr txBox="1"/>
          <p:nvPr/>
        </p:nvSpPr>
        <p:spPr>
          <a:xfrm>
            <a:off x="6096000" y="4622800"/>
            <a:ext cx="5321300" cy="1244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1. 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기간제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·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파견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·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단시간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·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일용근로자로 재직 중인 피보험자
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2. 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고용위기지역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·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선제대응지역 지원대상자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특별고용지원업종 종사자
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3. 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출소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예정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자
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4. 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기초생활수급자 및 차상위계층
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5. 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장애인
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6. 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자립준비청년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한부모가족 해당자
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7. 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북한이탈주민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아프간 특별기여자
</a:t>
            </a:r>
            <a:r>
              <a:rPr lang="en-US" altLang="ko-KR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8. </a:t>
            </a:r>
            <a:r>
              <a:rPr lang="ko-KR" altLang="en-US" sz="87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청소년복지지원법에 따른 가정밖 청소년</a:t>
            </a:r>
          </a:p>
        </p:txBody>
      </p:sp>
      <p:sp>
        <p:nvSpPr>
          <p:cNvPr id="38" name="S04_Footer">
            <a:extLst>
              <a:ext uri="{FF2B5EF4-FFF2-40B4-BE49-F238E27FC236}">
                <a16:creationId xmlns:a16="http://schemas.microsoft.com/office/drawing/2014/main" id="{B1C23B06-CDCF-4E74-B956-580DF348D381}"/>
              </a:ext>
            </a:extLst>
          </p:cNvPr>
          <p:cNvSpPr txBox="1"/>
          <p:nvPr/>
        </p:nvSpPr>
        <p:spPr>
          <a:xfrm>
            <a:off x="533400" y="6172200"/>
            <a:ext cx="11112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ko-KR" sz="850">
                <a:solidFill>
                  <a:srgbClr val="7B8794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※ </a:t>
            </a:r>
            <a:r>
              <a:rPr lang="ko-KR" altLang="en-US" sz="850">
                <a:solidFill>
                  <a:srgbClr val="7B8794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고용</a:t>
            </a:r>
            <a:r>
              <a:rPr lang="en-US" altLang="ko-KR" sz="850">
                <a:solidFill>
                  <a:srgbClr val="7B8794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24 </a:t>
            </a:r>
            <a:r>
              <a:rPr lang="ko-KR" altLang="en-US" sz="850">
                <a:solidFill>
                  <a:srgbClr val="7B8794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기준 요약 정리</a:t>
            </a:r>
          </a:p>
        </p:txBody>
      </p:sp>
    </p:spTree>
    <p:extLst>
      <p:ext uri="{BB962C8B-B14F-4D97-AF65-F5344CB8AC3E}">
        <p14:creationId xmlns:p14="http://schemas.microsoft.com/office/powerpoint/2010/main" val="2623890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5_Chapter">
            <a:extLst>
              <a:ext uri="{FF2B5EF4-FFF2-40B4-BE49-F238E27FC236}">
                <a16:creationId xmlns:a16="http://schemas.microsoft.com/office/drawing/2014/main" id="{6D2808E8-065B-41A1-BBDF-3C4455F2AE08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1.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국비지원</a:t>
            </a:r>
          </a:p>
        </p:txBody>
      </p:sp>
      <p:sp>
        <p:nvSpPr>
          <p:cNvPr id="23" name="S5_Title">
            <a:extLst>
              <a:ext uri="{FF2B5EF4-FFF2-40B4-BE49-F238E27FC236}">
                <a16:creationId xmlns:a16="http://schemas.microsoft.com/office/drawing/2014/main" id="{6126356F-4BB6-4B74-B9F0-CAA3F9087CB9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5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내일배움카드 </a:t>
            </a:r>
            <a:r>
              <a:rPr lang="en-US" altLang="ko-KR" sz="25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vs </a:t>
            </a:r>
            <a:r>
              <a:rPr lang="ko-KR" altLang="en-US" sz="25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국민취업지원제도</a:t>
            </a:r>
          </a:p>
        </p:txBody>
      </p:sp>
      <p:sp>
        <p:nvSpPr>
          <p:cNvPr id="24" name="S5_PageBadge">
            <a:extLst>
              <a:ext uri="{FF2B5EF4-FFF2-40B4-BE49-F238E27FC236}">
                <a16:creationId xmlns:a16="http://schemas.microsoft.com/office/drawing/2014/main" id="{C313ABFE-558E-49DE-A06B-3427F6A70517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05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25" name="S5_HeaderRule">
            <a:extLst>
              <a:ext uri="{FF2B5EF4-FFF2-40B4-BE49-F238E27FC236}">
                <a16:creationId xmlns:a16="http://schemas.microsoft.com/office/drawing/2014/main" id="{9B67D1AD-352E-43AF-9B68-A0C48EC039CE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05_Column1">
            <a:extLst>
              <a:ext uri="{FF2B5EF4-FFF2-40B4-BE49-F238E27FC236}">
                <a16:creationId xmlns:a16="http://schemas.microsoft.com/office/drawing/2014/main" id="{2AA03935-731E-4E0F-849F-5C971387BB65}"/>
              </a:ext>
            </a:extLst>
          </p:cNvPr>
          <p:cNvSpPr/>
          <p:nvPr/>
        </p:nvSpPr>
        <p:spPr>
          <a:xfrm>
            <a:off x="533400" y="1168400"/>
            <a:ext cx="5397500" cy="4800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S05_ColumnHeader1">
            <a:extLst>
              <a:ext uri="{FF2B5EF4-FFF2-40B4-BE49-F238E27FC236}">
                <a16:creationId xmlns:a16="http://schemas.microsoft.com/office/drawing/2014/main" id="{CF4C757C-7229-48F2-AB45-DD629F4877D2}"/>
              </a:ext>
            </a:extLst>
          </p:cNvPr>
          <p:cNvSpPr/>
          <p:nvPr/>
        </p:nvSpPr>
        <p:spPr>
          <a:xfrm>
            <a:off x="533400" y="1168400"/>
            <a:ext cx="5397500" cy="546100"/>
          </a:xfrm>
          <a:prstGeom prst="roundRect">
            <a:avLst>
              <a:gd name="adj" fmla="val 10000"/>
            </a:avLst>
          </a:prstGeom>
          <a:solidFill>
            <a:srgbClr val="064682"/>
          </a:solidFill>
          <a:ln w="6350">
            <a:solidFill>
              <a:srgbClr val="0646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70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내일배움카드</a:t>
            </a:r>
          </a:p>
        </p:txBody>
      </p:sp>
      <p:sp>
        <p:nvSpPr>
          <p:cNvPr id="28" name="S05_Tagline1">
            <a:extLst>
              <a:ext uri="{FF2B5EF4-FFF2-40B4-BE49-F238E27FC236}">
                <a16:creationId xmlns:a16="http://schemas.microsoft.com/office/drawing/2014/main" id="{3BC6CFF4-2030-4D0F-9168-3C80711F754E}"/>
              </a:ext>
            </a:extLst>
          </p:cNvPr>
          <p:cNvSpPr/>
          <p:nvPr/>
        </p:nvSpPr>
        <p:spPr>
          <a:xfrm>
            <a:off x="762000" y="1841500"/>
            <a:ext cx="4940300" cy="5334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35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선지급 후 수업</a:t>
            </a:r>
          </a:p>
        </p:txBody>
      </p:sp>
      <p:sp>
        <p:nvSpPr>
          <p:cNvPr id="29" name="S05_AdvLabel1">
            <a:extLst>
              <a:ext uri="{FF2B5EF4-FFF2-40B4-BE49-F238E27FC236}">
                <a16:creationId xmlns:a16="http://schemas.microsoft.com/office/drawing/2014/main" id="{8FFCE65C-EBF5-4775-A18A-73EFD636F21F}"/>
              </a:ext>
            </a:extLst>
          </p:cNvPr>
          <p:cNvSpPr txBox="1"/>
          <p:nvPr/>
        </p:nvSpPr>
        <p:spPr>
          <a:xfrm>
            <a:off x="787400" y="2527300"/>
            <a:ext cx="825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2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장점</a:t>
            </a:r>
          </a:p>
        </p:txBody>
      </p:sp>
      <p:sp>
        <p:nvSpPr>
          <p:cNvPr id="30" name="S05_AdvBody1">
            <a:extLst>
              <a:ext uri="{FF2B5EF4-FFF2-40B4-BE49-F238E27FC236}">
                <a16:creationId xmlns:a16="http://schemas.microsoft.com/office/drawing/2014/main" id="{774F3E7E-CF3E-4323-9A59-A961E13E17AC}"/>
              </a:ext>
            </a:extLst>
          </p:cNvPr>
          <p:cNvSpPr txBox="1"/>
          <p:nvPr/>
        </p:nvSpPr>
        <p:spPr>
          <a:xfrm>
            <a:off x="1676400" y="2463799"/>
            <a:ext cx="40005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최초 발급 시 카드에 </a:t>
            </a:r>
            <a:r>
              <a:rPr lang="en-US" altLang="ko-KR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300</a:t>
            </a:r>
            <a:r>
              <a:rPr lang="ko-KR" altLang="en-US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충전</a:t>
            </a:r>
            <a:r>
              <a:rPr lang="en-US" altLang="ko-KR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구직자</a:t>
            </a:r>
            <a:r>
              <a:rPr lang="en-US" altLang="ko-KR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/</a:t>
            </a:r>
            <a:r>
              <a:rPr lang="ko-KR" altLang="en-US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재직자</a:t>
            </a:r>
            <a:r>
              <a:rPr lang="en-US" altLang="ko-KR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/</a:t>
            </a:r>
            <a:r>
              <a:rPr lang="ko-KR" altLang="en-US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사업자 참여 가능
</a:t>
            </a:r>
            <a:r>
              <a:rPr lang="en-US" altLang="ko-KR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적합한 과정일 경우 적은 자부담</a:t>
            </a:r>
            <a:r>
              <a:rPr lang="en-US" altLang="ko-KR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취업 연계</a:t>
            </a:r>
          </a:p>
        </p:txBody>
      </p:sp>
      <p:cxnSp>
        <p:nvCxnSpPr>
          <p:cNvPr id="31" name="S05_Divider1">
            <a:extLst>
              <a:ext uri="{FF2B5EF4-FFF2-40B4-BE49-F238E27FC236}">
                <a16:creationId xmlns:a16="http://schemas.microsoft.com/office/drawing/2014/main" id="{214B6103-3192-475D-9CD4-AC06D9653F8A}"/>
              </a:ext>
            </a:extLst>
          </p:cNvPr>
          <p:cNvCxnSpPr/>
          <p:nvPr/>
        </p:nvCxnSpPr>
        <p:spPr>
          <a:xfrm>
            <a:off x="787400" y="3835400"/>
            <a:ext cx="4889500" cy="0"/>
          </a:xfrm>
          <a:prstGeom prst="line">
            <a:avLst/>
          </a:prstGeom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05_DisLabel1">
            <a:extLst>
              <a:ext uri="{FF2B5EF4-FFF2-40B4-BE49-F238E27FC236}">
                <a16:creationId xmlns:a16="http://schemas.microsoft.com/office/drawing/2014/main" id="{34D7C173-E690-4F1E-928B-5E29A6BF54BE}"/>
              </a:ext>
            </a:extLst>
          </p:cNvPr>
          <p:cNvSpPr txBox="1"/>
          <p:nvPr/>
        </p:nvSpPr>
        <p:spPr>
          <a:xfrm>
            <a:off x="787400" y="4013200"/>
            <a:ext cx="825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250" b="1">
                <a:solidFill>
                  <a:srgbClr val="B44545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단점</a:t>
            </a:r>
          </a:p>
        </p:txBody>
      </p:sp>
      <p:sp>
        <p:nvSpPr>
          <p:cNvPr id="33" name="S05_DisBody1">
            <a:extLst>
              <a:ext uri="{FF2B5EF4-FFF2-40B4-BE49-F238E27FC236}">
                <a16:creationId xmlns:a16="http://schemas.microsoft.com/office/drawing/2014/main" id="{6046BBF5-5FCF-4AED-85E1-A5D21008BD70}"/>
              </a:ext>
            </a:extLst>
          </p:cNvPr>
          <p:cNvSpPr txBox="1"/>
          <p:nvPr/>
        </p:nvSpPr>
        <p:spPr>
          <a:xfrm>
            <a:off x="1676400" y="3949700"/>
            <a:ext cx="4000500" cy="184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정해진 수업 내 과정조율 불가
</a:t>
            </a:r>
            <a:r>
              <a:rPr lang="en-US" altLang="ko-KR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고용</a:t>
            </a:r>
            <a:r>
              <a:rPr lang="en-US" altLang="ko-KR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24 </a:t>
            </a:r>
            <a:r>
              <a:rPr lang="ko-KR" altLang="en-US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등록 된 과정만 사용 가능
</a:t>
            </a:r>
            <a:r>
              <a:rPr lang="en-US" altLang="ko-KR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수강료 전액 결제 불가능 </a:t>
            </a:r>
            <a:r>
              <a:rPr lang="en-US" altLang="ko-KR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(15~55% </a:t>
            </a:r>
            <a:r>
              <a:rPr lang="ko-KR" altLang="en-US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부담</a:t>
            </a:r>
            <a:r>
              <a:rPr lang="en-US" altLang="ko-KR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
• 100% </a:t>
            </a:r>
            <a:r>
              <a:rPr lang="ko-KR" altLang="en-US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대면으로 진행되며 출결 미달 시 탈락
</a:t>
            </a:r>
            <a:r>
              <a:rPr lang="en-US" altLang="ko-KR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기초부터 진행하여 전공자에겐 부적합</a:t>
            </a:r>
          </a:p>
        </p:txBody>
      </p:sp>
      <p:sp>
        <p:nvSpPr>
          <p:cNvPr id="34" name="S05_Column2">
            <a:extLst>
              <a:ext uri="{FF2B5EF4-FFF2-40B4-BE49-F238E27FC236}">
                <a16:creationId xmlns:a16="http://schemas.microsoft.com/office/drawing/2014/main" id="{6B6F6B68-D67F-42B7-9BC6-2DFF196EBF1D}"/>
              </a:ext>
            </a:extLst>
          </p:cNvPr>
          <p:cNvSpPr/>
          <p:nvPr/>
        </p:nvSpPr>
        <p:spPr>
          <a:xfrm>
            <a:off x="6261100" y="1168400"/>
            <a:ext cx="5397500" cy="4800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S05_ColumnHeader2">
            <a:extLst>
              <a:ext uri="{FF2B5EF4-FFF2-40B4-BE49-F238E27FC236}">
                <a16:creationId xmlns:a16="http://schemas.microsoft.com/office/drawing/2014/main" id="{AA2DF94D-672C-4816-888D-2600CA86ADB9}"/>
              </a:ext>
            </a:extLst>
          </p:cNvPr>
          <p:cNvSpPr/>
          <p:nvPr/>
        </p:nvSpPr>
        <p:spPr>
          <a:xfrm>
            <a:off x="6261100" y="1168400"/>
            <a:ext cx="5397500" cy="546100"/>
          </a:xfrm>
          <a:prstGeom prst="roundRect">
            <a:avLst>
              <a:gd name="adj" fmla="val 10000"/>
            </a:avLst>
          </a:prstGeom>
          <a:solidFill>
            <a:srgbClr val="087F82"/>
          </a:solidFill>
          <a:ln w="6350">
            <a:solidFill>
              <a:srgbClr val="087F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70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국민취업지원제도</a:t>
            </a:r>
          </a:p>
        </p:txBody>
      </p:sp>
      <p:sp>
        <p:nvSpPr>
          <p:cNvPr id="36" name="S05_Tagline2">
            <a:extLst>
              <a:ext uri="{FF2B5EF4-FFF2-40B4-BE49-F238E27FC236}">
                <a16:creationId xmlns:a16="http://schemas.microsoft.com/office/drawing/2014/main" id="{C0265217-E77A-402A-8935-13EB5B026418}"/>
              </a:ext>
            </a:extLst>
          </p:cNvPr>
          <p:cNvSpPr/>
          <p:nvPr/>
        </p:nvSpPr>
        <p:spPr>
          <a:xfrm>
            <a:off x="6489700" y="1841500"/>
            <a:ext cx="4940300" cy="5334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35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선수업 후 지급</a:t>
            </a:r>
          </a:p>
        </p:txBody>
      </p:sp>
      <p:sp>
        <p:nvSpPr>
          <p:cNvPr id="37" name="S05_AdvLabel2">
            <a:extLst>
              <a:ext uri="{FF2B5EF4-FFF2-40B4-BE49-F238E27FC236}">
                <a16:creationId xmlns:a16="http://schemas.microsoft.com/office/drawing/2014/main" id="{7FF83819-EF81-42BD-981B-8E9549BA3D31}"/>
              </a:ext>
            </a:extLst>
          </p:cNvPr>
          <p:cNvSpPr txBox="1"/>
          <p:nvPr/>
        </p:nvSpPr>
        <p:spPr>
          <a:xfrm>
            <a:off x="6515100" y="2527300"/>
            <a:ext cx="825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2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장점</a:t>
            </a:r>
          </a:p>
        </p:txBody>
      </p:sp>
      <p:sp>
        <p:nvSpPr>
          <p:cNvPr id="38" name="S05_AdvBody2">
            <a:extLst>
              <a:ext uri="{FF2B5EF4-FFF2-40B4-BE49-F238E27FC236}">
                <a16:creationId xmlns:a16="http://schemas.microsoft.com/office/drawing/2014/main" id="{D4633F65-D485-40C7-81C3-C8A45049BA6D}"/>
              </a:ext>
            </a:extLst>
          </p:cNvPr>
          <p:cNvSpPr txBox="1"/>
          <p:nvPr/>
        </p:nvSpPr>
        <p:spPr>
          <a:xfrm>
            <a:off x="7404100" y="2463800"/>
            <a:ext cx="40005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스케줄</a:t>
            </a:r>
            <a:r>
              <a:rPr lang="en-US" altLang="ko-KR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과정 조율 가능</a:t>
            </a:r>
            <a:r>
              <a:rPr lang="en-US" altLang="ko-KR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모든 과목에 적용할 수 있음
</a:t>
            </a:r>
            <a:r>
              <a:rPr lang="en-US" altLang="ko-KR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촉진수당 </a:t>
            </a:r>
            <a:r>
              <a:rPr lang="en-US" altLang="ko-KR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360</a:t>
            </a:r>
            <a:r>
              <a:rPr lang="ko-KR" altLang="en-US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전액 수강료 사용 가능
</a:t>
            </a:r>
            <a:r>
              <a:rPr lang="en-US" altLang="ko-KR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비대면으로 진행해도 수당 지급
</a:t>
            </a:r>
            <a:r>
              <a:rPr lang="en-US" altLang="ko-KR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취업 성공 수당 </a:t>
            </a:r>
            <a:r>
              <a:rPr lang="en-US" altLang="ko-KR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150</a:t>
            </a:r>
            <a:r>
              <a:rPr lang="ko-KR" altLang="en-US" sz="105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만원까지 수급 가능</a:t>
            </a:r>
          </a:p>
        </p:txBody>
      </p:sp>
      <p:cxnSp>
        <p:nvCxnSpPr>
          <p:cNvPr id="39" name="S05_Divider2">
            <a:extLst>
              <a:ext uri="{FF2B5EF4-FFF2-40B4-BE49-F238E27FC236}">
                <a16:creationId xmlns:a16="http://schemas.microsoft.com/office/drawing/2014/main" id="{0CECA396-2F49-4CD1-80BB-50D628C57255}"/>
              </a:ext>
            </a:extLst>
          </p:cNvPr>
          <p:cNvCxnSpPr/>
          <p:nvPr/>
        </p:nvCxnSpPr>
        <p:spPr>
          <a:xfrm>
            <a:off x="6515100" y="3835400"/>
            <a:ext cx="4889500" cy="0"/>
          </a:xfrm>
          <a:prstGeom prst="line">
            <a:avLst/>
          </a:prstGeom>
          <a:ln w="12700">
            <a:solidFill>
              <a:srgbClr val="B9D9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05_DisLabel2">
            <a:extLst>
              <a:ext uri="{FF2B5EF4-FFF2-40B4-BE49-F238E27FC236}">
                <a16:creationId xmlns:a16="http://schemas.microsoft.com/office/drawing/2014/main" id="{4D15161E-71CA-47AE-A975-F437E2249400}"/>
              </a:ext>
            </a:extLst>
          </p:cNvPr>
          <p:cNvSpPr txBox="1"/>
          <p:nvPr/>
        </p:nvSpPr>
        <p:spPr>
          <a:xfrm>
            <a:off x="6515100" y="4013200"/>
            <a:ext cx="825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250" b="1">
                <a:solidFill>
                  <a:srgbClr val="B44545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단점</a:t>
            </a:r>
          </a:p>
        </p:txBody>
      </p:sp>
      <p:sp>
        <p:nvSpPr>
          <p:cNvPr id="41" name="S05_DisBody2">
            <a:extLst>
              <a:ext uri="{FF2B5EF4-FFF2-40B4-BE49-F238E27FC236}">
                <a16:creationId xmlns:a16="http://schemas.microsoft.com/office/drawing/2014/main" id="{C2425436-57D8-44FC-93F1-73F1F47EFF85}"/>
              </a:ext>
            </a:extLst>
          </p:cNvPr>
          <p:cNvSpPr txBox="1"/>
          <p:nvPr/>
        </p:nvSpPr>
        <p:spPr>
          <a:xfrm>
            <a:off x="7404100" y="3949699"/>
            <a:ext cx="4000500" cy="184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3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선 납부 후 수당 지급으로 인한 부담 증가</a:t>
            </a:r>
          </a:p>
        </p:txBody>
      </p:sp>
    </p:spTree>
    <p:extLst>
      <p:ext uri="{BB962C8B-B14F-4D97-AF65-F5344CB8AC3E}">
        <p14:creationId xmlns:p14="http://schemas.microsoft.com/office/powerpoint/2010/main" val="2550660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6_Chapter">
            <a:extLst>
              <a:ext uri="{FF2B5EF4-FFF2-40B4-BE49-F238E27FC236}">
                <a16:creationId xmlns:a16="http://schemas.microsoft.com/office/drawing/2014/main" id="{D5675BE6-CA6D-4FED-A7FB-13241F32E7BB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2.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컨택 스피치</a:t>
            </a:r>
          </a:p>
        </p:txBody>
      </p:sp>
      <p:sp>
        <p:nvSpPr>
          <p:cNvPr id="8" name="S6_Title">
            <a:extLst>
              <a:ext uri="{FF2B5EF4-FFF2-40B4-BE49-F238E27FC236}">
                <a16:creationId xmlns:a16="http://schemas.microsoft.com/office/drawing/2014/main" id="{32A71E9D-8EC6-4C3B-917A-BCA476E6CA07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문의의 흐름</a:t>
            </a:r>
          </a:p>
        </p:txBody>
      </p:sp>
      <p:sp>
        <p:nvSpPr>
          <p:cNvPr id="28" name="S6_PageBadge">
            <a:extLst>
              <a:ext uri="{FF2B5EF4-FFF2-40B4-BE49-F238E27FC236}">
                <a16:creationId xmlns:a16="http://schemas.microsoft.com/office/drawing/2014/main" id="{B11BAD37-6886-427E-93DF-254E4BFA3B78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06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29" name="S6_HeaderRule">
            <a:extLst>
              <a:ext uri="{FF2B5EF4-FFF2-40B4-BE49-F238E27FC236}">
                <a16:creationId xmlns:a16="http://schemas.microsoft.com/office/drawing/2014/main" id="{D1D3636A-1E7E-4C51-B3C1-FDA2050F18E7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6_Reference_Frame">
            <a:extLst>
              <a:ext uri="{FF2B5EF4-FFF2-40B4-BE49-F238E27FC236}">
                <a16:creationId xmlns:a16="http://schemas.microsoft.com/office/drawing/2014/main" id="{2C1BCE6F-4E65-46D9-ABA6-B70B9718DC2A}"/>
              </a:ext>
            </a:extLst>
          </p:cNvPr>
          <p:cNvSpPr/>
          <p:nvPr/>
        </p:nvSpPr>
        <p:spPr>
          <a:xfrm>
            <a:off x="533400" y="1219200"/>
            <a:ext cx="5651500" cy="45720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S6_Reference">
            <a:extLst>
              <a:ext uri="{FF2B5EF4-FFF2-40B4-BE49-F238E27FC236}">
                <a16:creationId xmlns:a16="http://schemas.microsoft.com/office/drawing/2014/main" id="{1F55FAFC-6125-4A08-A9E4-0830BFF447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505" y="2801150"/>
            <a:ext cx="2503289" cy="1408100"/>
          </a:xfrm>
          <a:prstGeom prst="rect">
            <a:avLst/>
          </a:prstGeom>
        </p:spPr>
      </p:pic>
      <p:sp>
        <p:nvSpPr>
          <p:cNvPr id="33" name="S6_ReferenceLabel">
            <a:extLst>
              <a:ext uri="{FF2B5EF4-FFF2-40B4-BE49-F238E27FC236}">
                <a16:creationId xmlns:a16="http://schemas.microsoft.com/office/drawing/2014/main" id="{A721F065-7122-4926-91DD-11645622D3C9}"/>
              </a:ext>
            </a:extLst>
          </p:cNvPr>
          <p:cNvSpPr/>
          <p:nvPr/>
        </p:nvSpPr>
        <p:spPr>
          <a:xfrm>
            <a:off x="787400" y="5308600"/>
            <a:ext cx="51435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950" b="1" spc="-2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원문 흐름도 </a:t>
            </a:r>
            <a:r>
              <a:rPr lang="en-US" altLang="ko-KR" sz="950" b="1" spc="-2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· </a:t>
            </a:r>
            <a:r>
              <a:rPr lang="ko-KR" altLang="en-US" sz="950" b="1" spc="-2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응대 문구 전체 보존</a:t>
            </a:r>
          </a:p>
        </p:txBody>
      </p:sp>
      <p:sp>
        <p:nvSpPr>
          <p:cNvPr id="34" name="S6_ScriptBand">
            <a:extLst>
              <a:ext uri="{FF2B5EF4-FFF2-40B4-BE49-F238E27FC236}">
                <a16:creationId xmlns:a16="http://schemas.microsoft.com/office/drawing/2014/main" id="{67B714E2-3971-4F2F-A450-2B9CD32CC34D}"/>
              </a:ext>
            </a:extLst>
          </p:cNvPr>
          <p:cNvSpPr/>
          <p:nvPr/>
        </p:nvSpPr>
        <p:spPr>
          <a:xfrm>
            <a:off x="6438900" y="1219200"/>
            <a:ext cx="5207000" cy="3556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2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기본 컨택 스피치 </a:t>
            </a:r>
            <a:r>
              <a:rPr lang="en-US" altLang="ko-KR" sz="112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· </a:t>
            </a:r>
            <a:r>
              <a:rPr lang="ko-KR" altLang="en-US" sz="112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편집 가능한 원문</a:t>
            </a:r>
          </a:p>
        </p:txBody>
      </p:sp>
      <p:sp>
        <p:nvSpPr>
          <p:cNvPr id="35" name="S6_Script_Row1">
            <a:extLst>
              <a:ext uri="{FF2B5EF4-FFF2-40B4-BE49-F238E27FC236}">
                <a16:creationId xmlns:a16="http://schemas.microsoft.com/office/drawing/2014/main" id="{27AA1F67-2C5F-4A0B-94D6-CC3071C12CE1}"/>
              </a:ext>
            </a:extLst>
          </p:cNvPr>
          <p:cNvSpPr/>
          <p:nvPr/>
        </p:nvSpPr>
        <p:spPr>
          <a:xfrm>
            <a:off x="6438900" y="1676400"/>
            <a:ext cx="5207000" cy="9620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S6_Script_Badge1">
            <a:extLst>
              <a:ext uri="{FF2B5EF4-FFF2-40B4-BE49-F238E27FC236}">
                <a16:creationId xmlns:a16="http://schemas.microsoft.com/office/drawing/2014/main" id="{876DE4DB-8149-421D-B489-717C42A88187}"/>
              </a:ext>
            </a:extLst>
          </p:cNvPr>
          <p:cNvSpPr/>
          <p:nvPr/>
        </p:nvSpPr>
        <p:spPr>
          <a:xfrm>
            <a:off x="6565900" y="18034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01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7" name="S6_Script_Title1">
            <a:extLst>
              <a:ext uri="{FF2B5EF4-FFF2-40B4-BE49-F238E27FC236}">
                <a16:creationId xmlns:a16="http://schemas.microsoft.com/office/drawing/2014/main" id="{D75D4D40-47BC-4B25-98D1-0973B70A40A2}"/>
              </a:ext>
            </a:extLst>
          </p:cNvPr>
          <p:cNvSpPr txBox="1"/>
          <p:nvPr/>
        </p:nvSpPr>
        <p:spPr>
          <a:xfrm>
            <a:off x="7073900" y="1752600"/>
            <a:ext cx="444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내일배움카드 교육 찾는 경우</a:t>
            </a:r>
          </a:p>
        </p:txBody>
      </p:sp>
      <p:sp>
        <p:nvSpPr>
          <p:cNvPr id="38" name="S6_Script_Body1">
            <a:extLst>
              <a:ext uri="{FF2B5EF4-FFF2-40B4-BE49-F238E27FC236}">
                <a16:creationId xmlns:a16="http://schemas.microsoft.com/office/drawing/2014/main" id="{0EA23987-4A49-43D6-A44B-D8EFEBEFE79A}"/>
              </a:ext>
            </a:extLst>
          </p:cNvPr>
          <p:cNvSpPr txBox="1"/>
          <p:nvPr/>
        </p:nvSpPr>
        <p:spPr>
          <a:xfrm>
            <a:off x="7073900" y="2032001"/>
            <a:ext cx="4445000" cy="5302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수요의 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80%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이상은 내일배움카드에 해당
국비 지원 제도가 다양해져 방문 시에 개인에게 맞는 국비 과정을 안내해주겠다 이야기 후에 상담 시 국민취업지원제도와 내일배움카드 장단점 비교 후 선택</a:t>
            </a:r>
          </a:p>
        </p:txBody>
      </p:sp>
      <p:sp>
        <p:nvSpPr>
          <p:cNvPr id="39" name="S6_Script_Row2">
            <a:extLst>
              <a:ext uri="{FF2B5EF4-FFF2-40B4-BE49-F238E27FC236}">
                <a16:creationId xmlns:a16="http://schemas.microsoft.com/office/drawing/2014/main" id="{C306DA46-D195-4309-9F9F-08A1A6550A58}"/>
              </a:ext>
            </a:extLst>
          </p:cNvPr>
          <p:cNvSpPr/>
          <p:nvPr/>
        </p:nvSpPr>
        <p:spPr>
          <a:xfrm>
            <a:off x="6438900" y="2727325"/>
            <a:ext cx="5207000" cy="9620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S6_Script_Badge2">
            <a:extLst>
              <a:ext uri="{FF2B5EF4-FFF2-40B4-BE49-F238E27FC236}">
                <a16:creationId xmlns:a16="http://schemas.microsoft.com/office/drawing/2014/main" id="{CFE33B9A-908B-43A6-90C0-4C50C623D6C2}"/>
              </a:ext>
            </a:extLst>
          </p:cNvPr>
          <p:cNvSpPr/>
          <p:nvPr/>
        </p:nvSpPr>
        <p:spPr>
          <a:xfrm>
            <a:off x="6565900" y="2854325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02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1" name="S6_Script_Title2">
            <a:extLst>
              <a:ext uri="{FF2B5EF4-FFF2-40B4-BE49-F238E27FC236}">
                <a16:creationId xmlns:a16="http://schemas.microsoft.com/office/drawing/2014/main" id="{659FF1B1-F2A0-48B1-9E4F-5C562E88BFF9}"/>
              </a:ext>
            </a:extLst>
          </p:cNvPr>
          <p:cNvSpPr txBox="1"/>
          <p:nvPr/>
        </p:nvSpPr>
        <p:spPr>
          <a:xfrm>
            <a:off x="7073900" y="2803525"/>
            <a:ext cx="444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언급은 없으나 국민취업지원제도 참여 조건이 가능한 경우</a:t>
            </a:r>
          </a:p>
        </p:txBody>
      </p:sp>
      <p:sp>
        <p:nvSpPr>
          <p:cNvPr id="42" name="S6_Script_Body2">
            <a:extLst>
              <a:ext uri="{FF2B5EF4-FFF2-40B4-BE49-F238E27FC236}">
                <a16:creationId xmlns:a16="http://schemas.microsoft.com/office/drawing/2014/main" id="{E8A6B346-F92D-48B4-A917-F6EC17015AFD}"/>
              </a:ext>
            </a:extLst>
          </p:cNvPr>
          <p:cNvSpPr txBox="1"/>
          <p:nvPr/>
        </p:nvSpPr>
        <p:spPr>
          <a:xfrm>
            <a:off x="7073900" y="3082926"/>
            <a:ext cx="4445000" cy="5302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적용 가능한 부분을 먼저 언급 함으로써 타학원 국비 수업과 더블 방지 및 방문에 대한 명분을 제시</a:t>
            </a:r>
          </a:p>
        </p:txBody>
      </p:sp>
      <p:sp>
        <p:nvSpPr>
          <p:cNvPr id="43" name="S6_Script_Row3">
            <a:extLst>
              <a:ext uri="{FF2B5EF4-FFF2-40B4-BE49-F238E27FC236}">
                <a16:creationId xmlns:a16="http://schemas.microsoft.com/office/drawing/2014/main" id="{29403C89-E09B-4C19-BB35-10D747E39BED}"/>
              </a:ext>
            </a:extLst>
          </p:cNvPr>
          <p:cNvSpPr/>
          <p:nvPr/>
        </p:nvSpPr>
        <p:spPr>
          <a:xfrm>
            <a:off x="6438900" y="3778250"/>
            <a:ext cx="5207000" cy="9620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S6_Script_Badge3">
            <a:extLst>
              <a:ext uri="{FF2B5EF4-FFF2-40B4-BE49-F238E27FC236}">
                <a16:creationId xmlns:a16="http://schemas.microsoft.com/office/drawing/2014/main" id="{6365AEAB-713A-48E8-8557-50DC626F1CC8}"/>
              </a:ext>
            </a:extLst>
          </p:cNvPr>
          <p:cNvSpPr/>
          <p:nvPr/>
        </p:nvSpPr>
        <p:spPr>
          <a:xfrm>
            <a:off x="6565900" y="390525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03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5" name="S6_Script_Title3">
            <a:extLst>
              <a:ext uri="{FF2B5EF4-FFF2-40B4-BE49-F238E27FC236}">
                <a16:creationId xmlns:a16="http://schemas.microsoft.com/office/drawing/2014/main" id="{46765770-A47C-4F80-9F08-18500D8426A7}"/>
              </a:ext>
            </a:extLst>
          </p:cNvPr>
          <p:cNvSpPr txBox="1"/>
          <p:nvPr/>
        </p:nvSpPr>
        <p:spPr>
          <a:xfrm>
            <a:off x="7073900" y="3854450"/>
            <a:ext cx="444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국민취업지원제도로 방문 유도를 하고 싶을 경우</a:t>
            </a:r>
          </a:p>
        </p:txBody>
      </p:sp>
      <p:sp>
        <p:nvSpPr>
          <p:cNvPr id="46" name="S6_Script_Body3">
            <a:extLst>
              <a:ext uri="{FF2B5EF4-FFF2-40B4-BE49-F238E27FC236}">
                <a16:creationId xmlns:a16="http://schemas.microsoft.com/office/drawing/2014/main" id="{AFE983E5-C841-4FD4-8D0A-AFE3ACD896E0}"/>
              </a:ext>
            </a:extLst>
          </p:cNvPr>
          <p:cNvSpPr txBox="1"/>
          <p:nvPr/>
        </p:nvSpPr>
        <p:spPr>
          <a:xfrm>
            <a:off x="7073900" y="4133850"/>
            <a:ext cx="4445000" cy="5302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학원 방문 시 모의 산정을 통해 얼마나 지원 받을 수 있는지 확인해주겠다고 안내</a:t>
            </a:r>
          </a:p>
        </p:txBody>
      </p:sp>
      <p:sp>
        <p:nvSpPr>
          <p:cNvPr id="47" name="S6_Script_Row4">
            <a:extLst>
              <a:ext uri="{FF2B5EF4-FFF2-40B4-BE49-F238E27FC236}">
                <a16:creationId xmlns:a16="http://schemas.microsoft.com/office/drawing/2014/main" id="{D12B6DE2-FC9B-40F5-A202-04ECAD563D93}"/>
              </a:ext>
            </a:extLst>
          </p:cNvPr>
          <p:cNvSpPr/>
          <p:nvPr/>
        </p:nvSpPr>
        <p:spPr>
          <a:xfrm>
            <a:off x="6438900" y="4829175"/>
            <a:ext cx="5207000" cy="9620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S6_Script_Badge4">
            <a:extLst>
              <a:ext uri="{FF2B5EF4-FFF2-40B4-BE49-F238E27FC236}">
                <a16:creationId xmlns:a16="http://schemas.microsoft.com/office/drawing/2014/main" id="{D41B2F3C-31F2-44C3-8709-22EC78868588}"/>
              </a:ext>
            </a:extLst>
          </p:cNvPr>
          <p:cNvSpPr/>
          <p:nvPr/>
        </p:nvSpPr>
        <p:spPr>
          <a:xfrm>
            <a:off x="6565900" y="4956175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04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9" name="S6_Script_Title4">
            <a:extLst>
              <a:ext uri="{FF2B5EF4-FFF2-40B4-BE49-F238E27FC236}">
                <a16:creationId xmlns:a16="http://schemas.microsoft.com/office/drawing/2014/main" id="{7C1ECB03-5683-40BA-AFDD-C5D0EA5EEE49}"/>
              </a:ext>
            </a:extLst>
          </p:cNvPr>
          <p:cNvSpPr txBox="1"/>
          <p:nvPr/>
        </p:nvSpPr>
        <p:spPr>
          <a:xfrm>
            <a:off x="7073900" y="4905375"/>
            <a:ext cx="444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날짜를 당기고 싶을 경우</a:t>
            </a:r>
          </a:p>
        </p:txBody>
      </p:sp>
      <p:sp>
        <p:nvSpPr>
          <p:cNvPr id="50" name="S6_Script_Body4">
            <a:extLst>
              <a:ext uri="{FF2B5EF4-FFF2-40B4-BE49-F238E27FC236}">
                <a16:creationId xmlns:a16="http://schemas.microsoft.com/office/drawing/2014/main" id="{EA718721-B81D-4387-B502-884E9652D6EA}"/>
              </a:ext>
            </a:extLst>
          </p:cNvPr>
          <p:cNvSpPr txBox="1"/>
          <p:nvPr/>
        </p:nvSpPr>
        <p:spPr>
          <a:xfrm>
            <a:off x="7073900" y="5184775"/>
            <a:ext cx="4445000" cy="5302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국민취업지원제도에는 예산이 정해져 있음
해당 예산이 특정 기간까지 소진 예정에 있다는 스피치 활용</a:t>
            </a:r>
          </a:p>
        </p:txBody>
      </p:sp>
    </p:spTree>
    <p:extLst>
      <p:ext uri="{BB962C8B-B14F-4D97-AF65-F5344CB8AC3E}">
        <p14:creationId xmlns:p14="http://schemas.microsoft.com/office/powerpoint/2010/main" val="1711405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7_Chapter">
            <a:extLst>
              <a:ext uri="{FF2B5EF4-FFF2-40B4-BE49-F238E27FC236}">
                <a16:creationId xmlns:a16="http://schemas.microsoft.com/office/drawing/2014/main" id="{FAC6B4F0-1DD7-4727-AB13-756DB2D15998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2.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컨택 스피치</a:t>
            </a:r>
          </a:p>
        </p:txBody>
      </p:sp>
      <p:sp>
        <p:nvSpPr>
          <p:cNvPr id="8" name="S7_Title">
            <a:extLst>
              <a:ext uri="{FF2B5EF4-FFF2-40B4-BE49-F238E27FC236}">
                <a16:creationId xmlns:a16="http://schemas.microsoft.com/office/drawing/2014/main" id="{8DB7C566-4EEE-4214-8A1E-A1A2C0CC9087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문의자 유형</a:t>
            </a:r>
          </a:p>
        </p:txBody>
      </p:sp>
      <p:sp>
        <p:nvSpPr>
          <p:cNvPr id="28" name="S7_PageBadge">
            <a:extLst>
              <a:ext uri="{FF2B5EF4-FFF2-40B4-BE49-F238E27FC236}">
                <a16:creationId xmlns:a16="http://schemas.microsoft.com/office/drawing/2014/main" id="{7DBC713E-EE84-463A-AA40-489427CA6E58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07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29" name="S7_HeaderRule">
            <a:extLst>
              <a:ext uri="{FF2B5EF4-FFF2-40B4-BE49-F238E27FC236}">
                <a16:creationId xmlns:a16="http://schemas.microsoft.com/office/drawing/2014/main" id="{8FCEBB5F-C6C2-4837-B72A-845E1FB11143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7_Reference_Frame">
            <a:extLst>
              <a:ext uri="{FF2B5EF4-FFF2-40B4-BE49-F238E27FC236}">
                <a16:creationId xmlns:a16="http://schemas.microsoft.com/office/drawing/2014/main" id="{A5D2CCFC-0D09-4FBB-B2D5-5DF958E65371}"/>
              </a:ext>
            </a:extLst>
          </p:cNvPr>
          <p:cNvSpPr/>
          <p:nvPr/>
        </p:nvSpPr>
        <p:spPr>
          <a:xfrm>
            <a:off x="533400" y="1219200"/>
            <a:ext cx="5651500" cy="45720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S7_Reference">
            <a:extLst>
              <a:ext uri="{FF2B5EF4-FFF2-40B4-BE49-F238E27FC236}">
                <a16:creationId xmlns:a16="http://schemas.microsoft.com/office/drawing/2014/main" id="{C367FA50-CFE4-45FB-A1BB-A42DE5524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48" y="1977449"/>
            <a:ext cx="4873204" cy="2741177"/>
          </a:xfrm>
          <a:prstGeom prst="rect">
            <a:avLst/>
          </a:prstGeom>
        </p:spPr>
      </p:pic>
      <p:sp>
        <p:nvSpPr>
          <p:cNvPr id="33" name="S7_ReferenceLabel">
            <a:extLst>
              <a:ext uri="{FF2B5EF4-FFF2-40B4-BE49-F238E27FC236}">
                <a16:creationId xmlns:a16="http://schemas.microsoft.com/office/drawing/2014/main" id="{C5529E7D-9D82-4051-B6CD-EA212A5F38F1}"/>
              </a:ext>
            </a:extLst>
          </p:cNvPr>
          <p:cNvSpPr/>
          <p:nvPr/>
        </p:nvSpPr>
        <p:spPr>
          <a:xfrm>
            <a:off x="787400" y="5308600"/>
            <a:ext cx="51435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950" b="1" spc="-2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원문 흐름도 </a:t>
            </a:r>
            <a:r>
              <a:rPr lang="en-US" altLang="ko-KR" sz="950" b="1" spc="-2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· </a:t>
            </a:r>
            <a:r>
              <a:rPr lang="ko-KR" altLang="en-US" sz="950" b="1" spc="-20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응대 문구 전체 보존</a:t>
            </a:r>
          </a:p>
        </p:txBody>
      </p:sp>
      <p:sp>
        <p:nvSpPr>
          <p:cNvPr id="34" name="S7_ScriptBand">
            <a:extLst>
              <a:ext uri="{FF2B5EF4-FFF2-40B4-BE49-F238E27FC236}">
                <a16:creationId xmlns:a16="http://schemas.microsoft.com/office/drawing/2014/main" id="{55108234-6212-4CBB-A592-9E887735C476}"/>
              </a:ext>
            </a:extLst>
          </p:cNvPr>
          <p:cNvSpPr/>
          <p:nvPr/>
        </p:nvSpPr>
        <p:spPr>
          <a:xfrm>
            <a:off x="6438900" y="1219200"/>
            <a:ext cx="5207000" cy="3556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2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기본 컨택 스피치 </a:t>
            </a:r>
            <a:r>
              <a:rPr lang="en-US" altLang="ko-KR" sz="112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· </a:t>
            </a:r>
            <a:r>
              <a:rPr lang="ko-KR" altLang="en-US" sz="112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편집 가능한 원문</a:t>
            </a:r>
          </a:p>
        </p:txBody>
      </p:sp>
      <p:sp>
        <p:nvSpPr>
          <p:cNvPr id="35" name="S7_Script_Row1">
            <a:extLst>
              <a:ext uri="{FF2B5EF4-FFF2-40B4-BE49-F238E27FC236}">
                <a16:creationId xmlns:a16="http://schemas.microsoft.com/office/drawing/2014/main" id="{0A60989B-8307-4EBB-B392-20E937EABE95}"/>
              </a:ext>
            </a:extLst>
          </p:cNvPr>
          <p:cNvSpPr/>
          <p:nvPr/>
        </p:nvSpPr>
        <p:spPr>
          <a:xfrm>
            <a:off x="6438900" y="1676400"/>
            <a:ext cx="5207000" cy="9620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S7_Script_Badge1">
            <a:extLst>
              <a:ext uri="{FF2B5EF4-FFF2-40B4-BE49-F238E27FC236}">
                <a16:creationId xmlns:a16="http://schemas.microsoft.com/office/drawing/2014/main" id="{76604B21-1580-4274-B9E4-34FF92D75DA7}"/>
              </a:ext>
            </a:extLst>
          </p:cNvPr>
          <p:cNvSpPr/>
          <p:nvPr/>
        </p:nvSpPr>
        <p:spPr>
          <a:xfrm>
            <a:off x="6565900" y="18034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01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7" name="S7_Script_Title1">
            <a:extLst>
              <a:ext uri="{FF2B5EF4-FFF2-40B4-BE49-F238E27FC236}">
                <a16:creationId xmlns:a16="http://schemas.microsoft.com/office/drawing/2014/main" id="{A297C190-82B3-496D-9C31-2D84130C37D9}"/>
              </a:ext>
            </a:extLst>
          </p:cNvPr>
          <p:cNvSpPr txBox="1"/>
          <p:nvPr/>
        </p:nvSpPr>
        <p:spPr>
          <a:xfrm>
            <a:off x="7073900" y="1752600"/>
            <a:ext cx="444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내일배움카드 교육 찾는 경우</a:t>
            </a:r>
          </a:p>
        </p:txBody>
      </p:sp>
      <p:sp>
        <p:nvSpPr>
          <p:cNvPr id="38" name="S7_Script_Body1">
            <a:extLst>
              <a:ext uri="{FF2B5EF4-FFF2-40B4-BE49-F238E27FC236}">
                <a16:creationId xmlns:a16="http://schemas.microsoft.com/office/drawing/2014/main" id="{496F1B00-5AA0-4B4A-BF83-88E229285DCA}"/>
              </a:ext>
            </a:extLst>
          </p:cNvPr>
          <p:cNvSpPr txBox="1"/>
          <p:nvPr/>
        </p:nvSpPr>
        <p:spPr>
          <a:xfrm>
            <a:off x="7073900" y="2032001"/>
            <a:ext cx="4445000" cy="5302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수요의 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80%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이상은 내일배움카드에 해당
국비 지원 제도가 다양해져 방문 시에 개인에게 맞는 국비 과정을 안내해주겠다 이야기 후에 상담 시 국민취업지원제도와 내일배움카드 장단점 비교 후 선택</a:t>
            </a:r>
          </a:p>
        </p:txBody>
      </p:sp>
      <p:sp>
        <p:nvSpPr>
          <p:cNvPr id="39" name="S7_Script_Row2">
            <a:extLst>
              <a:ext uri="{FF2B5EF4-FFF2-40B4-BE49-F238E27FC236}">
                <a16:creationId xmlns:a16="http://schemas.microsoft.com/office/drawing/2014/main" id="{B2DF14DB-6515-4C66-80AD-2DE72C464A19}"/>
              </a:ext>
            </a:extLst>
          </p:cNvPr>
          <p:cNvSpPr/>
          <p:nvPr/>
        </p:nvSpPr>
        <p:spPr>
          <a:xfrm>
            <a:off x="6438900" y="2727325"/>
            <a:ext cx="5207000" cy="9620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S7_Script_Badge2">
            <a:extLst>
              <a:ext uri="{FF2B5EF4-FFF2-40B4-BE49-F238E27FC236}">
                <a16:creationId xmlns:a16="http://schemas.microsoft.com/office/drawing/2014/main" id="{F0B91454-A80D-4233-A929-6E0DF70EEE3B}"/>
              </a:ext>
            </a:extLst>
          </p:cNvPr>
          <p:cNvSpPr/>
          <p:nvPr/>
        </p:nvSpPr>
        <p:spPr>
          <a:xfrm>
            <a:off x="6565900" y="2854325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02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1" name="S7_Script_Title2">
            <a:extLst>
              <a:ext uri="{FF2B5EF4-FFF2-40B4-BE49-F238E27FC236}">
                <a16:creationId xmlns:a16="http://schemas.microsoft.com/office/drawing/2014/main" id="{840B4041-D4AE-4960-A042-94C1E68E07FE}"/>
              </a:ext>
            </a:extLst>
          </p:cNvPr>
          <p:cNvSpPr txBox="1"/>
          <p:nvPr/>
        </p:nvSpPr>
        <p:spPr>
          <a:xfrm>
            <a:off x="7073900" y="2803525"/>
            <a:ext cx="444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언급은 없으나 국민취업지원제도 참여 조건이 가능한 경우</a:t>
            </a:r>
          </a:p>
        </p:txBody>
      </p:sp>
      <p:sp>
        <p:nvSpPr>
          <p:cNvPr id="42" name="S7_Script_Body2">
            <a:extLst>
              <a:ext uri="{FF2B5EF4-FFF2-40B4-BE49-F238E27FC236}">
                <a16:creationId xmlns:a16="http://schemas.microsoft.com/office/drawing/2014/main" id="{44632D9C-9BB6-4455-A668-BC767FB4240D}"/>
              </a:ext>
            </a:extLst>
          </p:cNvPr>
          <p:cNvSpPr txBox="1"/>
          <p:nvPr/>
        </p:nvSpPr>
        <p:spPr>
          <a:xfrm>
            <a:off x="7073900" y="3082926"/>
            <a:ext cx="4445000" cy="5302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적용 가능한 부분을 먼저 언급 함으로써 타학원 국비 수업과 더블 방지 및 방문에 대한 명분을 제시</a:t>
            </a:r>
          </a:p>
        </p:txBody>
      </p:sp>
      <p:sp>
        <p:nvSpPr>
          <p:cNvPr id="43" name="S7_Script_Row3">
            <a:extLst>
              <a:ext uri="{FF2B5EF4-FFF2-40B4-BE49-F238E27FC236}">
                <a16:creationId xmlns:a16="http://schemas.microsoft.com/office/drawing/2014/main" id="{B04F148F-3F26-4BA9-A758-4C4F6501D62D}"/>
              </a:ext>
            </a:extLst>
          </p:cNvPr>
          <p:cNvSpPr/>
          <p:nvPr/>
        </p:nvSpPr>
        <p:spPr>
          <a:xfrm>
            <a:off x="6438900" y="3778250"/>
            <a:ext cx="5207000" cy="9620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S7_Script_Badge3">
            <a:extLst>
              <a:ext uri="{FF2B5EF4-FFF2-40B4-BE49-F238E27FC236}">
                <a16:creationId xmlns:a16="http://schemas.microsoft.com/office/drawing/2014/main" id="{46149433-2747-4702-B970-C98BFCA7C459}"/>
              </a:ext>
            </a:extLst>
          </p:cNvPr>
          <p:cNvSpPr/>
          <p:nvPr/>
        </p:nvSpPr>
        <p:spPr>
          <a:xfrm>
            <a:off x="6565900" y="390525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03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5" name="S7_Script_Title3">
            <a:extLst>
              <a:ext uri="{FF2B5EF4-FFF2-40B4-BE49-F238E27FC236}">
                <a16:creationId xmlns:a16="http://schemas.microsoft.com/office/drawing/2014/main" id="{14A5254D-2956-4E5C-BB55-6EF6640A0119}"/>
              </a:ext>
            </a:extLst>
          </p:cNvPr>
          <p:cNvSpPr txBox="1"/>
          <p:nvPr/>
        </p:nvSpPr>
        <p:spPr>
          <a:xfrm>
            <a:off x="7073900" y="3854450"/>
            <a:ext cx="444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국민취업지원제도로 방문 유도를 하고 싶을 경우</a:t>
            </a:r>
          </a:p>
        </p:txBody>
      </p:sp>
      <p:sp>
        <p:nvSpPr>
          <p:cNvPr id="46" name="S7_Script_Body3">
            <a:extLst>
              <a:ext uri="{FF2B5EF4-FFF2-40B4-BE49-F238E27FC236}">
                <a16:creationId xmlns:a16="http://schemas.microsoft.com/office/drawing/2014/main" id="{A357BF8B-14C6-48B9-B8A1-733E180AF10A}"/>
              </a:ext>
            </a:extLst>
          </p:cNvPr>
          <p:cNvSpPr txBox="1"/>
          <p:nvPr/>
        </p:nvSpPr>
        <p:spPr>
          <a:xfrm>
            <a:off x="7073900" y="4133850"/>
            <a:ext cx="4445000" cy="5302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학원 방문 시 모의 산정을 통해 얼마나 지원 받을 수 있는지 확인해주겠다고 안내</a:t>
            </a:r>
          </a:p>
        </p:txBody>
      </p:sp>
      <p:sp>
        <p:nvSpPr>
          <p:cNvPr id="47" name="S7_Script_Row4">
            <a:extLst>
              <a:ext uri="{FF2B5EF4-FFF2-40B4-BE49-F238E27FC236}">
                <a16:creationId xmlns:a16="http://schemas.microsoft.com/office/drawing/2014/main" id="{15BFF7D7-E373-4C9A-A018-6CEABE530232}"/>
              </a:ext>
            </a:extLst>
          </p:cNvPr>
          <p:cNvSpPr/>
          <p:nvPr/>
        </p:nvSpPr>
        <p:spPr>
          <a:xfrm>
            <a:off x="6438900" y="4829175"/>
            <a:ext cx="5207000" cy="9620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S7_Script_Badge4">
            <a:extLst>
              <a:ext uri="{FF2B5EF4-FFF2-40B4-BE49-F238E27FC236}">
                <a16:creationId xmlns:a16="http://schemas.microsoft.com/office/drawing/2014/main" id="{29E770F4-60DC-479A-B28E-10AAB67D6546}"/>
              </a:ext>
            </a:extLst>
          </p:cNvPr>
          <p:cNvSpPr/>
          <p:nvPr/>
        </p:nvSpPr>
        <p:spPr>
          <a:xfrm>
            <a:off x="6565900" y="4956175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04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9" name="S7_Script_Title4">
            <a:extLst>
              <a:ext uri="{FF2B5EF4-FFF2-40B4-BE49-F238E27FC236}">
                <a16:creationId xmlns:a16="http://schemas.microsoft.com/office/drawing/2014/main" id="{4A9EE4A0-91DB-4F79-A956-C4622C73A992}"/>
              </a:ext>
            </a:extLst>
          </p:cNvPr>
          <p:cNvSpPr txBox="1"/>
          <p:nvPr/>
        </p:nvSpPr>
        <p:spPr>
          <a:xfrm>
            <a:off x="7073900" y="4905375"/>
            <a:ext cx="444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날짜를 당기고 싶을 경우</a:t>
            </a:r>
          </a:p>
        </p:txBody>
      </p:sp>
      <p:sp>
        <p:nvSpPr>
          <p:cNvPr id="50" name="S7_Script_Body4">
            <a:extLst>
              <a:ext uri="{FF2B5EF4-FFF2-40B4-BE49-F238E27FC236}">
                <a16:creationId xmlns:a16="http://schemas.microsoft.com/office/drawing/2014/main" id="{31E8C9BB-3F0D-4176-BF70-6D2B7A9242B9}"/>
              </a:ext>
            </a:extLst>
          </p:cNvPr>
          <p:cNvSpPr txBox="1"/>
          <p:nvPr/>
        </p:nvSpPr>
        <p:spPr>
          <a:xfrm>
            <a:off x="7073900" y="5184775"/>
            <a:ext cx="4445000" cy="5302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국민취업지원제도에는 예산이 정해져 있음
해당 예산이 특정 기간까지 소진 예정에 있다는 스피치 활용</a:t>
            </a:r>
          </a:p>
        </p:txBody>
      </p:sp>
    </p:spTree>
    <p:extLst>
      <p:ext uri="{BB962C8B-B14F-4D97-AF65-F5344CB8AC3E}">
        <p14:creationId xmlns:p14="http://schemas.microsoft.com/office/powerpoint/2010/main" val="3629638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8_Chapter">
            <a:extLst>
              <a:ext uri="{FF2B5EF4-FFF2-40B4-BE49-F238E27FC236}">
                <a16:creationId xmlns:a16="http://schemas.microsoft.com/office/drawing/2014/main" id="{DA413DE7-3C97-427A-B9CD-C790541DBA03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2.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컨택 스피치</a:t>
            </a:r>
          </a:p>
        </p:txBody>
      </p:sp>
      <p:sp>
        <p:nvSpPr>
          <p:cNvPr id="19" name="S8_Title">
            <a:extLst>
              <a:ext uri="{FF2B5EF4-FFF2-40B4-BE49-F238E27FC236}">
                <a16:creationId xmlns:a16="http://schemas.microsoft.com/office/drawing/2014/main" id="{1A94789C-0A78-44A1-AC87-E07ECD167F29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구직자 컨택 스피치</a:t>
            </a:r>
          </a:p>
        </p:txBody>
      </p:sp>
      <p:sp>
        <p:nvSpPr>
          <p:cNvPr id="20" name="S8_PageBadge">
            <a:extLst>
              <a:ext uri="{FF2B5EF4-FFF2-40B4-BE49-F238E27FC236}">
                <a16:creationId xmlns:a16="http://schemas.microsoft.com/office/drawing/2014/main" id="{3F7EF1DC-4F6E-4E6F-9C0E-A91B26B92740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08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21" name="S8_HeaderRule">
            <a:extLst>
              <a:ext uri="{FF2B5EF4-FFF2-40B4-BE49-F238E27FC236}">
                <a16:creationId xmlns:a16="http://schemas.microsoft.com/office/drawing/2014/main" id="{168F8C71-1164-4591-B44E-18E205A6C53E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8_Card1_Base">
            <a:extLst>
              <a:ext uri="{FF2B5EF4-FFF2-40B4-BE49-F238E27FC236}">
                <a16:creationId xmlns:a16="http://schemas.microsoft.com/office/drawing/2014/main" id="{4A6BC993-0B4A-4971-BB15-7BCE380F0CB4}"/>
              </a:ext>
            </a:extLst>
          </p:cNvPr>
          <p:cNvSpPr/>
          <p:nvPr/>
        </p:nvSpPr>
        <p:spPr>
          <a:xfrm>
            <a:off x="533400" y="1193800"/>
            <a:ext cx="5435600" cy="233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S8_Card1_Header">
            <a:extLst>
              <a:ext uri="{FF2B5EF4-FFF2-40B4-BE49-F238E27FC236}">
                <a16:creationId xmlns:a16="http://schemas.microsoft.com/office/drawing/2014/main" id="{28F38910-AEE6-4461-85AD-6FA8D87754E3}"/>
              </a:ext>
            </a:extLst>
          </p:cNvPr>
          <p:cNvSpPr/>
          <p:nvPr/>
        </p:nvSpPr>
        <p:spPr>
          <a:xfrm>
            <a:off x="533400" y="1193800"/>
            <a:ext cx="54356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8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전액국비만 찾는 경우</a:t>
            </a:r>
          </a:p>
        </p:txBody>
      </p:sp>
      <p:sp>
        <p:nvSpPr>
          <p:cNvPr id="24" name="S8_Card1_Body">
            <a:extLst>
              <a:ext uri="{FF2B5EF4-FFF2-40B4-BE49-F238E27FC236}">
                <a16:creationId xmlns:a16="http://schemas.microsoft.com/office/drawing/2014/main" id="{16FCB17C-778C-4FEC-8DA2-7E8B9EB3CD53}"/>
              </a:ext>
            </a:extLst>
          </p:cNvPr>
          <p:cNvSpPr txBox="1"/>
          <p:nvPr/>
        </p:nvSpPr>
        <p:spPr>
          <a:xfrm>
            <a:off x="685800" y="1651000"/>
            <a:ext cx="5130800" cy="176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“유형에 따라 자부담 비율이 차이가 발생합니다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일반적으로 구직자나 특정계층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저소득층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장애인 등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인 경우 전액 국비 가능합니다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
“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특정계층 외 일부 유형에 따라 자부담이 발생할 수 있는데 발생한다면 얼마나 발생하는지는 세부적인 조회가 필요해 방문 시 정확히 안내해드리겠습니다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</a:t>
            </a:r>
            <a:endParaRPr lang="ko-KR" altLang="en-US" sz="98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5" name="S8_Card2_Base">
            <a:extLst>
              <a:ext uri="{FF2B5EF4-FFF2-40B4-BE49-F238E27FC236}">
                <a16:creationId xmlns:a16="http://schemas.microsoft.com/office/drawing/2014/main" id="{EFD08DF0-2C57-4BFB-BF05-6183D41B356D}"/>
              </a:ext>
            </a:extLst>
          </p:cNvPr>
          <p:cNvSpPr/>
          <p:nvPr/>
        </p:nvSpPr>
        <p:spPr>
          <a:xfrm>
            <a:off x="6223000" y="1193800"/>
            <a:ext cx="5435600" cy="233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S8_Card2_Header">
            <a:extLst>
              <a:ext uri="{FF2B5EF4-FFF2-40B4-BE49-F238E27FC236}">
                <a16:creationId xmlns:a16="http://schemas.microsoft.com/office/drawing/2014/main" id="{319109AC-D731-493D-8C11-BA566090DAFF}"/>
              </a:ext>
            </a:extLst>
          </p:cNvPr>
          <p:cNvSpPr/>
          <p:nvPr/>
        </p:nvSpPr>
        <p:spPr>
          <a:xfrm>
            <a:off x="6223000" y="1193800"/>
            <a:ext cx="54356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8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내배카 발급 후 상담 희망하는 경우</a:t>
            </a:r>
          </a:p>
        </p:txBody>
      </p:sp>
      <p:sp>
        <p:nvSpPr>
          <p:cNvPr id="27" name="S8_Card2_Body">
            <a:extLst>
              <a:ext uri="{FF2B5EF4-FFF2-40B4-BE49-F238E27FC236}">
                <a16:creationId xmlns:a16="http://schemas.microsoft.com/office/drawing/2014/main" id="{A0E7167E-B782-4E17-8D54-0660904E7876}"/>
              </a:ext>
            </a:extLst>
          </p:cNvPr>
          <p:cNvSpPr txBox="1"/>
          <p:nvPr/>
        </p:nvSpPr>
        <p:spPr>
          <a:xfrm>
            <a:off x="6375400" y="1651000"/>
            <a:ext cx="5130800" cy="176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“내배카 발급 시 희망 직종을 선택해야하기 때문에 상담 후 직종 선택 및 희망 교육과정 설정 후 발급하시는 것이 좋습니다”
“내배카 과정은 매달 개강하지 않기 때문에 수령 후 상담 진행할 시 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2~3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개월 뒤 과정으로 참여해야할 수 있습니다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</a:t>
            </a:r>
            <a:endParaRPr lang="ko-KR" altLang="en-US" sz="98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8" name="S8_Card3_Base">
            <a:extLst>
              <a:ext uri="{FF2B5EF4-FFF2-40B4-BE49-F238E27FC236}">
                <a16:creationId xmlns:a16="http://schemas.microsoft.com/office/drawing/2014/main" id="{541DE731-0066-4A5B-A02C-7DE69A2EF200}"/>
              </a:ext>
            </a:extLst>
          </p:cNvPr>
          <p:cNvSpPr/>
          <p:nvPr/>
        </p:nvSpPr>
        <p:spPr>
          <a:xfrm>
            <a:off x="533400" y="3632200"/>
            <a:ext cx="5435600" cy="233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S8_Card3_Header">
            <a:extLst>
              <a:ext uri="{FF2B5EF4-FFF2-40B4-BE49-F238E27FC236}">
                <a16:creationId xmlns:a16="http://schemas.microsoft.com/office/drawing/2014/main" id="{3FCD6636-EAE4-4736-8C5B-BE9A5E49C3C6}"/>
              </a:ext>
            </a:extLst>
          </p:cNvPr>
          <p:cNvSpPr/>
          <p:nvPr/>
        </p:nvSpPr>
        <p:spPr>
          <a:xfrm>
            <a:off x="533400" y="3632200"/>
            <a:ext cx="54356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8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국비지원 시 금액을 물어보는 경우</a:t>
            </a:r>
          </a:p>
        </p:txBody>
      </p:sp>
      <p:sp>
        <p:nvSpPr>
          <p:cNvPr id="30" name="S8_Card3_Body">
            <a:extLst>
              <a:ext uri="{FF2B5EF4-FFF2-40B4-BE49-F238E27FC236}">
                <a16:creationId xmlns:a16="http://schemas.microsoft.com/office/drawing/2014/main" id="{B1E9B627-E60F-44FC-B94D-73539547CCCD}"/>
              </a:ext>
            </a:extLst>
          </p:cNvPr>
          <p:cNvSpPr txBox="1"/>
          <p:nvPr/>
        </p:nvSpPr>
        <p:spPr>
          <a:xfrm>
            <a:off x="685800" y="4089400"/>
            <a:ext cx="5130800" cy="176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“유형에 따라 자부담이 다릅니다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배움카드 사용해보신적 있으실까요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?” -&gt;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있다면 기존에 얼마나 납부했는지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? /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없다면 상담 시 정확히 조회 가능으로 안내
“원수강료는 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50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만원인데 국비지원 시 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할인가 적용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 30~40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만원입니다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 -&gt;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정확한 금액을 오픈하지 않고 대략적인 금액 오픈으로 상담 유도</a:t>
            </a:r>
          </a:p>
        </p:txBody>
      </p:sp>
      <p:sp>
        <p:nvSpPr>
          <p:cNvPr id="31" name="S8_Card4_Base">
            <a:extLst>
              <a:ext uri="{FF2B5EF4-FFF2-40B4-BE49-F238E27FC236}">
                <a16:creationId xmlns:a16="http://schemas.microsoft.com/office/drawing/2014/main" id="{325AD654-4EE6-4011-8416-D924D8113D31}"/>
              </a:ext>
            </a:extLst>
          </p:cNvPr>
          <p:cNvSpPr/>
          <p:nvPr/>
        </p:nvSpPr>
        <p:spPr>
          <a:xfrm>
            <a:off x="6223000" y="3632200"/>
            <a:ext cx="5435600" cy="233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S8_Card4_Header">
            <a:extLst>
              <a:ext uri="{FF2B5EF4-FFF2-40B4-BE49-F238E27FC236}">
                <a16:creationId xmlns:a16="http://schemas.microsoft.com/office/drawing/2014/main" id="{55F69A68-1330-4991-8403-8D97667C9280}"/>
              </a:ext>
            </a:extLst>
          </p:cNvPr>
          <p:cNvSpPr/>
          <p:nvPr/>
        </p:nvSpPr>
        <p:spPr>
          <a:xfrm>
            <a:off x="6223000" y="3632200"/>
            <a:ext cx="54356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8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날짜를 당기고 싶을 경우</a:t>
            </a:r>
          </a:p>
        </p:txBody>
      </p:sp>
      <p:sp>
        <p:nvSpPr>
          <p:cNvPr id="33" name="S8_Card4_Body">
            <a:extLst>
              <a:ext uri="{FF2B5EF4-FFF2-40B4-BE49-F238E27FC236}">
                <a16:creationId xmlns:a16="http://schemas.microsoft.com/office/drawing/2014/main" id="{62902AB2-558F-4F1F-9118-005D9038CF8F}"/>
              </a:ext>
            </a:extLst>
          </p:cNvPr>
          <p:cNvSpPr txBox="1"/>
          <p:nvPr/>
        </p:nvSpPr>
        <p:spPr>
          <a:xfrm>
            <a:off x="6375400" y="4089400"/>
            <a:ext cx="5130800" cy="176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“국민취업지원제도는 예산이 정해져 있기 때문에 빠르게 신청하시는 것이 안정적으로 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6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개월 전체 수령 가능합니다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
“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예산이 소진이 가까워질 수록 조건이 까다로워지거나 조기 종료 가능성 있으니 오늘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내일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오셔서 안내 후 신청까지 안내해드리겠습니다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
“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내일배움카드 수업은 매 달 개강하지 않고 참여 절차가 있고 개강 후 참여는 어렵기 때문에 빠른 상담 후 고민해보시는게 좋습니다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</a:t>
            </a:r>
            <a:endParaRPr lang="ko-KR" altLang="en-US" sz="98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1577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9_Chapter">
            <a:extLst>
              <a:ext uri="{FF2B5EF4-FFF2-40B4-BE49-F238E27FC236}">
                <a16:creationId xmlns:a16="http://schemas.microsoft.com/office/drawing/2014/main" id="{F77DFB04-FE1A-46DA-92C8-EBC6221D28CE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2.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컨택 스피치</a:t>
            </a:r>
          </a:p>
        </p:txBody>
      </p:sp>
      <p:sp>
        <p:nvSpPr>
          <p:cNvPr id="19" name="S9_Title">
            <a:extLst>
              <a:ext uri="{FF2B5EF4-FFF2-40B4-BE49-F238E27FC236}">
                <a16:creationId xmlns:a16="http://schemas.microsoft.com/office/drawing/2014/main" id="{A22C637D-31CB-484F-A6B8-8D446D7D98D0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재직자 컨택 스피치</a:t>
            </a:r>
          </a:p>
        </p:txBody>
      </p:sp>
      <p:sp>
        <p:nvSpPr>
          <p:cNvPr id="20" name="S9_PageBadge">
            <a:extLst>
              <a:ext uri="{FF2B5EF4-FFF2-40B4-BE49-F238E27FC236}">
                <a16:creationId xmlns:a16="http://schemas.microsoft.com/office/drawing/2014/main" id="{F61C2AA8-AA3E-4738-A414-5C2D99B5146D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09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21" name="S9_HeaderRule">
            <a:extLst>
              <a:ext uri="{FF2B5EF4-FFF2-40B4-BE49-F238E27FC236}">
                <a16:creationId xmlns:a16="http://schemas.microsoft.com/office/drawing/2014/main" id="{BFF1ACFA-FEEF-44B3-A333-E60C02862EDA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9_Card1_Base">
            <a:extLst>
              <a:ext uri="{FF2B5EF4-FFF2-40B4-BE49-F238E27FC236}">
                <a16:creationId xmlns:a16="http://schemas.microsoft.com/office/drawing/2014/main" id="{D57C5B56-AC92-4B98-BDFA-58FC3E1B53FA}"/>
              </a:ext>
            </a:extLst>
          </p:cNvPr>
          <p:cNvSpPr/>
          <p:nvPr/>
        </p:nvSpPr>
        <p:spPr>
          <a:xfrm>
            <a:off x="533400" y="1193800"/>
            <a:ext cx="5435600" cy="233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S9_Card1_Header">
            <a:extLst>
              <a:ext uri="{FF2B5EF4-FFF2-40B4-BE49-F238E27FC236}">
                <a16:creationId xmlns:a16="http://schemas.microsoft.com/office/drawing/2014/main" id="{85A5E560-EE86-417F-9C69-4B8133678A6B}"/>
              </a:ext>
            </a:extLst>
          </p:cNvPr>
          <p:cNvSpPr/>
          <p:nvPr/>
        </p:nvSpPr>
        <p:spPr>
          <a:xfrm>
            <a:off x="533400" y="1193800"/>
            <a:ext cx="54356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8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전액국비만 찾는 경우</a:t>
            </a:r>
          </a:p>
        </p:txBody>
      </p:sp>
      <p:sp>
        <p:nvSpPr>
          <p:cNvPr id="24" name="S9_Card1_Body">
            <a:extLst>
              <a:ext uri="{FF2B5EF4-FFF2-40B4-BE49-F238E27FC236}">
                <a16:creationId xmlns:a16="http://schemas.microsoft.com/office/drawing/2014/main" id="{F1EC7A15-CD42-491F-8A8A-119A1334D1A4}"/>
              </a:ext>
            </a:extLst>
          </p:cNvPr>
          <p:cNvSpPr txBox="1"/>
          <p:nvPr/>
        </p:nvSpPr>
        <p:spPr>
          <a:xfrm>
            <a:off x="685800" y="1651000"/>
            <a:ext cx="5130800" cy="176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“국비지원은 취업률 향상이 목적이라 재직자보단 구직자에게 지원이 많습니다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재직자는 전액 국비는 없으나 일부 자부담 납부하면 됩니다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
“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재직자도 자부담을 최소로 납부하려면 구직자 과정인 오전～오후 수업으로 참여해야 합니다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저녁은 재직자 과정이기 때문에 자부담이 발생합니다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</a:t>
            </a:r>
            <a:endParaRPr lang="ko-KR" altLang="en-US" sz="98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5" name="S9_Card2_Base">
            <a:extLst>
              <a:ext uri="{FF2B5EF4-FFF2-40B4-BE49-F238E27FC236}">
                <a16:creationId xmlns:a16="http://schemas.microsoft.com/office/drawing/2014/main" id="{6F12CA0F-3447-4057-8C38-8E6D04079B76}"/>
              </a:ext>
            </a:extLst>
          </p:cNvPr>
          <p:cNvSpPr/>
          <p:nvPr/>
        </p:nvSpPr>
        <p:spPr>
          <a:xfrm>
            <a:off x="6223000" y="1193800"/>
            <a:ext cx="5435600" cy="233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S9_Card2_Header">
            <a:extLst>
              <a:ext uri="{FF2B5EF4-FFF2-40B4-BE49-F238E27FC236}">
                <a16:creationId xmlns:a16="http://schemas.microsoft.com/office/drawing/2014/main" id="{E60A8891-5CE1-48F6-9F9C-046A5B43D6DB}"/>
              </a:ext>
            </a:extLst>
          </p:cNvPr>
          <p:cNvSpPr/>
          <p:nvPr/>
        </p:nvSpPr>
        <p:spPr>
          <a:xfrm>
            <a:off x="6223000" y="1193800"/>
            <a:ext cx="54356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8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타학원과 비교하는 경우</a:t>
            </a:r>
          </a:p>
        </p:txBody>
      </p:sp>
      <p:sp>
        <p:nvSpPr>
          <p:cNvPr id="27" name="S9_Card2_Body">
            <a:extLst>
              <a:ext uri="{FF2B5EF4-FFF2-40B4-BE49-F238E27FC236}">
                <a16:creationId xmlns:a16="http://schemas.microsoft.com/office/drawing/2014/main" id="{99FAD442-6D88-432F-8793-CDB4E7C4DF80}"/>
              </a:ext>
            </a:extLst>
          </p:cNvPr>
          <p:cNvSpPr txBox="1"/>
          <p:nvPr/>
        </p:nvSpPr>
        <p:spPr>
          <a:xfrm>
            <a:off x="6375400" y="1651000"/>
            <a:ext cx="5130800" cy="176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“각 교육기관마다 주력으로 운영하는 과정이 상이합니다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본원의 경우 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000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과정은 메인 과정이고 일반과정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+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국비과정 모두 운영하고 있습니다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
“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많은 국비교육들이 인원 미달로 폐강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연기가 되는데 본원의 경우에는 조기마감이 되는 경우가 많아 비대면으로 참여하시는 분들도 많습니다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</a:t>
            </a:r>
            <a:endParaRPr lang="ko-KR" altLang="en-US" sz="98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8" name="S9_Card3_Base">
            <a:extLst>
              <a:ext uri="{FF2B5EF4-FFF2-40B4-BE49-F238E27FC236}">
                <a16:creationId xmlns:a16="http://schemas.microsoft.com/office/drawing/2014/main" id="{4A758A76-89D7-4B2D-B0F7-EADAB78FDC25}"/>
              </a:ext>
            </a:extLst>
          </p:cNvPr>
          <p:cNvSpPr/>
          <p:nvPr/>
        </p:nvSpPr>
        <p:spPr>
          <a:xfrm>
            <a:off x="533400" y="3632200"/>
            <a:ext cx="5435600" cy="233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S9_Card3_Header">
            <a:extLst>
              <a:ext uri="{FF2B5EF4-FFF2-40B4-BE49-F238E27FC236}">
                <a16:creationId xmlns:a16="http://schemas.microsoft.com/office/drawing/2014/main" id="{ACDA2832-3F7E-4594-83A4-40E0FDC5C900}"/>
              </a:ext>
            </a:extLst>
          </p:cNvPr>
          <p:cNvSpPr/>
          <p:nvPr/>
        </p:nvSpPr>
        <p:spPr>
          <a:xfrm>
            <a:off x="533400" y="3632200"/>
            <a:ext cx="54356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8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국비지원 시 금액을 물어보는 경우</a:t>
            </a:r>
          </a:p>
        </p:txBody>
      </p:sp>
      <p:sp>
        <p:nvSpPr>
          <p:cNvPr id="30" name="S9_Card3_Body">
            <a:extLst>
              <a:ext uri="{FF2B5EF4-FFF2-40B4-BE49-F238E27FC236}">
                <a16:creationId xmlns:a16="http://schemas.microsoft.com/office/drawing/2014/main" id="{B4ADADB4-9004-4A3A-B714-8DA2AE6F7EAE}"/>
              </a:ext>
            </a:extLst>
          </p:cNvPr>
          <p:cNvSpPr txBox="1"/>
          <p:nvPr/>
        </p:nvSpPr>
        <p:spPr>
          <a:xfrm>
            <a:off x="685800" y="4089400"/>
            <a:ext cx="5130800" cy="176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“재직자는 공무원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대기업 종사자는 국비 불가하며 일반 재직자의 경우 가구단위 소득에 따라 유형은 달라집니다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
“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재직자는 보통 교육과정이나 유형에 따라 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30~70%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까지는 지원받고 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30~70%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는 본인 부담입니다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단과보다는 정규과정이 지원율이 높습니다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</a:t>
            </a:r>
            <a:endParaRPr lang="ko-KR" altLang="en-US" sz="98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1" name="S9_Card4_Base">
            <a:extLst>
              <a:ext uri="{FF2B5EF4-FFF2-40B4-BE49-F238E27FC236}">
                <a16:creationId xmlns:a16="http://schemas.microsoft.com/office/drawing/2014/main" id="{23760326-17AF-481D-A34E-7233AA023DF1}"/>
              </a:ext>
            </a:extLst>
          </p:cNvPr>
          <p:cNvSpPr/>
          <p:nvPr/>
        </p:nvSpPr>
        <p:spPr>
          <a:xfrm>
            <a:off x="6223000" y="3632200"/>
            <a:ext cx="5435600" cy="233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S9_Card4_Header">
            <a:extLst>
              <a:ext uri="{FF2B5EF4-FFF2-40B4-BE49-F238E27FC236}">
                <a16:creationId xmlns:a16="http://schemas.microsoft.com/office/drawing/2014/main" id="{E498E088-75AA-43A1-ADCC-D2B4142963E0}"/>
              </a:ext>
            </a:extLst>
          </p:cNvPr>
          <p:cNvSpPr/>
          <p:nvPr/>
        </p:nvSpPr>
        <p:spPr>
          <a:xfrm>
            <a:off x="6223000" y="3632200"/>
            <a:ext cx="54356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8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개설되지 않는 과정을 문의하는 경우</a:t>
            </a:r>
          </a:p>
        </p:txBody>
      </p:sp>
      <p:sp>
        <p:nvSpPr>
          <p:cNvPr id="33" name="S9_Card4_Body">
            <a:extLst>
              <a:ext uri="{FF2B5EF4-FFF2-40B4-BE49-F238E27FC236}">
                <a16:creationId xmlns:a16="http://schemas.microsoft.com/office/drawing/2014/main" id="{6CFB37B9-C3D6-4527-8213-1AE0C937929D}"/>
              </a:ext>
            </a:extLst>
          </p:cNvPr>
          <p:cNvSpPr txBox="1"/>
          <p:nvPr/>
        </p:nvSpPr>
        <p:spPr>
          <a:xfrm>
            <a:off x="6375400" y="4089400"/>
            <a:ext cx="5130800" cy="176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“컴활 과정은 취업연계 과정이 아니기 때문에 국비과정은 개설이 어렵습니다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웹디자인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IT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개발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건축인테리어 등이 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4~6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개월 과정으로 개설됩니다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
“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드로잉은 관련 국가자격증도 없고 국가에서 지원하는 직종이 아니기 때문에 국비과정 개설이 어렵습니다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
“3D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과정은 정규 국비과정에 포함되어 있는데 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3D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 개별적으로 국비는 개설이 어렵습니다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.”</a:t>
            </a:r>
            <a:endParaRPr lang="ko-KR" altLang="en-US" sz="98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776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10_Chapter">
            <a:extLst>
              <a:ext uri="{FF2B5EF4-FFF2-40B4-BE49-F238E27FC236}">
                <a16:creationId xmlns:a16="http://schemas.microsoft.com/office/drawing/2014/main" id="{252F9E87-9533-4C8E-9CF3-69E508EAA2D1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2.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컨택 스피치</a:t>
            </a:r>
          </a:p>
        </p:txBody>
      </p:sp>
      <p:sp>
        <p:nvSpPr>
          <p:cNvPr id="31" name="S10_Title">
            <a:extLst>
              <a:ext uri="{FF2B5EF4-FFF2-40B4-BE49-F238E27FC236}">
                <a16:creationId xmlns:a16="http://schemas.microsoft.com/office/drawing/2014/main" id="{DAB0990C-4ADC-4C01-9D1A-B84E6B101F95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페이스북 </a:t>
            </a:r>
            <a:r>
              <a:rPr lang="en-US" altLang="ko-KR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DB </a:t>
            </a:r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컨택 스피치</a:t>
            </a:r>
          </a:p>
        </p:txBody>
      </p:sp>
      <p:sp>
        <p:nvSpPr>
          <p:cNvPr id="34" name="S10_PageBadge">
            <a:extLst>
              <a:ext uri="{FF2B5EF4-FFF2-40B4-BE49-F238E27FC236}">
                <a16:creationId xmlns:a16="http://schemas.microsoft.com/office/drawing/2014/main" id="{5577789E-71D2-45D2-9EE3-A432135F262C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10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36" name="S10_HeaderRule">
            <a:extLst>
              <a:ext uri="{FF2B5EF4-FFF2-40B4-BE49-F238E27FC236}">
                <a16:creationId xmlns:a16="http://schemas.microsoft.com/office/drawing/2014/main" id="{4FA1CCB5-764F-4D18-BF87-3F6DC005DCE4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10_ListBase">
            <a:extLst>
              <a:ext uri="{FF2B5EF4-FFF2-40B4-BE49-F238E27FC236}">
                <a16:creationId xmlns:a16="http://schemas.microsoft.com/office/drawing/2014/main" id="{59ACB68E-C51B-41B1-A9C1-2838093BA638}"/>
              </a:ext>
            </a:extLst>
          </p:cNvPr>
          <p:cNvSpPr/>
          <p:nvPr/>
        </p:nvSpPr>
        <p:spPr>
          <a:xfrm>
            <a:off x="533400" y="1193800"/>
            <a:ext cx="6350000" cy="478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S10_List_Row1">
            <a:extLst>
              <a:ext uri="{FF2B5EF4-FFF2-40B4-BE49-F238E27FC236}">
                <a16:creationId xmlns:a16="http://schemas.microsoft.com/office/drawing/2014/main" id="{1D583186-D489-48B7-A566-0CB9AE8B0408}"/>
              </a:ext>
            </a:extLst>
          </p:cNvPr>
          <p:cNvSpPr/>
          <p:nvPr/>
        </p:nvSpPr>
        <p:spPr>
          <a:xfrm>
            <a:off x="660400" y="1320800"/>
            <a:ext cx="6096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10_List_Badge1">
            <a:extLst>
              <a:ext uri="{FF2B5EF4-FFF2-40B4-BE49-F238E27FC236}">
                <a16:creationId xmlns:a16="http://schemas.microsoft.com/office/drawing/2014/main" id="{6647F102-C80F-420D-A35B-65CA3F36960E}"/>
              </a:ext>
            </a:extLst>
          </p:cNvPr>
          <p:cNvSpPr/>
          <p:nvPr/>
        </p:nvSpPr>
        <p:spPr>
          <a:xfrm>
            <a:off x="787400" y="14478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01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0" name="S10_List_Title1">
            <a:extLst>
              <a:ext uri="{FF2B5EF4-FFF2-40B4-BE49-F238E27FC236}">
                <a16:creationId xmlns:a16="http://schemas.microsoft.com/office/drawing/2014/main" id="{EC2B7346-85E4-4A8E-AAAF-F9A4293C47A1}"/>
              </a:ext>
            </a:extLst>
          </p:cNvPr>
          <p:cNvSpPr txBox="1"/>
          <p:nvPr/>
        </p:nvSpPr>
        <p:spPr>
          <a:xfrm>
            <a:off x="1295400" y="1397000"/>
            <a:ext cx="5334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핵심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1" name="S10_List_Body1">
            <a:extLst>
              <a:ext uri="{FF2B5EF4-FFF2-40B4-BE49-F238E27FC236}">
                <a16:creationId xmlns:a16="http://schemas.microsoft.com/office/drawing/2014/main" id="{C7408AAB-729B-487E-89CE-105549AC9983}"/>
              </a:ext>
            </a:extLst>
          </p:cNvPr>
          <p:cNvSpPr txBox="1"/>
          <p:nvPr/>
        </p:nvSpPr>
        <p:spPr>
          <a:xfrm>
            <a:off x="1295400" y="16764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페북 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DB -&gt;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출처에 맞는 국비 스피치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영상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인테리어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AI,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연령타겟 등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endParaRPr lang="ko-KR" altLang="en-US" sz="900" spc="-15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2" name="S10_List_Row2">
            <a:extLst>
              <a:ext uri="{FF2B5EF4-FFF2-40B4-BE49-F238E27FC236}">
                <a16:creationId xmlns:a16="http://schemas.microsoft.com/office/drawing/2014/main" id="{FD385F5B-47C8-44E9-9186-901C7E86604C}"/>
              </a:ext>
            </a:extLst>
          </p:cNvPr>
          <p:cNvSpPr/>
          <p:nvPr/>
        </p:nvSpPr>
        <p:spPr>
          <a:xfrm>
            <a:off x="660400" y="2095500"/>
            <a:ext cx="6096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S10_List_Badge2">
            <a:extLst>
              <a:ext uri="{FF2B5EF4-FFF2-40B4-BE49-F238E27FC236}">
                <a16:creationId xmlns:a16="http://schemas.microsoft.com/office/drawing/2014/main" id="{40D14F7F-5325-49E6-98A3-F7F264DC10A9}"/>
              </a:ext>
            </a:extLst>
          </p:cNvPr>
          <p:cNvSpPr/>
          <p:nvPr/>
        </p:nvSpPr>
        <p:spPr>
          <a:xfrm>
            <a:off x="787400" y="22225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02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4" name="S10_List_Title2">
            <a:extLst>
              <a:ext uri="{FF2B5EF4-FFF2-40B4-BE49-F238E27FC236}">
                <a16:creationId xmlns:a16="http://schemas.microsoft.com/office/drawing/2014/main" id="{028851C4-C32A-47DA-8815-A8135D48372E}"/>
              </a:ext>
            </a:extLst>
          </p:cNvPr>
          <p:cNvSpPr txBox="1"/>
          <p:nvPr/>
        </p:nvSpPr>
        <p:spPr>
          <a:xfrm>
            <a:off x="1295400" y="2171700"/>
            <a:ext cx="5334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핵심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5" name="S10_List_Body2">
            <a:extLst>
              <a:ext uri="{FF2B5EF4-FFF2-40B4-BE49-F238E27FC236}">
                <a16:creationId xmlns:a16="http://schemas.microsoft.com/office/drawing/2014/main" id="{0CD05D26-D5FC-4FF8-964D-6094D2D57AE0}"/>
              </a:ext>
            </a:extLst>
          </p:cNvPr>
          <p:cNvSpPr txBox="1"/>
          <p:nvPr/>
        </p:nvSpPr>
        <p:spPr>
          <a:xfrm>
            <a:off x="1295400" y="24511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컨택 시 현재 상황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학생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구직자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재직자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파악이 우선</a:t>
            </a:r>
          </a:p>
        </p:txBody>
      </p:sp>
      <p:sp>
        <p:nvSpPr>
          <p:cNvPr id="46" name="S10_List_Row3">
            <a:extLst>
              <a:ext uri="{FF2B5EF4-FFF2-40B4-BE49-F238E27FC236}">
                <a16:creationId xmlns:a16="http://schemas.microsoft.com/office/drawing/2014/main" id="{7B36505B-FC78-4579-A12F-014E7D0CFA32}"/>
              </a:ext>
            </a:extLst>
          </p:cNvPr>
          <p:cNvSpPr/>
          <p:nvPr/>
        </p:nvSpPr>
        <p:spPr>
          <a:xfrm>
            <a:off x="660400" y="2870200"/>
            <a:ext cx="6096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S10_List_Badge3">
            <a:extLst>
              <a:ext uri="{FF2B5EF4-FFF2-40B4-BE49-F238E27FC236}">
                <a16:creationId xmlns:a16="http://schemas.microsoft.com/office/drawing/2014/main" id="{B4C2488C-30BA-4BF4-8048-27AB0DD1ADE4}"/>
              </a:ext>
            </a:extLst>
          </p:cNvPr>
          <p:cNvSpPr/>
          <p:nvPr/>
        </p:nvSpPr>
        <p:spPr>
          <a:xfrm>
            <a:off x="787400" y="29972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03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8" name="S10_List_Title3">
            <a:extLst>
              <a:ext uri="{FF2B5EF4-FFF2-40B4-BE49-F238E27FC236}">
                <a16:creationId xmlns:a16="http://schemas.microsoft.com/office/drawing/2014/main" id="{46E99D12-0F17-436E-B195-3133533A3E9A}"/>
              </a:ext>
            </a:extLst>
          </p:cNvPr>
          <p:cNvSpPr txBox="1"/>
          <p:nvPr/>
        </p:nvSpPr>
        <p:spPr>
          <a:xfrm>
            <a:off x="1295400" y="2946400"/>
            <a:ext cx="5334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핵심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9" name="S10_List_Body3">
            <a:extLst>
              <a:ext uri="{FF2B5EF4-FFF2-40B4-BE49-F238E27FC236}">
                <a16:creationId xmlns:a16="http://schemas.microsoft.com/office/drawing/2014/main" id="{A0DAEA15-8964-4CA8-9AE0-9AE2A2B4D60C}"/>
              </a:ext>
            </a:extLst>
          </p:cNvPr>
          <p:cNvSpPr txBox="1"/>
          <p:nvPr/>
        </p:nvSpPr>
        <p:spPr>
          <a:xfrm>
            <a:off x="1295400" y="32258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국비지원 제도 다양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본인에게 맞는 국비가 중요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!</a:t>
            </a:r>
            <a:endParaRPr lang="ko-KR" altLang="en-US" sz="900" spc="-15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0" name="S10_List_Row4">
            <a:extLst>
              <a:ext uri="{FF2B5EF4-FFF2-40B4-BE49-F238E27FC236}">
                <a16:creationId xmlns:a16="http://schemas.microsoft.com/office/drawing/2014/main" id="{D0F11E0F-8DC6-4FD6-B94D-09CC9D0734D1}"/>
              </a:ext>
            </a:extLst>
          </p:cNvPr>
          <p:cNvSpPr/>
          <p:nvPr/>
        </p:nvSpPr>
        <p:spPr>
          <a:xfrm>
            <a:off x="660400" y="3644900"/>
            <a:ext cx="6096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10_List_Badge4">
            <a:extLst>
              <a:ext uri="{FF2B5EF4-FFF2-40B4-BE49-F238E27FC236}">
                <a16:creationId xmlns:a16="http://schemas.microsoft.com/office/drawing/2014/main" id="{7DFD423B-4B03-4B56-A128-5DD0A17C79D9}"/>
              </a:ext>
            </a:extLst>
          </p:cNvPr>
          <p:cNvSpPr/>
          <p:nvPr/>
        </p:nvSpPr>
        <p:spPr>
          <a:xfrm>
            <a:off x="787400" y="37719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04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2" name="S10_List_Title4">
            <a:extLst>
              <a:ext uri="{FF2B5EF4-FFF2-40B4-BE49-F238E27FC236}">
                <a16:creationId xmlns:a16="http://schemas.microsoft.com/office/drawing/2014/main" id="{2195A5FA-0053-4898-A69D-DA8D5501A4A3}"/>
              </a:ext>
            </a:extLst>
          </p:cNvPr>
          <p:cNvSpPr txBox="1"/>
          <p:nvPr/>
        </p:nvSpPr>
        <p:spPr>
          <a:xfrm>
            <a:off x="1295400" y="3721100"/>
            <a:ext cx="5334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핵심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4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3" name="S10_List_Body4">
            <a:extLst>
              <a:ext uri="{FF2B5EF4-FFF2-40B4-BE49-F238E27FC236}">
                <a16:creationId xmlns:a16="http://schemas.microsoft.com/office/drawing/2014/main" id="{04469987-F984-40BC-8DA7-C90AD546A685}"/>
              </a:ext>
            </a:extLst>
          </p:cNvPr>
          <p:cNvSpPr txBox="1"/>
          <p:nvPr/>
        </p:nvSpPr>
        <p:spPr>
          <a:xfrm>
            <a:off x="1295400" y="40005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국취제 조건 미리 파악 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-&gt;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나이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재직여부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실업급여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가구원 등</a:t>
            </a:r>
          </a:p>
        </p:txBody>
      </p:sp>
      <p:sp>
        <p:nvSpPr>
          <p:cNvPr id="54" name="S10_List_Row5">
            <a:extLst>
              <a:ext uri="{FF2B5EF4-FFF2-40B4-BE49-F238E27FC236}">
                <a16:creationId xmlns:a16="http://schemas.microsoft.com/office/drawing/2014/main" id="{000B6330-D448-4495-A93D-4233CA6D5645}"/>
              </a:ext>
            </a:extLst>
          </p:cNvPr>
          <p:cNvSpPr/>
          <p:nvPr/>
        </p:nvSpPr>
        <p:spPr>
          <a:xfrm>
            <a:off x="660400" y="4419600"/>
            <a:ext cx="6096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S10_List_Badge5">
            <a:extLst>
              <a:ext uri="{FF2B5EF4-FFF2-40B4-BE49-F238E27FC236}">
                <a16:creationId xmlns:a16="http://schemas.microsoft.com/office/drawing/2014/main" id="{75D5F3F3-D7E8-4303-9284-29F7B5529BA8}"/>
              </a:ext>
            </a:extLst>
          </p:cNvPr>
          <p:cNvSpPr/>
          <p:nvPr/>
        </p:nvSpPr>
        <p:spPr>
          <a:xfrm>
            <a:off x="787400" y="45466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05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6" name="S10_List_Title5">
            <a:extLst>
              <a:ext uri="{FF2B5EF4-FFF2-40B4-BE49-F238E27FC236}">
                <a16:creationId xmlns:a16="http://schemas.microsoft.com/office/drawing/2014/main" id="{DC3A3C45-B300-4C1C-BAD7-C8171FAD73F2}"/>
              </a:ext>
            </a:extLst>
          </p:cNvPr>
          <p:cNvSpPr txBox="1"/>
          <p:nvPr/>
        </p:nvSpPr>
        <p:spPr>
          <a:xfrm>
            <a:off x="1295400" y="4495800"/>
            <a:ext cx="5334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핵심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5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7" name="S10_List_Body5">
            <a:extLst>
              <a:ext uri="{FF2B5EF4-FFF2-40B4-BE49-F238E27FC236}">
                <a16:creationId xmlns:a16="http://schemas.microsoft.com/office/drawing/2014/main" id="{3A42A8ED-B0D6-4148-8A8B-415C46B1A335}"/>
              </a:ext>
            </a:extLst>
          </p:cNvPr>
          <p:cNvSpPr txBox="1"/>
          <p:nvPr/>
        </p:nvSpPr>
        <p:spPr>
          <a:xfrm>
            <a:off x="1295400" y="4775200"/>
            <a:ext cx="533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컨택 클로징 시 국비 체크 및 제도 비교하여 최소 자부담 안내 스피치</a:t>
            </a:r>
          </a:p>
        </p:txBody>
      </p:sp>
      <p:sp>
        <p:nvSpPr>
          <p:cNvPr id="58" name="S10_Highlight">
            <a:extLst>
              <a:ext uri="{FF2B5EF4-FFF2-40B4-BE49-F238E27FC236}">
                <a16:creationId xmlns:a16="http://schemas.microsoft.com/office/drawing/2014/main" id="{206AD04B-B95E-4F4A-BEAF-5CBBAB326E59}"/>
              </a:ext>
            </a:extLst>
          </p:cNvPr>
          <p:cNvSpPr/>
          <p:nvPr/>
        </p:nvSpPr>
        <p:spPr>
          <a:xfrm>
            <a:off x="660400" y="5207000"/>
            <a:ext cx="6096000" cy="647700"/>
          </a:xfrm>
          <a:prstGeom prst="roundRect">
            <a:avLst>
              <a:gd name="adj" fmla="val 10000"/>
            </a:avLst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r>
              <a:rPr lang="ko-KR" altLang="en-US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★페북컨택 시 국비 언급을 두려워하지 말고</a:t>
            </a:r>
            <a:r>
              <a:rPr lang="en-US" altLang="ko-KR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
</a:t>
            </a:r>
            <a:r>
              <a:rPr lang="ko-KR" altLang="en-US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구직자 </a:t>
            </a:r>
            <a:r>
              <a:rPr lang="en-US" altLang="ko-KR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DB</a:t>
            </a:r>
            <a:r>
              <a:rPr lang="ko-KR" altLang="en-US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의 경우엔 내배카</a:t>
            </a:r>
            <a:r>
              <a:rPr lang="en-US" altLang="ko-KR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국취제 선언급하는 것이 좋다</a:t>
            </a:r>
          </a:p>
        </p:txBody>
      </p:sp>
      <p:sp>
        <p:nvSpPr>
          <p:cNvPr id="59" name="S10_ImageArea">
            <a:extLst>
              <a:ext uri="{FF2B5EF4-FFF2-40B4-BE49-F238E27FC236}">
                <a16:creationId xmlns:a16="http://schemas.microsoft.com/office/drawing/2014/main" id="{767BC788-860B-45C5-8540-D15E6850DA3F}"/>
              </a:ext>
            </a:extLst>
          </p:cNvPr>
          <p:cNvSpPr/>
          <p:nvPr/>
        </p:nvSpPr>
        <p:spPr>
          <a:xfrm>
            <a:off x="7112000" y="1193800"/>
            <a:ext cx="4533900" cy="47879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S10_Image1_Frame">
            <a:extLst>
              <a:ext uri="{FF2B5EF4-FFF2-40B4-BE49-F238E27FC236}">
                <a16:creationId xmlns:a16="http://schemas.microsoft.com/office/drawing/2014/main" id="{7EEECD3A-4988-4524-8888-D98EBF7F1B1D}"/>
              </a:ext>
            </a:extLst>
          </p:cNvPr>
          <p:cNvSpPr/>
          <p:nvPr/>
        </p:nvSpPr>
        <p:spPr>
          <a:xfrm>
            <a:off x="7239000" y="1320800"/>
            <a:ext cx="4279900" cy="11176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2" name="S10_Image1">
            <a:extLst>
              <a:ext uri="{FF2B5EF4-FFF2-40B4-BE49-F238E27FC236}">
                <a16:creationId xmlns:a16="http://schemas.microsoft.com/office/drawing/2014/main" id="{E34F4291-B0D4-45D1-9FF7-C2F348365B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661" y="1819922"/>
            <a:ext cx="1414578" cy="119355"/>
          </a:xfrm>
          <a:prstGeom prst="rect">
            <a:avLst/>
          </a:prstGeom>
        </p:spPr>
      </p:pic>
      <p:sp>
        <p:nvSpPr>
          <p:cNvPr id="63" name="S10_Image2_Frame">
            <a:extLst>
              <a:ext uri="{FF2B5EF4-FFF2-40B4-BE49-F238E27FC236}">
                <a16:creationId xmlns:a16="http://schemas.microsoft.com/office/drawing/2014/main" id="{57C5ED65-EC4B-443E-B426-7B6832C0DC68}"/>
              </a:ext>
            </a:extLst>
          </p:cNvPr>
          <p:cNvSpPr/>
          <p:nvPr/>
        </p:nvSpPr>
        <p:spPr>
          <a:xfrm>
            <a:off x="7239000" y="2565400"/>
            <a:ext cx="4279900" cy="31623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5" name="S10_Image2">
            <a:extLst>
              <a:ext uri="{FF2B5EF4-FFF2-40B4-BE49-F238E27FC236}">
                <a16:creationId xmlns:a16="http://schemas.microsoft.com/office/drawing/2014/main" id="{3E687B43-E464-4ABE-BEB6-335FBD5AE5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758" y="3153620"/>
            <a:ext cx="1908384" cy="198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758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11_Chapter">
            <a:extLst>
              <a:ext uri="{FF2B5EF4-FFF2-40B4-BE49-F238E27FC236}">
                <a16:creationId xmlns:a16="http://schemas.microsoft.com/office/drawing/2014/main" id="{AAFA7350-D80E-48CE-9573-86C4CE82635B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2.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컨택 스피치</a:t>
            </a:r>
          </a:p>
        </p:txBody>
      </p:sp>
      <p:sp>
        <p:nvSpPr>
          <p:cNvPr id="30" name="S11_Title">
            <a:extLst>
              <a:ext uri="{FF2B5EF4-FFF2-40B4-BE49-F238E27FC236}">
                <a16:creationId xmlns:a16="http://schemas.microsoft.com/office/drawing/2014/main" id="{8A49FA1C-960D-45FA-BD04-F8B221F27035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실업급여 수령자 컨택 스피치</a:t>
            </a:r>
          </a:p>
        </p:txBody>
      </p:sp>
      <p:sp>
        <p:nvSpPr>
          <p:cNvPr id="33" name="S11_PageBadge">
            <a:extLst>
              <a:ext uri="{FF2B5EF4-FFF2-40B4-BE49-F238E27FC236}">
                <a16:creationId xmlns:a16="http://schemas.microsoft.com/office/drawing/2014/main" id="{7C244C92-1CBE-42C3-9EA0-661B0B4FBABE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11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35" name="S11_HeaderRule">
            <a:extLst>
              <a:ext uri="{FF2B5EF4-FFF2-40B4-BE49-F238E27FC236}">
                <a16:creationId xmlns:a16="http://schemas.microsoft.com/office/drawing/2014/main" id="{C6F60B1A-9CA2-4141-8EBE-06E95FC984ED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11_ListBase">
            <a:extLst>
              <a:ext uri="{FF2B5EF4-FFF2-40B4-BE49-F238E27FC236}">
                <a16:creationId xmlns:a16="http://schemas.microsoft.com/office/drawing/2014/main" id="{9D4E639D-5C0A-40AA-9EEF-EE4996B2F089}"/>
              </a:ext>
            </a:extLst>
          </p:cNvPr>
          <p:cNvSpPr/>
          <p:nvPr/>
        </p:nvSpPr>
        <p:spPr>
          <a:xfrm>
            <a:off x="533400" y="1193800"/>
            <a:ext cx="6350000" cy="478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S11_List_Row1">
            <a:extLst>
              <a:ext uri="{FF2B5EF4-FFF2-40B4-BE49-F238E27FC236}">
                <a16:creationId xmlns:a16="http://schemas.microsoft.com/office/drawing/2014/main" id="{62490161-500F-4CF9-A0E0-FDF5C75E8EC1}"/>
              </a:ext>
            </a:extLst>
          </p:cNvPr>
          <p:cNvSpPr/>
          <p:nvPr/>
        </p:nvSpPr>
        <p:spPr>
          <a:xfrm>
            <a:off x="660400" y="1320800"/>
            <a:ext cx="6096000" cy="8102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S11_List_Badge1">
            <a:extLst>
              <a:ext uri="{FF2B5EF4-FFF2-40B4-BE49-F238E27FC236}">
                <a16:creationId xmlns:a16="http://schemas.microsoft.com/office/drawing/2014/main" id="{B34428E0-201F-4D3C-A50E-388D5F52931F}"/>
              </a:ext>
            </a:extLst>
          </p:cNvPr>
          <p:cNvSpPr/>
          <p:nvPr/>
        </p:nvSpPr>
        <p:spPr>
          <a:xfrm>
            <a:off x="787400" y="14478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01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9" name="S11_List_Title1">
            <a:extLst>
              <a:ext uri="{FF2B5EF4-FFF2-40B4-BE49-F238E27FC236}">
                <a16:creationId xmlns:a16="http://schemas.microsoft.com/office/drawing/2014/main" id="{4462AA6D-6F59-4FB5-A046-1CDCC14F4C4F}"/>
              </a:ext>
            </a:extLst>
          </p:cNvPr>
          <p:cNvSpPr txBox="1"/>
          <p:nvPr/>
        </p:nvSpPr>
        <p:spPr>
          <a:xfrm>
            <a:off x="1295400" y="1397000"/>
            <a:ext cx="5334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핵심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0" name="S11_List_Body1">
            <a:extLst>
              <a:ext uri="{FF2B5EF4-FFF2-40B4-BE49-F238E27FC236}">
                <a16:creationId xmlns:a16="http://schemas.microsoft.com/office/drawing/2014/main" id="{994C0528-110F-4B7B-A985-DC142BC9D727}"/>
              </a:ext>
            </a:extLst>
          </p:cNvPr>
          <p:cNvSpPr txBox="1"/>
          <p:nvPr/>
        </p:nvSpPr>
        <p:spPr>
          <a:xfrm>
            <a:off x="1295400" y="1676400"/>
            <a:ext cx="5334000" cy="378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5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실업급여 </a:t>
            </a:r>
            <a:r>
              <a:rPr lang="en-US" altLang="ko-KR" sz="85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= </a:t>
            </a:r>
            <a:r>
              <a:rPr lang="ko-KR" altLang="en-US" sz="85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국비지원
실업급여는 국민취업지원제도와 비슷 </a:t>
            </a:r>
            <a:r>
              <a:rPr lang="en-US" altLang="ko-KR" sz="85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-&gt; </a:t>
            </a:r>
            <a:r>
              <a:rPr lang="ko-KR" altLang="en-US" sz="85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구직활동을 해야 수당 지급
일반과정</a:t>
            </a:r>
            <a:r>
              <a:rPr lang="en-US" altLang="ko-KR" sz="85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85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미인정</a:t>
            </a:r>
            <a:r>
              <a:rPr lang="en-US" altLang="ko-KR" sz="85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r>
              <a:rPr lang="ko-KR" altLang="en-US" sz="85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도 구직활동으로 인정</a:t>
            </a:r>
          </a:p>
        </p:txBody>
      </p:sp>
      <p:sp>
        <p:nvSpPr>
          <p:cNvPr id="41" name="S11_List_Row2">
            <a:extLst>
              <a:ext uri="{FF2B5EF4-FFF2-40B4-BE49-F238E27FC236}">
                <a16:creationId xmlns:a16="http://schemas.microsoft.com/office/drawing/2014/main" id="{FC36C958-06DE-4412-8850-6537063596B8}"/>
              </a:ext>
            </a:extLst>
          </p:cNvPr>
          <p:cNvSpPr/>
          <p:nvPr/>
        </p:nvSpPr>
        <p:spPr>
          <a:xfrm>
            <a:off x="660400" y="2219960"/>
            <a:ext cx="6096000" cy="8102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S11_List_Badge2">
            <a:extLst>
              <a:ext uri="{FF2B5EF4-FFF2-40B4-BE49-F238E27FC236}">
                <a16:creationId xmlns:a16="http://schemas.microsoft.com/office/drawing/2014/main" id="{8C8EAF74-373D-4C5B-A425-35042A1E4CD7}"/>
              </a:ext>
            </a:extLst>
          </p:cNvPr>
          <p:cNvSpPr/>
          <p:nvPr/>
        </p:nvSpPr>
        <p:spPr>
          <a:xfrm>
            <a:off x="787400" y="234696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02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3" name="S11_List_Title2">
            <a:extLst>
              <a:ext uri="{FF2B5EF4-FFF2-40B4-BE49-F238E27FC236}">
                <a16:creationId xmlns:a16="http://schemas.microsoft.com/office/drawing/2014/main" id="{CF581ED6-1784-4D78-9ADB-F1C2FBBA55A1}"/>
              </a:ext>
            </a:extLst>
          </p:cNvPr>
          <p:cNvSpPr txBox="1"/>
          <p:nvPr/>
        </p:nvSpPr>
        <p:spPr>
          <a:xfrm>
            <a:off x="1295400" y="2296160"/>
            <a:ext cx="5334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핵심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4" name="S11_List_Body2">
            <a:extLst>
              <a:ext uri="{FF2B5EF4-FFF2-40B4-BE49-F238E27FC236}">
                <a16:creationId xmlns:a16="http://schemas.microsoft.com/office/drawing/2014/main" id="{8A51D919-5F47-45C1-B4F0-E4A87D910FE9}"/>
              </a:ext>
            </a:extLst>
          </p:cNvPr>
          <p:cNvSpPr txBox="1"/>
          <p:nvPr/>
        </p:nvSpPr>
        <p:spPr>
          <a:xfrm>
            <a:off x="1295400" y="2575560"/>
            <a:ext cx="5334000" cy="378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실업급여 수급자는 고용센터에서 내배카 안내받은 경우가 많음</a:t>
            </a:r>
          </a:p>
        </p:txBody>
      </p:sp>
      <p:sp>
        <p:nvSpPr>
          <p:cNvPr id="45" name="S11_List_Row3">
            <a:extLst>
              <a:ext uri="{FF2B5EF4-FFF2-40B4-BE49-F238E27FC236}">
                <a16:creationId xmlns:a16="http://schemas.microsoft.com/office/drawing/2014/main" id="{F705AAAE-5AC8-4568-A050-B2C842611DC1}"/>
              </a:ext>
            </a:extLst>
          </p:cNvPr>
          <p:cNvSpPr/>
          <p:nvPr/>
        </p:nvSpPr>
        <p:spPr>
          <a:xfrm>
            <a:off x="660400" y="3119120"/>
            <a:ext cx="6096000" cy="8102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S11_List_Badge3">
            <a:extLst>
              <a:ext uri="{FF2B5EF4-FFF2-40B4-BE49-F238E27FC236}">
                <a16:creationId xmlns:a16="http://schemas.microsoft.com/office/drawing/2014/main" id="{6370A261-944A-4F77-96FF-0CD84D78B872}"/>
              </a:ext>
            </a:extLst>
          </p:cNvPr>
          <p:cNvSpPr/>
          <p:nvPr/>
        </p:nvSpPr>
        <p:spPr>
          <a:xfrm>
            <a:off x="787400" y="324612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03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7" name="S11_List_Title3">
            <a:extLst>
              <a:ext uri="{FF2B5EF4-FFF2-40B4-BE49-F238E27FC236}">
                <a16:creationId xmlns:a16="http://schemas.microsoft.com/office/drawing/2014/main" id="{937B68AC-3592-4D03-9F22-DB725821FEB9}"/>
              </a:ext>
            </a:extLst>
          </p:cNvPr>
          <p:cNvSpPr txBox="1"/>
          <p:nvPr/>
        </p:nvSpPr>
        <p:spPr>
          <a:xfrm>
            <a:off x="1295400" y="3195320"/>
            <a:ext cx="5334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핵심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8" name="S11_List_Body3">
            <a:extLst>
              <a:ext uri="{FF2B5EF4-FFF2-40B4-BE49-F238E27FC236}">
                <a16:creationId xmlns:a16="http://schemas.microsoft.com/office/drawing/2014/main" id="{1186F94C-3C14-45D7-9E79-56F58A6F5ABD}"/>
              </a:ext>
            </a:extLst>
          </p:cNvPr>
          <p:cNvSpPr txBox="1"/>
          <p:nvPr/>
        </p:nvSpPr>
        <p:spPr>
          <a:xfrm>
            <a:off x="1295400" y="3474720"/>
            <a:ext cx="5334000" cy="378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실업급여 수급자는 전액지원이 불가하기 때문에 자부담 발생 언급</a:t>
            </a:r>
          </a:p>
        </p:txBody>
      </p:sp>
      <p:sp>
        <p:nvSpPr>
          <p:cNvPr id="49" name="S11_List_Row4">
            <a:extLst>
              <a:ext uri="{FF2B5EF4-FFF2-40B4-BE49-F238E27FC236}">
                <a16:creationId xmlns:a16="http://schemas.microsoft.com/office/drawing/2014/main" id="{58BE3CC5-5217-4012-A704-F8A7F37D53E1}"/>
              </a:ext>
            </a:extLst>
          </p:cNvPr>
          <p:cNvSpPr/>
          <p:nvPr/>
        </p:nvSpPr>
        <p:spPr>
          <a:xfrm>
            <a:off x="660400" y="4018280"/>
            <a:ext cx="6096000" cy="8102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S11_List_Badge4">
            <a:extLst>
              <a:ext uri="{FF2B5EF4-FFF2-40B4-BE49-F238E27FC236}">
                <a16:creationId xmlns:a16="http://schemas.microsoft.com/office/drawing/2014/main" id="{BFBE4CA9-EEA2-4818-B253-05E5B41D5EC8}"/>
              </a:ext>
            </a:extLst>
          </p:cNvPr>
          <p:cNvSpPr/>
          <p:nvPr/>
        </p:nvSpPr>
        <p:spPr>
          <a:xfrm>
            <a:off x="787400" y="414528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04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1" name="S11_List_Title4">
            <a:extLst>
              <a:ext uri="{FF2B5EF4-FFF2-40B4-BE49-F238E27FC236}">
                <a16:creationId xmlns:a16="http://schemas.microsoft.com/office/drawing/2014/main" id="{8BB5F472-0036-44A1-951C-07898CB82976}"/>
              </a:ext>
            </a:extLst>
          </p:cNvPr>
          <p:cNvSpPr txBox="1"/>
          <p:nvPr/>
        </p:nvSpPr>
        <p:spPr>
          <a:xfrm>
            <a:off x="1295400" y="4094480"/>
            <a:ext cx="5334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핵심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4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2" name="S11_List_Body4">
            <a:extLst>
              <a:ext uri="{FF2B5EF4-FFF2-40B4-BE49-F238E27FC236}">
                <a16:creationId xmlns:a16="http://schemas.microsoft.com/office/drawing/2014/main" id="{3C702448-8C05-45FA-B961-1C40556380E6}"/>
              </a:ext>
            </a:extLst>
          </p:cNvPr>
          <p:cNvSpPr txBox="1"/>
          <p:nvPr/>
        </p:nvSpPr>
        <p:spPr>
          <a:xfrm>
            <a:off x="1295400" y="4373880"/>
            <a:ext cx="5334000" cy="378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내배카 사용자는 기존 사용과 비교하여 잔액 확인 및 자부담 납부 내역 체크</a:t>
            </a:r>
          </a:p>
        </p:txBody>
      </p:sp>
      <p:sp>
        <p:nvSpPr>
          <p:cNvPr id="53" name="S11_List_Row5">
            <a:extLst>
              <a:ext uri="{FF2B5EF4-FFF2-40B4-BE49-F238E27FC236}">
                <a16:creationId xmlns:a16="http://schemas.microsoft.com/office/drawing/2014/main" id="{90D91C5A-6252-488D-A137-3717690B5E51}"/>
              </a:ext>
            </a:extLst>
          </p:cNvPr>
          <p:cNvSpPr/>
          <p:nvPr/>
        </p:nvSpPr>
        <p:spPr>
          <a:xfrm>
            <a:off x="660400" y="4917440"/>
            <a:ext cx="6096000" cy="8102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S11_List_Badge5">
            <a:extLst>
              <a:ext uri="{FF2B5EF4-FFF2-40B4-BE49-F238E27FC236}">
                <a16:creationId xmlns:a16="http://schemas.microsoft.com/office/drawing/2014/main" id="{147C95AF-D36B-4B48-9DB2-29C07425E642}"/>
              </a:ext>
            </a:extLst>
          </p:cNvPr>
          <p:cNvSpPr/>
          <p:nvPr/>
        </p:nvSpPr>
        <p:spPr>
          <a:xfrm>
            <a:off x="787400" y="504444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05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5" name="S11_List_Title5">
            <a:extLst>
              <a:ext uri="{FF2B5EF4-FFF2-40B4-BE49-F238E27FC236}">
                <a16:creationId xmlns:a16="http://schemas.microsoft.com/office/drawing/2014/main" id="{D34CB752-BE18-4192-B2BA-AF9315C61939}"/>
              </a:ext>
            </a:extLst>
          </p:cNvPr>
          <p:cNvSpPr txBox="1"/>
          <p:nvPr/>
        </p:nvSpPr>
        <p:spPr>
          <a:xfrm>
            <a:off x="1295400" y="4993640"/>
            <a:ext cx="5334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핵심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5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6" name="S11_List_Body5">
            <a:extLst>
              <a:ext uri="{FF2B5EF4-FFF2-40B4-BE49-F238E27FC236}">
                <a16:creationId xmlns:a16="http://schemas.microsoft.com/office/drawing/2014/main" id="{49BFE4A8-3D05-4031-8283-054E04E0C2F9}"/>
              </a:ext>
            </a:extLst>
          </p:cNvPr>
          <p:cNvSpPr txBox="1"/>
          <p:nvPr/>
        </p:nvSpPr>
        <p:spPr>
          <a:xfrm>
            <a:off x="1295400" y="5273040"/>
            <a:ext cx="5334000" cy="378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지점 내 국비과정이 있다면 국비 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+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일반과정을 가장 추천</a:t>
            </a:r>
          </a:p>
        </p:txBody>
      </p:sp>
      <p:sp>
        <p:nvSpPr>
          <p:cNvPr id="57" name="S11_ImageArea">
            <a:extLst>
              <a:ext uri="{FF2B5EF4-FFF2-40B4-BE49-F238E27FC236}">
                <a16:creationId xmlns:a16="http://schemas.microsoft.com/office/drawing/2014/main" id="{2D48901A-F4A8-4A7A-9E30-8E8B984C7D5C}"/>
              </a:ext>
            </a:extLst>
          </p:cNvPr>
          <p:cNvSpPr/>
          <p:nvPr/>
        </p:nvSpPr>
        <p:spPr>
          <a:xfrm>
            <a:off x="7112000" y="1193800"/>
            <a:ext cx="4533900" cy="47879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S11_Image1_Frame">
            <a:extLst>
              <a:ext uri="{FF2B5EF4-FFF2-40B4-BE49-F238E27FC236}">
                <a16:creationId xmlns:a16="http://schemas.microsoft.com/office/drawing/2014/main" id="{412DEB40-CBCC-48F8-896B-E29AE1505879}"/>
              </a:ext>
            </a:extLst>
          </p:cNvPr>
          <p:cNvSpPr/>
          <p:nvPr/>
        </p:nvSpPr>
        <p:spPr>
          <a:xfrm>
            <a:off x="7239000" y="1320800"/>
            <a:ext cx="4279900" cy="27686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0" name="S11_Image1">
            <a:extLst>
              <a:ext uri="{FF2B5EF4-FFF2-40B4-BE49-F238E27FC236}">
                <a16:creationId xmlns:a16="http://schemas.microsoft.com/office/drawing/2014/main" id="{A7F8B707-C12A-4DCF-8EA7-BD88544F4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951" y="1679187"/>
            <a:ext cx="2775998" cy="2051825"/>
          </a:xfrm>
          <a:prstGeom prst="rect">
            <a:avLst/>
          </a:prstGeom>
        </p:spPr>
      </p:pic>
      <p:sp>
        <p:nvSpPr>
          <p:cNvPr id="61" name="S11_Image2_Frame">
            <a:extLst>
              <a:ext uri="{FF2B5EF4-FFF2-40B4-BE49-F238E27FC236}">
                <a16:creationId xmlns:a16="http://schemas.microsoft.com/office/drawing/2014/main" id="{F8D3702F-853C-4315-8DB8-3608A2336E74}"/>
              </a:ext>
            </a:extLst>
          </p:cNvPr>
          <p:cNvSpPr/>
          <p:nvPr/>
        </p:nvSpPr>
        <p:spPr>
          <a:xfrm>
            <a:off x="7239000" y="4216400"/>
            <a:ext cx="4279900" cy="15113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3" name="S11_Image2">
            <a:extLst>
              <a:ext uri="{FF2B5EF4-FFF2-40B4-BE49-F238E27FC236}">
                <a16:creationId xmlns:a16="http://schemas.microsoft.com/office/drawing/2014/main" id="{C903C6AF-8ECD-4DCE-A548-0CA100B276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611" y="4512788"/>
            <a:ext cx="1526679" cy="91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4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12_Chapter">
            <a:extLst>
              <a:ext uri="{FF2B5EF4-FFF2-40B4-BE49-F238E27FC236}">
                <a16:creationId xmlns:a16="http://schemas.microsoft.com/office/drawing/2014/main" id="{4D546323-4C67-4979-8AC3-0911FC39AF38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20" name="S12_Title">
            <a:extLst>
              <a:ext uri="{FF2B5EF4-FFF2-40B4-BE49-F238E27FC236}">
                <a16:creationId xmlns:a16="http://schemas.microsoft.com/office/drawing/2014/main" id="{7A7749FB-41A8-4CA6-B3BD-A4D9DEA4F404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구직자 국비문의 상담</a:t>
            </a:r>
          </a:p>
        </p:txBody>
      </p:sp>
      <p:sp>
        <p:nvSpPr>
          <p:cNvPr id="21" name="S12_PageBadge">
            <a:extLst>
              <a:ext uri="{FF2B5EF4-FFF2-40B4-BE49-F238E27FC236}">
                <a16:creationId xmlns:a16="http://schemas.microsoft.com/office/drawing/2014/main" id="{09303F64-DD19-4817-9E33-FFFF758C61A0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12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22" name="S12_HeaderRule">
            <a:extLst>
              <a:ext uri="{FF2B5EF4-FFF2-40B4-BE49-F238E27FC236}">
                <a16:creationId xmlns:a16="http://schemas.microsoft.com/office/drawing/2014/main" id="{B320C091-F855-4685-B800-2B7D3EE96609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12_Card1_Base">
            <a:extLst>
              <a:ext uri="{FF2B5EF4-FFF2-40B4-BE49-F238E27FC236}">
                <a16:creationId xmlns:a16="http://schemas.microsoft.com/office/drawing/2014/main" id="{432617E8-0359-4307-9350-582673997E10}"/>
              </a:ext>
            </a:extLst>
          </p:cNvPr>
          <p:cNvSpPr/>
          <p:nvPr/>
        </p:nvSpPr>
        <p:spPr>
          <a:xfrm>
            <a:off x="533400" y="1193800"/>
            <a:ext cx="5435600" cy="2133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S12_Card1_Header">
            <a:extLst>
              <a:ext uri="{FF2B5EF4-FFF2-40B4-BE49-F238E27FC236}">
                <a16:creationId xmlns:a16="http://schemas.microsoft.com/office/drawing/2014/main" id="{7EB62266-167E-43D5-86EC-834F52E7E056}"/>
              </a:ext>
            </a:extLst>
          </p:cNvPr>
          <p:cNvSpPr/>
          <p:nvPr/>
        </p:nvSpPr>
        <p:spPr>
          <a:xfrm>
            <a:off x="533400" y="1193800"/>
            <a:ext cx="54356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8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국비만 맞출 때의 리스크</a:t>
            </a:r>
          </a:p>
        </p:txBody>
      </p:sp>
      <p:sp>
        <p:nvSpPr>
          <p:cNvPr id="25" name="S12_Card1_Body">
            <a:extLst>
              <a:ext uri="{FF2B5EF4-FFF2-40B4-BE49-F238E27FC236}">
                <a16:creationId xmlns:a16="http://schemas.microsoft.com/office/drawing/2014/main" id="{DAC212EF-B6C7-4387-B4FA-7CCB6B5B5B62}"/>
              </a:ext>
            </a:extLst>
          </p:cNvPr>
          <p:cNvSpPr txBox="1"/>
          <p:nvPr/>
        </p:nvSpPr>
        <p:spPr>
          <a:xfrm>
            <a:off x="685800" y="1651000"/>
            <a:ext cx="5130800" cy="156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당장 등록은 가능해도 이후 불안요소가 생길 수 있습니다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국취제 상담센터의 제동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우유부단함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수강 환불 가능성을 미리 고려해야 합니다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수강의 특성과 정규과정의 장단점을 함께 비교해줘야 합니다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endParaRPr lang="ko-KR" altLang="en-US" sz="98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6" name="S12_Card2_Base">
            <a:extLst>
              <a:ext uri="{FF2B5EF4-FFF2-40B4-BE49-F238E27FC236}">
                <a16:creationId xmlns:a16="http://schemas.microsoft.com/office/drawing/2014/main" id="{AB433BBC-67B6-46B0-8FEC-1B4191ED0A03}"/>
              </a:ext>
            </a:extLst>
          </p:cNvPr>
          <p:cNvSpPr/>
          <p:nvPr/>
        </p:nvSpPr>
        <p:spPr>
          <a:xfrm>
            <a:off x="6223000" y="1193800"/>
            <a:ext cx="5435600" cy="2133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S12_Card2_Header">
            <a:extLst>
              <a:ext uri="{FF2B5EF4-FFF2-40B4-BE49-F238E27FC236}">
                <a16:creationId xmlns:a16="http://schemas.microsoft.com/office/drawing/2014/main" id="{27488A20-E804-4A5F-AC52-C4EE3843C25A}"/>
              </a:ext>
            </a:extLst>
          </p:cNvPr>
          <p:cNvSpPr/>
          <p:nvPr/>
        </p:nvSpPr>
        <p:spPr>
          <a:xfrm>
            <a:off x="6223000" y="1193800"/>
            <a:ext cx="54356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8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정규과정 후 국비 활용</a:t>
            </a:r>
          </a:p>
        </p:txBody>
      </p:sp>
      <p:sp>
        <p:nvSpPr>
          <p:cNvPr id="28" name="S12_Card2_Body">
            <a:extLst>
              <a:ext uri="{FF2B5EF4-FFF2-40B4-BE49-F238E27FC236}">
                <a16:creationId xmlns:a16="http://schemas.microsoft.com/office/drawing/2014/main" id="{9DD085CD-D87D-42CA-A16D-D0CF6F9F3730}"/>
              </a:ext>
            </a:extLst>
          </p:cNvPr>
          <p:cNvSpPr txBox="1"/>
          <p:nvPr/>
        </p:nvSpPr>
        <p:spPr>
          <a:xfrm>
            <a:off x="6375400" y="1651000"/>
            <a:ext cx="5130800" cy="156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정규과정으로 기본기를 잡은 뒤 국비 수강을 고려하도록 안내
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프로젝트 수업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놓쳤던 내용 복습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무료교육의 이점을 어필
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첫 공부의 리스크를 이후 국비 수강으로 보완할 수 있다는 안정감 제공</a:t>
            </a:r>
          </a:p>
        </p:txBody>
      </p:sp>
      <p:sp>
        <p:nvSpPr>
          <p:cNvPr id="29" name="S12_Card3_Base">
            <a:extLst>
              <a:ext uri="{FF2B5EF4-FFF2-40B4-BE49-F238E27FC236}">
                <a16:creationId xmlns:a16="http://schemas.microsoft.com/office/drawing/2014/main" id="{809F6276-7893-47E2-9313-9DF6A2CE9C76}"/>
              </a:ext>
            </a:extLst>
          </p:cNvPr>
          <p:cNvSpPr/>
          <p:nvPr/>
        </p:nvSpPr>
        <p:spPr>
          <a:xfrm>
            <a:off x="533400" y="3632200"/>
            <a:ext cx="5435600" cy="2133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S12_Card3_Header">
            <a:extLst>
              <a:ext uri="{FF2B5EF4-FFF2-40B4-BE49-F238E27FC236}">
                <a16:creationId xmlns:a16="http://schemas.microsoft.com/office/drawing/2014/main" id="{BFB6962B-C764-453B-A2A0-1FAE299776E3}"/>
              </a:ext>
            </a:extLst>
          </p:cNvPr>
          <p:cNvSpPr/>
          <p:nvPr/>
        </p:nvSpPr>
        <p:spPr>
          <a:xfrm>
            <a:off x="533400" y="3632200"/>
            <a:ext cx="54356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8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국민취업지원제도 활용 주의</a:t>
            </a:r>
          </a:p>
        </p:txBody>
      </p:sp>
      <p:sp>
        <p:nvSpPr>
          <p:cNvPr id="31" name="S12_Card3_Body">
            <a:extLst>
              <a:ext uri="{FF2B5EF4-FFF2-40B4-BE49-F238E27FC236}">
                <a16:creationId xmlns:a16="http://schemas.microsoft.com/office/drawing/2014/main" id="{A020FE63-4EC6-454B-8F31-2A9DA1AAD277}"/>
              </a:ext>
            </a:extLst>
          </p:cNvPr>
          <p:cNvSpPr txBox="1"/>
          <p:nvPr/>
        </p:nvSpPr>
        <p:spPr>
          <a:xfrm>
            <a:off x="685800" y="4089400"/>
            <a:ext cx="5130800" cy="156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국민취업지원제도는 강력한 무기가 될 수 있습니다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단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수강생을 위해 알아봐 준 제도처럼 안내하는 것이 좋습니다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“60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만원씩 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6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개월 수당”처럼 환급 형식으로만 설명하면 환불 위험이 커질 수 있습니다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endParaRPr lang="ko-KR" altLang="en-US" sz="98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2" name="S12_Card4_Base">
            <a:extLst>
              <a:ext uri="{FF2B5EF4-FFF2-40B4-BE49-F238E27FC236}">
                <a16:creationId xmlns:a16="http://schemas.microsoft.com/office/drawing/2014/main" id="{CF74B098-7F1F-4B11-BC95-BF97321BEFD8}"/>
              </a:ext>
            </a:extLst>
          </p:cNvPr>
          <p:cNvSpPr/>
          <p:nvPr/>
        </p:nvSpPr>
        <p:spPr>
          <a:xfrm>
            <a:off x="6223000" y="3632200"/>
            <a:ext cx="5435600" cy="2133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S12_Card4_Header">
            <a:extLst>
              <a:ext uri="{FF2B5EF4-FFF2-40B4-BE49-F238E27FC236}">
                <a16:creationId xmlns:a16="http://schemas.microsoft.com/office/drawing/2014/main" id="{8AD0FB65-79AF-4935-AA25-E675FAED6795}"/>
              </a:ext>
            </a:extLst>
          </p:cNvPr>
          <p:cNvSpPr/>
          <p:nvPr/>
        </p:nvSpPr>
        <p:spPr>
          <a:xfrm>
            <a:off x="6223000" y="3632200"/>
            <a:ext cx="54356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8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멘토의 설득 역할</a:t>
            </a:r>
          </a:p>
        </p:txBody>
      </p:sp>
      <p:sp>
        <p:nvSpPr>
          <p:cNvPr id="34" name="S12_Card4_Body">
            <a:extLst>
              <a:ext uri="{FF2B5EF4-FFF2-40B4-BE49-F238E27FC236}">
                <a16:creationId xmlns:a16="http://schemas.microsoft.com/office/drawing/2014/main" id="{B898D0B7-FDFE-4632-9917-BC317C29E7B0}"/>
              </a:ext>
            </a:extLst>
          </p:cNvPr>
          <p:cNvSpPr txBox="1"/>
          <p:nvPr/>
        </p:nvSpPr>
        <p:spPr>
          <a:xfrm>
            <a:off x="6375400" y="4089400"/>
            <a:ext cx="5130800" cy="156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수강생의 니즈를 맞추는 것도 중요하지만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한계를 부수는 설득 능력도 필요합니다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전문성 있는 멘토로 납득되면 정규과정 후 국비 수강 방향도 자연스럽게 설득됩니다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보이지 않는 교육의 가치를 보이게 만들어주는 것이 상담의 핵심입니다</a:t>
            </a:r>
            <a:r>
              <a:rPr lang="en-US" altLang="ko-KR" sz="98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endParaRPr lang="ko-KR" altLang="en-US" sz="98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5" name="S12_Key">
            <a:extLst>
              <a:ext uri="{FF2B5EF4-FFF2-40B4-BE49-F238E27FC236}">
                <a16:creationId xmlns:a16="http://schemas.microsoft.com/office/drawing/2014/main" id="{1FA5D59C-4480-44E6-A5C9-C382977C7F0C}"/>
              </a:ext>
            </a:extLst>
          </p:cNvPr>
          <p:cNvSpPr/>
          <p:nvPr/>
        </p:nvSpPr>
        <p:spPr>
          <a:xfrm>
            <a:off x="1041400" y="5918200"/>
            <a:ext cx="10109200" cy="4064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07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수강생의 목표에 집중해 상담하면</a:t>
            </a:r>
            <a:r>
              <a:rPr lang="en-US" altLang="ko-KR" sz="107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07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국비가 되지 않는 상황도 더 적합한 대안을 찾는 계기가 될 수 있습니다</a:t>
            </a:r>
            <a:r>
              <a:rPr lang="en-US" altLang="ko-KR" sz="107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endParaRPr lang="ko-KR" altLang="en-US" sz="1070" b="1" spc="-2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3301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13_Chapter">
            <a:extLst>
              <a:ext uri="{FF2B5EF4-FFF2-40B4-BE49-F238E27FC236}">
                <a16:creationId xmlns:a16="http://schemas.microsoft.com/office/drawing/2014/main" id="{CFDCD680-87E1-4EC5-A9A1-0A0A0F0B8F44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20" name="S13_Title">
            <a:extLst>
              <a:ext uri="{FF2B5EF4-FFF2-40B4-BE49-F238E27FC236}">
                <a16:creationId xmlns:a16="http://schemas.microsoft.com/office/drawing/2014/main" id="{04335A36-4867-45E6-860E-D4A6EEB13DE6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구직자 국비문의 상담</a:t>
            </a:r>
          </a:p>
        </p:txBody>
      </p:sp>
      <p:sp>
        <p:nvSpPr>
          <p:cNvPr id="21" name="S13_PageBadge">
            <a:extLst>
              <a:ext uri="{FF2B5EF4-FFF2-40B4-BE49-F238E27FC236}">
                <a16:creationId xmlns:a16="http://schemas.microsoft.com/office/drawing/2014/main" id="{5A2BA690-54FE-4336-8FD7-6BFC2AB45CCA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13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22" name="S13_HeaderRule">
            <a:extLst>
              <a:ext uri="{FF2B5EF4-FFF2-40B4-BE49-F238E27FC236}">
                <a16:creationId xmlns:a16="http://schemas.microsoft.com/office/drawing/2014/main" id="{F5B9DFF6-E957-4219-964E-34076AED9D01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13_Understanding_Base">
            <a:extLst>
              <a:ext uri="{FF2B5EF4-FFF2-40B4-BE49-F238E27FC236}">
                <a16:creationId xmlns:a16="http://schemas.microsoft.com/office/drawing/2014/main" id="{ADA80176-E0B5-4497-B699-EC0691561232}"/>
              </a:ext>
            </a:extLst>
          </p:cNvPr>
          <p:cNvSpPr/>
          <p:nvPr/>
        </p:nvSpPr>
        <p:spPr>
          <a:xfrm>
            <a:off x="533400" y="1193800"/>
            <a:ext cx="1111250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S13_Understanding_Header">
            <a:extLst>
              <a:ext uri="{FF2B5EF4-FFF2-40B4-BE49-F238E27FC236}">
                <a16:creationId xmlns:a16="http://schemas.microsoft.com/office/drawing/2014/main" id="{C5EAE850-E52B-48F6-A329-A2486FF65BE1}"/>
              </a:ext>
            </a:extLst>
          </p:cNvPr>
          <p:cNvSpPr/>
          <p:nvPr/>
        </p:nvSpPr>
        <p:spPr>
          <a:xfrm>
            <a:off x="533400" y="1193800"/>
            <a:ext cx="11112500" cy="368300"/>
          </a:xfrm>
          <a:prstGeom prst="roundRect">
            <a:avLst>
              <a:gd name="adj" fmla="val 10000"/>
            </a:avLst>
          </a:prstGeom>
          <a:solidFill>
            <a:srgbClr val="064682"/>
          </a:solidFill>
          <a:ln w="6350">
            <a:solidFill>
              <a:srgbClr val="0646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3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구직자 국비의 목적은 취업</a:t>
            </a:r>
          </a:p>
        </p:txBody>
      </p:sp>
      <p:sp>
        <p:nvSpPr>
          <p:cNvPr id="25" name="S13_Understanding_Body">
            <a:extLst>
              <a:ext uri="{FF2B5EF4-FFF2-40B4-BE49-F238E27FC236}">
                <a16:creationId xmlns:a16="http://schemas.microsoft.com/office/drawing/2014/main" id="{3128801B-D11A-4F90-B017-59039D32906D}"/>
              </a:ext>
            </a:extLst>
          </p:cNvPr>
          <p:cNvSpPr txBox="1"/>
          <p:nvPr/>
        </p:nvSpPr>
        <p:spPr>
          <a:xfrm>
            <a:off x="685800" y="1651000"/>
            <a:ext cx="108077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3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3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국비의 가장 큰 목적은 직무능력 개발을 통한 취업입니다</a:t>
            </a:r>
            <a:r>
              <a:rPr lang="en-US" altLang="ko-KR" sz="103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103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국비과정은 정해진 커리큘럼과 지정된 훈련기간을 수료해야 지원되는 학교형 시스템입니다</a:t>
            </a:r>
            <a:r>
              <a:rPr lang="en-US" altLang="ko-KR" sz="103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103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한 과정을 깊게 배우기보다 실무 활용 학습과 포트폴리오 제작에 초점이 맞춰져 있습니다</a:t>
            </a:r>
            <a:r>
              <a:rPr lang="en-US" altLang="ko-KR" sz="103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endParaRPr lang="ko-KR" altLang="en-US" sz="103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6" name="S13_Step1_Base">
            <a:extLst>
              <a:ext uri="{FF2B5EF4-FFF2-40B4-BE49-F238E27FC236}">
                <a16:creationId xmlns:a16="http://schemas.microsoft.com/office/drawing/2014/main" id="{7CE493C1-7718-4FAA-B4A8-11C6E0305DEF}"/>
              </a:ext>
            </a:extLst>
          </p:cNvPr>
          <p:cNvSpPr/>
          <p:nvPr/>
        </p:nvSpPr>
        <p:spPr>
          <a:xfrm>
            <a:off x="533400" y="2667000"/>
            <a:ext cx="3619500" cy="302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S13_Step1_Header">
            <a:extLst>
              <a:ext uri="{FF2B5EF4-FFF2-40B4-BE49-F238E27FC236}">
                <a16:creationId xmlns:a16="http://schemas.microsoft.com/office/drawing/2014/main" id="{3E67BC22-129A-4F52-9673-3C7726E7CCE8}"/>
              </a:ext>
            </a:extLst>
          </p:cNvPr>
          <p:cNvSpPr/>
          <p:nvPr/>
        </p:nvSpPr>
        <p:spPr>
          <a:xfrm>
            <a:off x="533400" y="2667000"/>
            <a:ext cx="36195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1. </a:t>
            </a:r>
            <a:r>
              <a:rPr lang="ko-KR" altLang="en-US" sz="12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컨디션 파악</a:t>
            </a:r>
          </a:p>
        </p:txBody>
      </p:sp>
      <p:sp>
        <p:nvSpPr>
          <p:cNvPr id="28" name="S13_Step1_Body">
            <a:extLst>
              <a:ext uri="{FF2B5EF4-FFF2-40B4-BE49-F238E27FC236}">
                <a16:creationId xmlns:a16="http://schemas.microsoft.com/office/drawing/2014/main" id="{147CC177-3615-48AC-9500-F46F6FB3026A}"/>
              </a:ext>
            </a:extLst>
          </p:cNvPr>
          <p:cNvSpPr txBox="1"/>
          <p:nvPr/>
        </p:nvSpPr>
        <p:spPr>
          <a:xfrm>
            <a:off x="685800" y="3124200"/>
            <a:ext cx="3314700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국비만으로 해결 가능한 학습자인지 확인
</a:t>
            </a:r>
            <a:r>
              <a:rPr lang="en-US" altLang="ko-KR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일반과정을 함께 연결할 필요가 있는지 판단
</a:t>
            </a:r>
            <a:r>
              <a:rPr lang="en-US" altLang="ko-KR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학생의 성향과 취업 가능성을 상담 초반에 파악</a:t>
            </a:r>
          </a:p>
        </p:txBody>
      </p:sp>
      <p:sp>
        <p:nvSpPr>
          <p:cNvPr id="29" name="S13_Step2_Base">
            <a:extLst>
              <a:ext uri="{FF2B5EF4-FFF2-40B4-BE49-F238E27FC236}">
                <a16:creationId xmlns:a16="http://schemas.microsoft.com/office/drawing/2014/main" id="{0E797FFD-6D81-467B-94CF-241D25D127DC}"/>
              </a:ext>
            </a:extLst>
          </p:cNvPr>
          <p:cNvSpPr/>
          <p:nvPr/>
        </p:nvSpPr>
        <p:spPr>
          <a:xfrm>
            <a:off x="4279900" y="2667000"/>
            <a:ext cx="3619500" cy="302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S13_Step2_Header">
            <a:extLst>
              <a:ext uri="{FF2B5EF4-FFF2-40B4-BE49-F238E27FC236}">
                <a16:creationId xmlns:a16="http://schemas.microsoft.com/office/drawing/2014/main" id="{0C3FAC01-1827-4774-9979-AC0F1546FD72}"/>
              </a:ext>
            </a:extLst>
          </p:cNvPr>
          <p:cNvSpPr/>
          <p:nvPr/>
        </p:nvSpPr>
        <p:spPr>
          <a:xfrm>
            <a:off x="4279900" y="2667000"/>
            <a:ext cx="36195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2. </a:t>
            </a:r>
            <a:r>
              <a:rPr lang="ko-KR" altLang="en-US" sz="12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유형별 방향 설정</a:t>
            </a:r>
          </a:p>
        </p:txBody>
      </p:sp>
      <p:sp>
        <p:nvSpPr>
          <p:cNvPr id="31" name="S13_Step2_Body">
            <a:extLst>
              <a:ext uri="{FF2B5EF4-FFF2-40B4-BE49-F238E27FC236}">
                <a16:creationId xmlns:a16="http://schemas.microsoft.com/office/drawing/2014/main" id="{B24089EB-3501-4A59-B141-43533C6A236B}"/>
              </a:ext>
            </a:extLst>
          </p:cNvPr>
          <p:cNvSpPr txBox="1"/>
          <p:nvPr/>
        </p:nvSpPr>
        <p:spPr>
          <a:xfrm>
            <a:off x="4432300" y="3124200"/>
            <a:ext cx="3314700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뚜 부러진 학습자</a:t>
            </a:r>
            <a:r>
              <a:rPr lang="en-US" altLang="ko-KR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</a:t>
            </a:r>
            <a:r>
              <a:rPr lang="en-US" altLang="ko-KR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+ </a:t>
            </a:r>
            <a:r>
              <a:rPr lang="ko-KR" altLang="en-US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필요한 일반과정 병행
</a:t>
            </a:r>
            <a:r>
              <a:rPr lang="en-US" altLang="ko-KR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우유부단하거나 취업이 어려워 보이는 경우</a:t>
            </a:r>
            <a:r>
              <a:rPr lang="en-US" altLang="ko-KR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정규과정 전환
</a:t>
            </a:r>
            <a:r>
              <a:rPr lang="en-US" altLang="ko-KR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이후 국비 수강까지 고려할 수 있게 흐름 설정</a:t>
            </a:r>
          </a:p>
        </p:txBody>
      </p:sp>
      <p:sp>
        <p:nvSpPr>
          <p:cNvPr id="32" name="S13_Step3_Base">
            <a:extLst>
              <a:ext uri="{FF2B5EF4-FFF2-40B4-BE49-F238E27FC236}">
                <a16:creationId xmlns:a16="http://schemas.microsoft.com/office/drawing/2014/main" id="{386B2A03-B8FC-4BB4-A3C0-739DFDAA8017}"/>
              </a:ext>
            </a:extLst>
          </p:cNvPr>
          <p:cNvSpPr/>
          <p:nvPr/>
        </p:nvSpPr>
        <p:spPr>
          <a:xfrm>
            <a:off x="8026400" y="2667000"/>
            <a:ext cx="3619500" cy="302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S13_Step3_Header">
            <a:extLst>
              <a:ext uri="{FF2B5EF4-FFF2-40B4-BE49-F238E27FC236}">
                <a16:creationId xmlns:a16="http://schemas.microsoft.com/office/drawing/2014/main" id="{0A48B6E2-8AB1-4C02-AEF3-7217AE38EC97}"/>
              </a:ext>
            </a:extLst>
          </p:cNvPr>
          <p:cNvSpPr/>
          <p:nvPr/>
        </p:nvSpPr>
        <p:spPr>
          <a:xfrm>
            <a:off x="8026400" y="2667000"/>
            <a:ext cx="36195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en-US" altLang="ko-KR" sz="12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3. </a:t>
            </a:r>
            <a:r>
              <a:rPr lang="ko-KR" altLang="en-US" sz="12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기대효과 제시</a:t>
            </a:r>
          </a:p>
        </p:txBody>
      </p:sp>
      <p:sp>
        <p:nvSpPr>
          <p:cNvPr id="34" name="S13_Step3_Body">
            <a:extLst>
              <a:ext uri="{FF2B5EF4-FFF2-40B4-BE49-F238E27FC236}">
                <a16:creationId xmlns:a16="http://schemas.microsoft.com/office/drawing/2014/main" id="{68959797-1D8F-4895-A1AF-218EEB44990B}"/>
              </a:ext>
            </a:extLst>
          </p:cNvPr>
          <p:cNvSpPr txBox="1"/>
          <p:nvPr/>
        </p:nvSpPr>
        <p:spPr>
          <a:xfrm>
            <a:off x="8178800" y="3124199"/>
            <a:ext cx="3314700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학습자 상황에 맞춘 대안을 먼저 제시
</a:t>
            </a:r>
            <a:r>
              <a:rPr lang="en-US" altLang="ko-KR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과정 선택으로 얻을 수 있는 결과를 명확하게 설명
</a:t>
            </a:r>
            <a:r>
              <a:rPr lang="en-US" altLang="ko-KR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10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니즈보다 취업 가능성과 학습 안정성을 중심으로 안내</a:t>
            </a:r>
          </a:p>
        </p:txBody>
      </p:sp>
      <p:sp>
        <p:nvSpPr>
          <p:cNvPr id="35" name="S13_Key">
            <a:extLst>
              <a:ext uri="{FF2B5EF4-FFF2-40B4-BE49-F238E27FC236}">
                <a16:creationId xmlns:a16="http://schemas.microsoft.com/office/drawing/2014/main" id="{25F61CC8-B3DC-4595-83CE-913E45DA8B6B}"/>
              </a:ext>
            </a:extLst>
          </p:cNvPr>
          <p:cNvSpPr/>
          <p:nvPr/>
        </p:nvSpPr>
        <p:spPr>
          <a:xfrm>
            <a:off x="914400" y="5880100"/>
            <a:ext cx="10350500" cy="4445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08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니즈만 맞추기보다</a:t>
            </a:r>
            <a:r>
              <a:rPr lang="en-US" altLang="ko-KR" sz="108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08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학습자의 취업 가능성과 과정 적합성을 기준으로 상담 방향을 잡는 것이 중요합니다</a:t>
            </a:r>
            <a:r>
              <a:rPr lang="en-US" altLang="ko-KR" sz="108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endParaRPr lang="ko-KR" altLang="en-US" sz="1080" b="1" spc="-2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686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14_Chapter">
            <a:extLst>
              <a:ext uri="{FF2B5EF4-FFF2-40B4-BE49-F238E27FC236}">
                <a16:creationId xmlns:a16="http://schemas.microsoft.com/office/drawing/2014/main" id="{C48191E8-255E-4E59-87B6-42A77110EE73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18" name="S14_Title">
            <a:extLst>
              <a:ext uri="{FF2B5EF4-FFF2-40B4-BE49-F238E27FC236}">
                <a16:creationId xmlns:a16="http://schemas.microsoft.com/office/drawing/2014/main" id="{E5B7A563-A956-4C35-9F25-BB0F89C5FA6D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재직자 국비문의 상담</a:t>
            </a:r>
          </a:p>
        </p:txBody>
      </p:sp>
      <p:sp>
        <p:nvSpPr>
          <p:cNvPr id="19" name="S14_PageBadge">
            <a:extLst>
              <a:ext uri="{FF2B5EF4-FFF2-40B4-BE49-F238E27FC236}">
                <a16:creationId xmlns:a16="http://schemas.microsoft.com/office/drawing/2014/main" id="{FAC6AE59-788D-4F74-A60D-9143D43F97C8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14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20" name="S14_HeaderRule">
            <a:extLst>
              <a:ext uri="{FF2B5EF4-FFF2-40B4-BE49-F238E27FC236}">
                <a16:creationId xmlns:a16="http://schemas.microsoft.com/office/drawing/2014/main" id="{319F5230-32B7-4142-94B9-E8772F7283CE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14_Subtitle">
            <a:extLst>
              <a:ext uri="{FF2B5EF4-FFF2-40B4-BE49-F238E27FC236}">
                <a16:creationId xmlns:a16="http://schemas.microsoft.com/office/drawing/2014/main" id="{C5ADD4DD-B1B9-4150-9AF0-FE4F005B88EC}"/>
              </a:ext>
            </a:extLst>
          </p:cNvPr>
          <p:cNvSpPr txBox="1"/>
          <p:nvPr/>
        </p:nvSpPr>
        <p:spPr>
          <a:xfrm>
            <a:off x="533400" y="1092200"/>
            <a:ext cx="11112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20">
                <a:solidFill>
                  <a:srgbClr val="7B8794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문의 유형에 따라 응대 스피치와 상담 방향을 달리하는 가이드</a:t>
            </a:r>
          </a:p>
        </p:txBody>
      </p:sp>
      <p:sp>
        <p:nvSpPr>
          <p:cNvPr id="22" name="S14_Intro_Base">
            <a:extLst>
              <a:ext uri="{FF2B5EF4-FFF2-40B4-BE49-F238E27FC236}">
                <a16:creationId xmlns:a16="http://schemas.microsoft.com/office/drawing/2014/main" id="{22CA6BD1-8F16-47D5-AAB5-B4455BC0C7C7}"/>
              </a:ext>
            </a:extLst>
          </p:cNvPr>
          <p:cNvSpPr/>
          <p:nvPr/>
        </p:nvSpPr>
        <p:spPr>
          <a:xfrm>
            <a:off x="533400" y="1397000"/>
            <a:ext cx="11112500" cy="124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S14_Intro_Header">
            <a:extLst>
              <a:ext uri="{FF2B5EF4-FFF2-40B4-BE49-F238E27FC236}">
                <a16:creationId xmlns:a16="http://schemas.microsoft.com/office/drawing/2014/main" id="{7AF29A73-7BC0-4FA7-A157-1993773F40A4}"/>
              </a:ext>
            </a:extLst>
          </p:cNvPr>
          <p:cNvSpPr/>
          <p:nvPr/>
        </p:nvSpPr>
        <p:spPr>
          <a:xfrm>
            <a:off x="533400" y="1397000"/>
            <a:ext cx="11112500" cy="368300"/>
          </a:xfrm>
          <a:prstGeom prst="roundRect">
            <a:avLst>
              <a:gd name="adj" fmla="val 10000"/>
            </a:avLst>
          </a:prstGeom>
          <a:solidFill>
            <a:srgbClr val="064682"/>
          </a:solidFill>
          <a:ln w="6350">
            <a:solidFill>
              <a:srgbClr val="0646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국비를 정확히 모를 경우</a:t>
            </a:r>
          </a:p>
        </p:txBody>
      </p:sp>
      <p:sp>
        <p:nvSpPr>
          <p:cNvPr id="24" name="S14_Intro_Body">
            <a:extLst>
              <a:ext uri="{FF2B5EF4-FFF2-40B4-BE49-F238E27FC236}">
                <a16:creationId xmlns:a16="http://schemas.microsoft.com/office/drawing/2014/main" id="{E9EE4D77-CF9C-4C0D-9F14-54DC18AA98A7}"/>
              </a:ext>
            </a:extLst>
          </p:cNvPr>
          <p:cNvSpPr txBox="1"/>
          <p:nvPr/>
        </p:nvSpPr>
        <p:spPr>
          <a:xfrm>
            <a:off x="685800" y="1854200"/>
            <a:ext cx="108077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9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국비를 단순히 ‘국가에서 수강료를 지원해주는 제도’ 정도로만 아는 경우가 많다</a:t>
            </a:r>
            <a:r>
              <a:rPr lang="en-US" altLang="ko-KR" sz="9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9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내일배움카드를 발급만 받았거나</a:t>
            </a:r>
            <a:r>
              <a:rPr lang="en-US" altLang="ko-KR" sz="9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알기만 하거나</a:t>
            </a:r>
            <a:r>
              <a:rPr lang="en-US" altLang="ko-KR" sz="9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아예 잘 모르는 경우도 있다</a:t>
            </a:r>
            <a:r>
              <a:rPr lang="en-US" altLang="ko-KR" sz="9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9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재직자는 내일배움카드 사용 시 자부담이 발생할 수 있으므로 조회 후 안내가 필요하다</a:t>
            </a:r>
            <a:r>
              <a:rPr lang="en-US" altLang="ko-KR" sz="9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9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이 경우에는 내배카에서 일반과정 전환을 자연스럽게 유도하는 스피치가 효과적이다</a:t>
            </a:r>
            <a:r>
              <a:rPr lang="en-US" altLang="ko-KR" sz="94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endParaRPr lang="ko-KR" altLang="en-US" sz="94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5" name="S14_Speech1_Base">
            <a:extLst>
              <a:ext uri="{FF2B5EF4-FFF2-40B4-BE49-F238E27FC236}">
                <a16:creationId xmlns:a16="http://schemas.microsoft.com/office/drawing/2014/main" id="{064D27E6-B1F3-4D60-A575-3D19869E6C0E}"/>
              </a:ext>
            </a:extLst>
          </p:cNvPr>
          <p:cNvSpPr/>
          <p:nvPr/>
        </p:nvSpPr>
        <p:spPr>
          <a:xfrm>
            <a:off x="533400" y="2768600"/>
            <a:ext cx="5435600" cy="29337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S14_Speech1_Header">
            <a:extLst>
              <a:ext uri="{FF2B5EF4-FFF2-40B4-BE49-F238E27FC236}">
                <a16:creationId xmlns:a16="http://schemas.microsoft.com/office/drawing/2014/main" id="{4F0BF83B-59E2-45E8-81F9-BD1CDEA55346}"/>
              </a:ext>
            </a:extLst>
          </p:cNvPr>
          <p:cNvSpPr/>
          <p:nvPr/>
        </p:nvSpPr>
        <p:spPr>
          <a:xfrm>
            <a:off x="533400" y="2768600"/>
            <a:ext cx="54356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스피치 </a:t>
            </a:r>
            <a:r>
              <a:rPr lang="en-US" altLang="ko-KR" sz="130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endParaRPr lang="ko-KR" altLang="en-US" sz="1300" b="1">
              <a:solidFill>
                <a:srgbClr val="FFFFFF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7" name="S14_Speech1_Body">
            <a:extLst>
              <a:ext uri="{FF2B5EF4-FFF2-40B4-BE49-F238E27FC236}">
                <a16:creationId xmlns:a16="http://schemas.microsoft.com/office/drawing/2014/main" id="{1C9B3DB9-1A0A-4607-8A91-F812E9321275}"/>
              </a:ext>
            </a:extLst>
          </p:cNvPr>
          <p:cNvSpPr txBox="1"/>
          <p:nvPr/>
        </p:nvSpPr>
        <p:spPr>
          <a:xfrm>
            <a:off x="685800" y="3225800"/>
            <a:ext cx="5130800" cy="236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[</a:t>
            </a:r>
            <a:r>
              <a:rPr lang="ko-KR" altLang="en-US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설명</a:t>
            </a:r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]
</a:t>
            </a:r>
            <a:r>
              <a:rPr lang="ko-KR" altLang="en-US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국비는 취업률 향상을 위해 훈련비를 지원하는 제도입니다</a:t>
            </a:r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 </a:t>
            </a:r>
            <a:r>
              <a:rPr lang="ko-KR" altLang="en-US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재직자는 지원이 어렵거나 자부담 비율이 높을 수 있습니다</a:t>
            </a:r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 </a:t>
            </a:r>
            <a:r>
              <a:rPr lang="ko-KR" altLang="en-US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또 국비과정은 과정 편성을 자유롭게 바꾸기 어렵고</a:t>
            </a:r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불필요한 과정이 함께 편성되어 원수강료와 실 자부담이 커질 수 있습니다</a:t>
            </a:r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[</a:t>
            </a:r>
            <a:r>
              <a:rPr lang="ko-KR" altLang="en-US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응대 포인트</a:t>
            </a:r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]
</a:t>
            </a:r>
            <a:r>
              <a:rPr lang="ko-KR" altLang="en-US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따라서 ○○님은 일반과정으로 들어가셔서 프로모션 적용을 받으시는 편이 더 저렴할 수 있습니다</a:t>
            </a:r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endParaRPr lang="ko-KR" altLang="en-US" sz="100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8" name="S14_Speech2_Base">
            <a:extLst>
              <a:ext uri="{FF2B5EF4-FFF2-40B4-BE49-F238E27FC236}">
                <a16:creationId xmlns:a16="http://schemas.microsoft.com/office/drawing/2014/main" id="{29EE0EC8-E9C3-48A3-BFE9-90066D5D2336}"/>
              </a:ext>
            </a:extLst>
          </p:cNvPr>
          <p:cNvSpPr/>
          <p:nvPr/>
        </p:nvSpPr>
        <p:spPr>
          <a:xfrm>
            <a:off x="6223000" y="2768600"/>
            <a:ext cx="5435600" cy="29337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S14_Speech2_Header">
            <a:extLst>
              <a:ext uri="{FF2B5EF4-FFF2-40B4-BE49-F238E27FC236}">
                <a16:creationId xmlns:a16="http://schemas.microsoft.com/office/drawing/2014/main" id="{EC07D62B-08A2-4E14-BF83-A2D8FF856E6A}"/>
              </a:ext>
            </a:extLst>
          </p:cNvPr>
          <p:cNvSpPr/>
          <p:nvPr/>
        </p:nvSpPr>
        <p:spPr>
          <a:xfrm>
            <a:off x="6223000" y="2768600"/>
            <a:ext cx="5435600" cy="368300"/>
          </a:xfrm>
          <a:prstGeom prst="roundRect">
            <a:avLst>
              <a:gd name="adj" fmla="val 10000"/>
            </a:avLst>
          </a:prstGeom>
          <a:solidFill>
            <a:srgbClr val="087F82"/>
          </a:solidFill>
          <a:ln w="6350">
            <a:solidFill>
              <a:srgbClr val="087F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스피치 </a:t>
            </a:r>
            <a:r>
              <a:rPr lang="en-US" altLang="ko-KR" sz="130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</a:t>
            </a:r>
            <a:endParaRPr lang="ko-KR" altLang="en-US" sz="1300" b="1">
              <a:solidFill>
                <a:srgbClr val="FFFFFF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0" name="S14_Speech2_Body">
            <a:extLst>
              <a:ext uri="{FF2B5EF4-FFF2-40B4-BE49-F238E27FC236}">
                <a16:creationId xmlns:a16="http://schemas.microsoft.com/office/drawing/2014/main" id="{AE85474A-B1B0-4AE4-92F2-20265DF9B187}"/>
              </a:ext>
            </a:extLst>
          </p:cNvPr>
          <p:cNvSpPr txBox="1"/>
          <p:nvPr/>
        </p:nvSpPr>
        <p:spPr>
          <a:xfrm>
            <a:off x="6375400" y="3225800"/>
            <a:ext cx="5130800" cy="236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[</a:t>
            </a:r>
            <a:r>
              <a:rPr lang="ko-KR" altLang="en-US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설명</a:t>
            </a:r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]
</a:t>
            </a:r>
            <a:r>
              <a:rPr lang="ko-KR" altLang="en-US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국비과정은 취업과정 중심으로 개설되기 때문에 보통 일 </a:t>
            </a:r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4~5</a:t>
            </a:r>
            <a:r>
              <a:rPr lang="ko-KR" altLang="en-US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시간</a:t>
            </a:r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6</a:t>
            </a:r>
            <a:r>
              <a:rPr lang="ko-KR" altLang="en-US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개월 과정처럼 운영됩니다</a:t>
            </a:r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 </a:t>
            </a:r>
            <a:r>
              <a:rPr lang="ko-KR" altLang="en-US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그래서 재직자에게 맞는 시간과 기간으로 유연하게 맞추기 어렵고</a:t>
            </a:r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시간대가 제한되어 개설이 불안정할 수 있습니다</a:t>
            </a:r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[</a:t>
            </a:r>
            <a:r>
              <a:rPr lang="ko-KR" altLang="en-US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응대 포인트</a:t>
            </a:r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]
</a:t>
            </a:r>
            <a:r>
              <a:rPr lang="ko-KR" altLang="en-US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따라서 ○○님은 일반과정으로 들어가셔야 스케줄을 훨씬 더 원활하게 맞추실 수 있습니다</a:t>
            </a:r>
            <a:r>
              <a:rPr lang="en-US" altLang="ko-KR" sz="100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endParaRPr lang="ko-KR" altLang="en-US" sz="100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1" name="S14_Key">
            <a:extLst>
              <a:ext uri="{FF2B5EF4-FFF2-40B4-BE49-F238E27FC236}">
                <a16:creationId xmlns:a16="http://schemas.microsoft.com/office/drawing/2014/main" id="{A34CA856-D3C7-4F59-BB52-4437F1D6F8DA}"/>
              </a:ext>
            </a:extLst>
          </p:cNvPr>
          <p:cNvSpPr/>
          <p:nvPr/>
        </p:nvSpPr>
        <p:spPr>
          <a:xfrm>
            <a:off x="914400" y="5880100"/>
            <a:ext cx="10350500" cy="444500"/>
          </a:xfrm>
          <a:prstGeom prst="roundRect">
            <a:avLst>
              <a:gd name="adj" fmla="val 10000"/>
            </a:avLst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05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재직자 상담에서는 국비 가능 여부보다 실제 비용</a:t>
            </a:r>
            <a:r>
              <a:rPr lang="en-US" altLang="ko-KR" sz="105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05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일정</a:t>
            </a:r>
            <a:r>
              <a:rPr lang="en-US" altLang="ko-KR" sz="105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05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그리고 목표에 맞는 선택지를 중심으로 안내하는 것이 중요합니다</a:t>
            </a:r>
            <a:r>
              <a:rPr lang="en-US" altLang="ko-KR" sz="105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endParaRPr lang="ko-KR" altLang="en-US" sz="1050" b="1" spc="-2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2926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15_Chapter">
            <a:extLst>
              <a:ext uri="{FF2B5EF4-FFF2-40B4-BE49-F238E27FC236}">
                <a16:creationId xmlns:a16="http://schemas.microsoft.com/office/drawing/2014/main" id="{CE38DB11-C90D-4221-8987-FE82D9F41E0F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18" name="S15_Title">
            <a:extLst>
              <a:ext uri="{FF2B5EF4-FFF2-40B4-BE49-F238E27FC236}">
                <a16:creationId xmlns:a16="http://schemas.microsoft.com/office/drawing/2014/main" id="{3AA05171-C70C-4787-8B8E-03F5135FAD68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재직자 국비문의 상담</a:t>
            </a:r>
          </a:p>
        </p:txBody>
      </p:sp>
      <p:sp>
        <p:nvSpPr>
          <p:cNvPr id="19" name="S15_PageBadge">
            <a:extLst>
              <a:ext uri="{FF2B5EF4-FFF2-40B4-BE49-F238E27FC236}">
                <a16:creationId xmlns:a16="http://schemas.microsoft.com/office/drawing/2014/main" id="{E640DDB3-5CB8-4150-85F9-17E7D448067B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15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20" name="S15_HeaderRule">
            <a:extLst>
              <a:ext uri="{FF2B5EF4-FFF2-40B4-BE49-F238E27FC236}">
                <a16:creationId xmlns:a16="http://schemas.microsoft.com/office/drawing/2014/main" id="{5F15C3EF-93A8-46D2-B551-0431ACD285C2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15_Subtitle">
            <a:extLst>
              <a:ext uri="{FF2B5EF4-FFF2-40B4-BE49-F238E27FC236}">
                <a16:creationId xmlns:a16="http://schemas.microsoft.com/office/drawing/2014/main" id="{D2670C38-513D-49D6-9A8F-18A6E03F20A7}"/>
              </a:ext>
            </a:extLst>
          </p:cNvPr>
          <p:cNvSpPr txBox="1"/>
          <p:nvPr/>
        </p:nvSpPr>
        <p:spPr>
          <a:xfrm>
            <a:off x="533400" y="1092200"/>
            <a:ext cx="11112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920">
                <a:solidFill>
                  <a:srgbClr val="7B8794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추가 응대 스피치와 상담 핵심 포인트</a:t>
            </a:r>
          </a:p>
        </p:txBody>
      </p:sp>
      <p:sp>
        <p:nvSpPr>
          <p:cNvPr id="22" name="S15_Speech_Base">
            <a:extLst>
              <a:ext uri="{FF2B5EF4-FFF2-40B4-BE49-F238E27FC236}">
                <a16:creationId xmlns:a16="http://schemas.microsoft.com/office/drawing/2014/main" id="{996B7EDE-E605-451E-8EFD-F0C4FA4CAFF2}"/>
              </a:ext>
            </a:extLst>
          </p:cNvPr>
          <p:cNvSpPr/>
          <p:nvPr/>
        </p:nvSpPr>
        <p:spPr>
          <a:xfrm>
            <a:off x="533400" y="1397000"/>
            <a:ext cx="4445000" cy="429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S15_Speech_Header">
            <a:extLst>
              <a:ext uri="{FF2B5EF4-FFF2-40B4-BE49-F238E27FC236}">
                <a16:creationId xmlns:a16="http://schemas.microsoft.com/office/drawing/2014/main" id="{7A09E7DD-94C8-48A4-8BDF-7737F5C62E49}"/>
              </a:ext>
            </a:extLst>
          </p:cNvPr>
          <p:cNvSpPr/>
          <p:nvPr/>
        </p:nvSpPr>
        <p:spPr>
          <a:xfrm>
            <a:off x="533400" y="1397000"/>
            <a:ext cx="44450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스피치 </a:t>
            </a:r>
            <a:r>
              <a:rPr lang="en-US" altLang="ko-KR" sz="130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</a:t>
            </a:r>
            <a:endParaRPr lang="ko-KR" altLang="en-US" sz="1300" b="1">
              <a:solidFill>
                <a:srgbClr val="FFFFFF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4" name="S15_Speech_Body">
            <a:extLst>
              <a:ext uri="{FF2B5EF4-FFF2-40B4-BE49-F238E27FC236}">
                <a16:creationId xmlns:a16="http://schemas.microsoft.com/office/drawing/2014/main" id="{DBB83A53-EAAA-4CFC-8DE6-5E95F1AF54D3}"/>
              </a:ext>
            </a:extLst>
          </p:cNvPr>
          <p:cNvSpPr txBox="1"/>
          <p:nvPr/>
        </p:nvSpPr>
        <p:spPr>
          <a:xfrm>
            <a:off x="685800" y="1854200"/>
            <a:ext cx="4140200" cy="372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[</a:t>
            </a:r>
            <a:r>
              <a:rPr lang="ko-KR" altLang="en-US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유형</a:t>
            </a:r>
            <a:r>
              <a:rPr lang="en-US" altLang="ko-KR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]
</a:t>
            </a:r>
            <a:r>
              <a:rPr lang="ko-KR" altLang="en-US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할인이 목적이라기보다 ‘국가 지원을 받고 싶다’는 명분을 중요하게 생각하는 재직자 유형
</a:t>
            </a:r>
            <a:r>
              <a:rPr lang="en-US" altLang="ko-KR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[</a:t>
            </a:r>
            <a:r>
              <a:rPr lang="ko-KR" altLang="en-US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응대 포인트</a:t>
            </a:r>
            <a:r>
              <a:rPr lang="en-US" altLang="ko-KR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]
• </a:t>
            </a:r>
            <a:r>
              <a:rPr lang="ko-KR" altLang="en-US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프로모션 할인보다 교육청 지원</a:t>
            </a:r>
            <a:r>
              <a:rPr lang="en-US" altLang="ko-KR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장학 지원</a:t>
            </a:r>
            <a:r>
              <a:rPr lang="en-US" altLang="ko-KR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기관 지원처럼 ‘지원 명분’을 활용하는 방식이 효과적일 수 있다</a:t>
            </a:r>
            <a:r>
              <a:rPr lang="en-US" altLang="ko-KR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제도는 다양하지만</a:t>
            </a:r>
            <a:r>
              <a:rPr lang="en-US" altLang="ko-KR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내일배움카드는 청년층 구직자 중심으로 지원되는 경우가 많다</a:t>
            </a:r>
            <a:r>
              <a:rPr lang="en-US" altLang="ko-KR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재직자에게는 참여가 어려운 과정과 낮 시간대 과정이 많으므로</a:t>
            </a:r>
            <a:r>
              <a:rPr lang="en-US" altLang="ko-KR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개인 맞춤 커리큘럼과 적용 가능한 지원 제도를 함께 확인해드리는 방향으로 안내한다</a:t>
            </a:r>
            <a:r>
              <a:rPr lang="en-US" altLang="ko-KR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[</a:t>
            </a:r>
            <a:r>
              <a:rPr lang="ko-KR" altLang="en-US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활용 팁</a:t>
            </a:r>
            <a:r>
              <a:rPr lang="en-US" altLang="ko-KR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]
• </a:t>
            </a:r>
            <a:r>
              <a:rPr lang="ko-KR" altLang="en-US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할인율을 단순 할인보다 ‘교육 장학 지원’ 같은 명분으로 제시하면 설득력이 높아진다</a:t>
            </a:r>
            <a:r>
              <a:rPr lang="en-US" altLang="ko-KR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신분증 등을 받아 조회해드리겠다는 액션도 좋다</a:t>
            </a:r>
            <a:r>
              <a:rPr lang="en-US" altLang="ko-KR" sz="96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endParaRPr lang="ko-KR" altLang="en-US" sz="96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5" name="S15_Variable_Base">
            <a:extLst>
              <a:ext uri="{FF2B5EF4-FFF2-40B4-BE49-F238E27FC236}">
                <a16:creationId xmlns:a16="http://schemas.microsoft.com/office/drawing/2014/main" id="{55F43EE0-15B2-4B98-9AAD-1553596668BB}"/>
              </a:ext>
            </a:extLst>
          </p:cNvPr>
          <p:cNvSpPr/>
          <p:nvPr/>
        </p:nvSpPr>
        <p:spPr>
          <a:xfrm>
            <a:off x="5143500" y="1397000"/>
            <a:ext cx="3175000" cy="429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S15_Variable_Header">
            <a:extLst>
              <a:ext uri="{FF2B5EF4-FFF2-40B4-BE49-F238E27FC236}">
                <a16:creationId xmlns:a16="http://schemas.microsoft.com/office/drawing/2014/main" id="{EEFF113E-CB54-4B58-935F-53C0017F0CC6}"/>
              </a:ext>
            </a:extLst>
          </p:cNvPr>
          <p:cNvSpPr/>
          <p:nvPr/>
        </p:nvSpPr>
        <p:spPr>
          <a:xfrm>
            <a:off x="5143500" y="1397000"/>
            <a:ext cx="3175000" cy="368300"/>
          </a:xfrm>
          <a:prstGeom prst="roundRect">
            <a:avLst>
              <a:gd name="adj" fmla="val 10000"/>
            </a:avLst>
          </a:prstGeom>
          <a:solidFill>
            <a:srgbClr val="087F82"/>
          </a:solidFill>
          <a:ln w="6350">
            <a:solidFill>
              <a:srgbClr val="087F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변수 응대</a:t>
            </a:r>
          </a:p>
        </p:txBody>
      </p:sp>
      <p:sp>
        <p:nvSpPr>
          <p:cNvPr id="27" name="S15_Variable_Body">
            <a:extLst>
              <a:ext uri="{FF2B5EF4-FFF2-40B4-BE49-F238E27FC236}">
                <a16:creationId xmlns:a16="http://schemas.microsoft.com/office/drawing/2014/main" id="{B99CCEB7-BBD7-4826-B956-50978E674C3D}"/>
              </a:ext>
            </a:extLst>
          </p:cNvPr>
          <p:cNvSpPr txBox="1"/>
          <p:nvPr/>
        </p:nvSpPr>
        <p:spPr>
          <a:xfrm>
            <a:off x="5295900" y="1854200"/>
            <a:ext cx="2870200" cy="372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전액 지원이 될 줄 알았다
재직자나 중장년층처럼 금전적 여유가 있는 분들에게까지 전액 지원을 해드리면 청년층 구직자들이 취업 기회를 얻기 어려워질 수 있습니다</a:t>
            </a:r>
            <a:r>
              <a:rPr lang="en-US" altLang="ko-KR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</a:t>
            </a:r>
            <a:r>
              <a:rPr lang="ko-KR" altLang="en-US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대신 본원 교육은 투자하신 금액 이상으로</a:t>
            </a:r>
            <a:r>
              <a:rPr lang="en-US" altLang="ko-KR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타 학원 대비 높은 퀄리티의 교육을 제공해 목표 달성을 돕겠습니다</a:t>
            </a:r>
            <a:r>
              <a:rPr lang="en-US" altLang="ko-KR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endParaRPr lang="ko-KR" altLang="en-US" sz="97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8" name="S15_Closing_Base">
            <a:extLst>
              <a:ext uri="{FF2B5EF4-FFF2-40B4-BE49-F238E27FC236}">
                <a16:creationId xmlns:a16="http://schemas.microsoft.com/office/drawing/2014/main" id="{2DABBEC8-1EBF-4684-A34E-BEF5C25FB699}"/>
              </a:ext>
            </a:extLst>
          </p:cNvPr>
          <p:cNvSpPr/>
          <p:nvPr/>
        </p:nvSpPr>
        <p:spPr>
          <a:xfrm>
            <a:off x="8483600" y="1397000"/>
            <a:ext cx="3162300" cy="429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S15_Closing_Header">
            <a:extLst>
              <a:ext uri="{FF2B5EF4-FFF2-40B4-BE49-F238E27FC236}">
                <a16:creationId xmlns:a16="http://schemas.microsoft.com/office/drawing/2014/main" id="{F742B836-1108-45D3-BE4D-E244FE018CEF}"/>
              </a:ext>
            </a:extLst>
          </p:cNvPr>
          <p:cNvSpPr/>
          <p:nvPr/>
        </p:nvSpPr>
        <p:spPr>
          <a:xfrm>
            <a:off x="8483600" y="1397000"/>
            <a:ext cx="3162300" cy="3683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2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마무리 포인트</a:t>
            </a:r>
          </a:p>
        </p:txBody>
      </p:sp>
      <p:sp>
        <p:nvSpPr>
          <p:cNvPr id="30" name="S15_Closing_Body">
            <a:extLst>
              <a:ext uri="{FF2B5EF4-FFF2-40B4-BE49-F238E27FC236}">
                <a16:creationId xmlns:a16="http://schemas.microsoft.com/office/drawing/2014/main" id="{D8316BAA-B514-4626-88A2-8E9E0F6D42A7}"/>
              </a:ext>
            </a:extLst>
          </p:cNvPr>
          <p:cNvSpPr txBox="1"/>
          <p:nvPr/>
        </p:nvSpPr>
        <p:spPr>
          <a:xfrm>
            <a:off x="8636000" y="1854200"/>
            <a:ext cx="2857500" cy="372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• </a:t>
            </a:r>
            <a:r>
              <a:rPr lang="ko-KR" altLang="en-US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대부분의 수강생 목적은 국비 자체가 아니라 자신의 목표 달성에 있다</a:t>
            </a:r>
            <a:r>
              <a:rPr lang="en-US" altLang="ko-KR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국비에만 초점을 맞추면 목표가 흐려지고</a:t>
            </a:r>
            <a:r>
              <a:rPr lang="en-US" altLang="ko-KR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돈 중심으로 과정을 찾게 될 수 있다</a:t>
            </a:r>
            <a:r>
              <a:rPr lang="en-US" altLang="ko-KR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본원 과정은 단순 체험이 아니라 업무 활용</a:t>
            </a:r>
            <a:r>
              <a:rPr lang="en-US" altLang="ko-KR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생계</a:t>
            </a:r>
            <a:r>
              <a:rPr lang="en-US" altLang="ko-KR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이직</a:t>
            </a:r>
            <a:r>
              <a:rPr lang="en-US" altLang="ko-KR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꿈과 연결되는 교육이다</a:t>
            </a:r>
            <a:r>
              <a:rPr lang="en-US" altLang="ko-KR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
• </a:t>
            </a:r>
            <a:r>
              <a:rPr lang="ko-KR" altLang="en-US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따라서 국비 가능 여부가 등록 여부를 결정하는 유일한 이유가 되어서는 안 된다</a:t>
            </a:r>
            <a:r>
              <a:rPr lang="en-US" altLang="ko-KR" sz="97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endParaRPr lang="ko-KR" altLang="en-US" sz="970" spc="-20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1" name="S15_Key">
            <a:extLst>
              <a:ext uri="{FF2B5EF4-FFF2-40B4-BE49-F238E27FC236}">
                <a16:creationId xmlns:a16="http://schemas.microsoft.com/office/drawing/2014/main" id="{EA8CC5D6-5DE9-49DD-8770-B9792FE154BB}"/>
              </a:ext>
            </a:extLst>
          </p:cNvPr>
          <p:cNvSpPr/>
          <p:nvPr/>
        </p:nvSpPr>
        <p:spPr>
          <a:xfrm>
            <a:off x="914400" y="5880100"/>
            <a:ext cx="10350500" cy="444500"/>
          </a:xfrm>
          <a:prstGeom prst="roundRect">
            <a:avLst>
              <a:gd name="adj" fmla="val 10000"/>
            </a:avLst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02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수강생의 목표에 집중해 상담하면</a:t>
            </a:r>
            <a:r>
              <a:rPr lang="en-US" altLang="ko-KR" sz="102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02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국비가 되지 않는 상황도 등록을 막는 이유가 아니라 더 적합한 대안을 찾는 계기가 될 수 있습니다</a:t>
            </a:r>
            <a:r>
              <a:rPr lang="en-US" altLang="ko-KR" sz="102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  <a:endParaRPr lang="ko-KR" altLang="en-US" sz="1020" b="1" spc="-2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7552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16_Chapter">
            <a:extLst>
              <a:ext uri="{FF2B5EF4-FFF2-40B4-BE49-F238E27FC236}">
                <a16:creationId xmlns:a16="http://schemas.microsoft.com/office/drawing/2014/main" id="{EFDDFFDA-1314-4494-A276-99A4F262013B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37" name="S16_Title">
            <a:extLst>
              <a:ext uri="{FF2B5EF4-FFF2-40B4-BE49-F238E27FC236}">
                <a16:creationId xmlns:a16="http://schemas.microsoft.com/office/drawing/2014/main" id="{E1FE50FC-2925-4E2E-9ECB-D45AB80E5BE5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내일배움카드 타파 방법</a:t>
            </a:r>
          </a:p>
        </p:txBody>
      </p:sp>
      <p:sp>
        <p:nvSpPr>
          <p:cNvPr id="38" name="S16_PageBadge">
            <a:extLst>
              <a:ext uri="{FF2B5EF4-FFF2-40B4-BE49-F238E27FC236}">
                <a16:creationId xmlns:a16="http://schemas.microsoft.com/office/drawing/2014/main" id="{28C173AC-E6F2-4191-A83B-9B17E79DA952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16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39" name="S16_HeaderRule">
            <a:extLst>
              <a:ext uri="{FF2B5EF4-FFF2-40B4-BE49-F238E27FC236}">
                <a16:creationId xmlns:a16="http://schemas.microsoft.com/office/drawing/2014/main" id="{CD979DB6-189D-4300-82BC-A3A902256469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16_PrincipleBand">
            <a:extLst>
              <a:ext uri="{FF2B5EF4-FFF2-40B4-BE49-F238E27FC236}">
                <a16:creationId xmlns:a16="http://schemas.microsoft.com/office/drawing/2014/main" id="{6D3042C8-D9F0-4C26-B780-7763614023B4}"/>
              </a:ext>
            </a:extLst>
          </p:cNvPr>
          <p:cNvSpPr/>
          <p:nvPr/>
        </p:nvSpPr>
        <p:spPr>
          <a:xfrm>
            <a:off x="533400" y="1193800"/>
            <a:ext cx="5461000" cy="355600"/>
          </a:xfrm>
          <a:prstGeom prst="roundRect">
            <a:avLst>
              <a:gd name="adj" fmla="val 10000"/>
            </a:avLst>
          </a:prstGeom>
          <a:solidFill>
            <a:srgbClr val="064682"/>
          </a:solidFill>
          <a:ln w="6350">
            <a:solidFill>
              <a:srgbClr val="0646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5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내일배움카드 타파 원칙</a:t>
            </a:r>
          </a:p>
        </p:txBody>
      </p:sp>
      <p:sp>
        <p:nvSpPr>
          <p:cNvPr id="41" name="S16_Principle_Row1">
            <a:extLst>
              <a:ext uri="{FF2B5EF4-FFF2-40B4-BE49-F238E27FC236}">
                <a16:creationId xmlns:a16="http://schemas.microsoft.com/office/drawing/2014/main" id="{F7B5F6D4-626E-468E-9EEB-E28B74BD33F3}"/>
              </a:ext>
            </a:extLst>
          </p:cNvPr>
          <p:cNvSpPr/>
          <p:nvPr/>
        </p:nvSpPr>
        <p:spPr>
          <a:xfrm>
            <a:off x="533400" y="1676400"/>
            <a:ext cx="546100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S16_Principle_Badge1">
            <a:extLst>
              <a:ext uri="{FF2B5EF4-FFF2-40B4-BE49-F238E27FC236}">
                <a16:creationId xmlns:a16="http://schemas.microsoft.com/office/drawing/2014/main" id="{BA52EFE7-2380-485E-A91A-24D131262B17}"/>
              </a:ext>
            </a:extLst>
          </p:cNvPr>
          <p:cNvSpPr/>
          <p:nvPr/>
        </p:nvSpPr>
        <p:spPr>
          <a:xfrm>
            <a:off x="660400" y="18034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01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3" name="S16_Principle_Title1">
            <a:extLst>
              <a:ext uri="{FF2B5EF4-FFF2-40B4-BE49-F238E27FC236}">
                <a16:creationId xmlns:a16="http://schemas.microsoft.com/office/drawing/2014/main" id="{A6AB1364-EA87-40DC-88F4-F091694E6776}"/>
              </a:ext>
            </a:extLst>
          </p:cNvPr>
          <p:cNvSpPr txBox="1"/>
          <p:nvPr/>
        </p:nvSpPr>
        <p:spPr>
          <a:xfrm>
            <a:off x="1168400" y="1752600"/>
            <a:ext cx="4699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원칙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4" name="S16_Principle_Body1">
            <a:extLst>
              <a:ext uri="{FF2B5EF4-FFF2-40B4-BE49-F238E27FC236}">
                <a16:creationId xmlns:a16="http://schemas.microsoft.com/office/drawing/2014/main" id="{965797FD-9482-4938-935D-C5F50DC5438E}"/>
              </a:ext>
            </a:extLst>
          </p:cNvPr>
          <p:cNvSpPr txBox="1"/>
          <p:nvPr/>
        </p:nvSpPr>
        <p:spPr>
          <a:xfrm>
            <a:off x="1168400" y="2032000"/>
            <a:ext cx="46990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무조건 국비를 나쁘게 보는것보다는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좋은 제도이나 본인에게는 맞지않은 지원임을 강조
무의식적으로 단점을 좀더 문의자의 상황에 맞춰서 어필</a:t>
            </a:r>
          </a:p>
        </p:txBody>
      </p:sp>
      <p:sp>
        <p:nvSpPr>
          <p:cNvPr id="45" name="S16_Principle_Row2">
            <a:extLst>
              <a:ext uri="{FF2B5EF4-FFF2-40B4-BE49-F238E27FC236}">
                <a16:creationId xmlns:a16="http://schemas.microsoft.com/office/drawing/2014/main" id="{99090FB9-2670-4F0E-95DD-A9AFDDA7CA54}"/>
              </a:ext>
            </a:extLst>
          </p:cNvPr>
          <p:cNvSpPr/>
          <p:nvPr/>
        </p:nvSpPr>
        <p:spPr>
          <a:xfrm>
            <a:off x="533400" y="3098800"/>
            <a:ext cx="546100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S16_Principle_Badge2">
            <a:extLst>
              <a:ext uri="{FF2B5EF4-FFF2-40B4-BE49-F238E27FC236}">
                <a16:creationId xmlns:a16="http://schemas.microsoft.com/office/drawing/2014/main" id="{35E83262-2002-4153-9870-ED7344A08CB7}"/>
              </a:ext>
            </a:extLst>
          </p:cNvPr>
          <p:cNvSpPr/>
          <p:nvPr/>
        </p:nvSpPr>
        <p:spPr>
          <a:xfrm>
            <a:off x="660400" y="32258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02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7" name="S16_Principle_Title2">
            <a:extLst>
              <a:ext uri="{FF2B5EF4-FFF2-40B4-BE49-F238E27FC236}">
                <a16:creationId xmlns:a16="http://schemas.microsoft.com/office/drawing/2014/main" id="{EC1EC44E-8F17-41E5-BC02-2E7F2119A893}"/>
              </a:ext>
            </a:extLst>
          </p:cNvPr>
          <p:cNvSpPr txBox="1"/>
          <p:nvPr/>
        </p:nvSpPr>
        <p:spPr>
          <a:xfrm>
            <a:off x="1168400" y="3175000"/>
            <a:ext cx="4699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원칙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8" name="S16_Principle_Body2">
            <a:extLst>
              <a:ext uri="{FF2B5EF4-FFF2-40B4-BE49-F238E27FC236}">
                <a16:creationId xmlns:a16="http://schemas.microsoft.com/office/drawing/2014/main" id="{C2DEDB5A-D1F5-47DE-A5B5-45FE405550FD}"/>
              </a:ext>
            </a:extLst>
          </p:cNvPr>
          <p:cNvSpPr txBox="1"/>
          <p:nvPr/>
        </p:nvSpPr>
        <p:spPr>
          <a:xfrm>
            <a:off x="1168400" y="3454399"/>
            <a:ext cx="46990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본인의 장점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멘토의 필요성만 상담시 충분히 어필했다면 내배카는 쉽게 타파</a:t>
            </a:r>
          </a:p>
        </p:txBody>
      </p:sp>
      <p:sp>
        <p:nvSpPr>
          <p:cNvPr id="49" name="S16_Principle_Row3">
            <a:extLst>
              <a:ext uri="{FF2B5EF4-FFF2-40B4-BE49-F238E27FC236}">
                <a16:creationId xmlns:a16="http://schemas.microsoft.com/office/drawing/2014/main" id="{9BF4E742-CF83-4708-BF50-0E191404632F}"/>
              </a:ext>
            </a:extLst>
          </p:cNvPr>
          <p:cNvSpPr/>
          <p:nvPr/>
        </p:nvSpPr>
        <p:spPr>
          <a:xfrm>
            <a:off x="533400" y="4521200"/>
            <a:ext cx="546100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S16_Principle_Badge3">
            <a:extLst>
              <a:ext uri="{FF2B5EF4-FFF2-40B4-BE49-F238E27FC236}">
                <a16:creationId xmlns:a16="http://schemas.microsoft.com/office/drawing/2014/main" id="{D0862DDD-E267-4253-A605-27AFA3E7B28B}"/>
              </a:ext>
            </a:extLst>
          </p:cNvPr>
          <p:cNvSpPr/>
          <p:nvPr/>
        </p:nvSpPr>
        <p:spPr>
          <a:xfrm>
            <a:off x="660400" y="46482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03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1" name="S16_Principle_Title3">
            <a:extLst>
              <a:ext uri="{FF2B5EF4-FFF2-40B4-BE49-F238E27FC236}">
                <a16:creationId xmlns:a16="http://schemas.microsoft.com/office/drawing/2014/main" id="{A1B0EFD3-356F-4477-B701-39F180FE57F7}"/>
              </a:ext>
            </a:extLst>
          </p:cNvPr>
          <p:cNvSpPr txBox="1"/>
          <p:nvPr/>
        </p:nvSpPr>
        <p:spPr>
          <a:xfrm>
            <a:off x="1168400" y="4597400"/>
            <a:ext cx="4699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원칙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2" name="S16_Principle_Body3">
            <a:extLst>
              <a:ext uri="{FF2B5EF4-FFF2-40B4-BE49-F238E27FC236}">
                <a16:creationId xmlns:a16="http://schemas.microsoft.com/office/drawing/2014/main" id="{E828C8E5-525B-4D94-903C-B7B0B85BA62F}"/>
              </a:ext>
            </a:extLst>
          </p:cNvPr>
          <p:cNvSpPr txBox="1"/>
          <p:nvPr/>
        </p:nvSpPr>
        <p:spPr>
          <a:xfrm>
            <a:off x="1168400" y="4876800"/>
            <a:ext cx="46990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내배카 사용이 안되는 수업은 당당히 말할것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!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이유명확하게 안내
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특수학경우 취업직군일 경우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채용공고가 많지 않은 취업군일경우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endParaRPr lang="ko-KR" altLang="en-US" sz="900" spc="-15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3" name="S16_ScriptBand">
            <a:extLst>
              <a:ext uri="{FF2B5EF4-FFF2-40B4-BE49-F238E27FC236}">
                <a16:creationId xmlns:a16="http://schemas.microsoft.com/office/drawing/2014/main" id="{2D132227-D820-43A8-A21A-1CDBA594C7C6}"/>
              </a:ext>
            </a:extLst>
          </p:cNvPr>
          <p:cNvSpPr/>
          <p:nvPr/>
        </p:nvSpPr>
        <p:spPr>
          <a:xfrm>
            <a:off x="6248400" y="1193800"/>
            <a:ext cx="5397500" cy="355600"/>
          </a:xfrm>
          <a:prstGeom prst="roundRect">
            <a:avLst>
              <a:gd name="adj" fmla="val 10000"/>
            </a:avLst>
          </a:prstGeom>
          <a:solidFill>
            <a:srgbClr val="0A4F99"/>
          </a:solidFill>
          <a:ln w="6350">
            <a:solidFill>
              <a:srgbClr val="0A4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>
            <a:noAutofit/>
          </a:bodyPr>
          <a:lstStyle/>
          <a:p>
            <a:pPr algn="ctr"/>
            <a:r>
              <a:rPr lang="ko-KR" altLang="en-US" sz="112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기본 컨택 스피치 </a:t>
            </a:r>
            <a:r>
              <a:rPr lang="en-US" altLang="ko-KR" sz="112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· </a:t>
            </a:r>
            <a:r>
              <a:rPr lang="ko-KR" altLang="en-US" sz="1120" b="1">
                <a:solidFill>
                  <a:srgbClr val="FFFFFF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편집 가능한 원문</a:t>
            </a:r>
          </a:p>
        </p:txBody>
      </p:sp>
      <p:sp>
        <p:nvSpPr>
          <p:cNvPr id="54" name="S16_Script_Row1">
            <a:extLst>
              <a:ext uri="{FF2B5EF4-FFF2-40B4-BE49-F238E27FC236}">
                <a16:creationId xmlns:a16="http://schemas.microsoft.com/office/drawing/2014/main" id="{362595FA-F171-43C0-956E-A958F6D31453}"/>
              </a:ext>
            </a:extLst>
          </p:cNvPr>
          <p:cNvSpPr/>
          <p:nvPr/>
        </p:nvSpPr>
        <p:spPr>
          <a:xfrm>
            <a:off x="6248400" y="1676400"/>
            <a:ext cx="5397500" cy="97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S16_Script_Badge1">
            <a:extLst>
              <a:ext uri="{FF2B5EF4-FFF2-40B4-BE49-F238E27FC236}">
                <a16:creationId xmlns:a16="http://schemas.microsoft.com/office/drawing/2014/main" id="{C8F294E8-7AF9-4457-98D3-E940B0CB24A8}"/>
              </a:ext>
            </a:extLst>
          </p:cNvPr>
          <p:cNvSpPr/>
          <p:nvPr/>
        </p:nvSpPr>
        <p:spPr>
          <a:xfrm>
            <a:off x="6375400" y="18034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01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6" name="S16_Script_Title1">
            <a:extLst>
              <a:ext uri="{FF2B5EF4-FFF2-40B4-BE49-F238E27FC236}">
                <a16:creationId xmlns:a16="http://schemas.microsoft.com/office/drawing/2014/main" id="{83FED48D-B5C4-4BB9-9C59-09FE07B0C523}"/>
              </a:ext>
            </a:extLst>
          </p:cNvPr>
          <p:cNvSpPr txBox="1"/>
          <p:nvPr/>
        </p:nvSpPr>
        <p:spPr>
          <a:xfrm>
            <a:off x="6883400" y="1752600"/>
            <a:ext cx="46355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내일배움카드 교육 찾는 경우</a:t>
            </a:r>
          </a:p>
        </p:txBody>
      </p:sp>
      <p:sp>
        <p:nvSpPr>
          <p:cNvPr id="57" name="S16_Script_Body1">
            <a:extLst>
              <a:ext uri="{FF2B5EF4-FFF2-40B4-BE49-F238E27FC236}">
                <a16:creationId xmlns:a16="http://schemas.microsoft.com/office/drawing/2014/main" id="{9B9FFA40-AB14-4B97-ACB6-E92B653AE544}"/>
              </a:ext>
            </a:extLst>
          </p:cNvPr>
          <p:cNvSpPr txBox="1"/>
          <p:nvPr/>
        </p:nvSpPr>
        <p:spPr>
          <a:xfrm>
            <a:off x="6883400" y="2032000"/>
            <a:ext cx="46355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수요의 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80%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이상은 내일배움카드에 해당
국비 지원 제도가 다양해져 방문 시에 개인에게 맞는 국비 과정을 안내해주겠다 이야기 후에 상담 시 국민취업지원제도와 내일배움카드 장단점 비교 후 선택</a:t>
            </a:r>
          </a:p>
        </p:txBody>
      </p:sp>
      <p:sp>
        <p:nvSpPr>
          <p:cNvPr id="58" name="S16_Script_Row2">
            <a:extLst>
              <a:ext uri="{FF2B5EF4-FFF2-40B4-BE49-F238E27FC236}">
                <a16:creationId xmlns:a16="http://schemas.microsoft.com/office/drawing/2014/main" id="{44DBB80A-FF3F-467C-A218-49876012880B}"/>
              </a:ext>
            </a:extLst>
          </p:cNvPr>
          <p:cNvSpPr/>
          <p:nvPr/>
        </p:nvSpPr>
        <p:spPr>
          <a:xfrm>
            <a:off x="6248400" y="2743200"/>
            <a:ext cx="5397500" cy="97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S16_Script_Badge2">
            <a:extLst>
              <a:ext uri="{FF2B5EF4-FFF2-40B4-BE49-F238E27FC236}">
                <a16:creationId xmlns:a16="http://schemas.microsoft.com/office/drawing/2014/main" id="{78351CF8-B036-47DB-A873-1A50F67727FF}"/>
              </a:ext>
            </a:extLst>
          </p:cNvPr>
          <p:cNvSpPr/>
          <p:nvPr/>
        </p:nvSpPr>
        <p:spPr>
          <a:xfrm>
            <a:off x="6375400" y="28702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02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0" name="S16_Script_Title2">
            <a:extLst>
              <a:ext uri="{FF2B5EF4-FFF2-40B4-BE49-F238E27FC236}">
                <a16:creationId xmlns:a16="http://schemas.microsoft.com/office/drawing/2014/main" id="{CBC91D3A-8C3F-4A41-92DD-D7840465FFDC}"/>
              </a:ext>
            </a:extLst>
          </p:cNvPr>
          <p:cNvSpPr txBox="1"/>
          <p:nvPr/>
        </p:nvSpPr>
        <p:spPr>
          <a:xfrm>
            <a:off x="6883400" y="2819400"/>
            <a:ext cx="46355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언급은 없으나 국민취업지원제도 참여 조건이 가능한 경우</a:t>
            </a:r>
          </a:p>
        </p:txBody>
      </p:sp>
      <p:sp>
        <p:nvSpPr>
          <p:cNvPr id="61" name="S16_Script_Body2">
            <a:extLst>
              <a:ext uri="{FF2B5EF4-FFF2-40B4-BE49-F238E27FC236}">
                <a16:creationId xmlns:a16="http://schemas.microsoft.com/office/drawing/2014/main" id="{71B6C976-0378-408A-8B38-A6565C0A8557}"/>
              </a:ext>
            </a:extLst>
          </p:cNvPr>
          <p:cNvSpPr txBox="1"/>
          <p:nvPr/>
        </p:nvSpPr>
        <p:spPr>
          <a:xfrm>
            <a:off x="6883400" y="3098800"/>
            <a:ext cx="46355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 적용 가능한 부분을 먼저 언급 함으로써 타학원 국비 수업과 더블 방지 및 방문에 대한 명분을 제시</a:t>
            </a:r>
          </a:p>
        </p:txBody>
      </p:sp>
      <p:sp>
        <p:nvSpPr>
          <p:cNvPr id="62" name="S16_Script_Row3">
            <a:extLst>
              <a:ext uri="{FF2B5EF4-FFF2-40B4-BE49-F238E27FC236}">
                <a16:creationId xmlns:a16="http://schemas.microsoft.com/office/drawing/2014/main" id="{A6E01322-E35E-46AB-80CA-EF6E6408CFA2}"/>
              </a:ext>
            </a:extLst>
          </p:cNvPr>
          <p:cNvSpPr/>
          <p:nvPr/>
        </p:nvSpPr>
        <p:spPr>
          <a:xfrm>
            <a:off x="6248400" y="3810000"/>
            <a:ext cx="5397500" cy="97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S16_Script_Badge3">
            <a:extLst>
              <a:ext uri="{FF2B5EF4-FFF2-40B4-BE49-F238E27FC236}">
                <a16:creationId xmlns:a16="http://schemas.microsoft.com/office/drawing/2014/main" id="{61B30DF9-2B72-42F0-9A36-ECBE7D371D1E}"/>
              </a:ext>
            </a:extLst>
          </p:cNvPr>
          <p:cNvSpPr/>
          <p:nvPr/>
        </p:nvSpPr>
        <p:spPr>
          <a:xfrm>
            <a:off x="6375400" y="39370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03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4" name="S16_Script_Title3">
            <a:extLst>
              <a:ext uri="{FF2B5EF4-FFF2-40B4-BE49-F238E27FC236}">
                <a16:creationId xmlns:a16="http://schemas.microsoft.com/office/drawing/2014/main" id="{0BDEB7F5-B4F6-4CF3-901A-0B2D525A0B5C}"/>
              </a:ext>
            </a:extLst>
          </p:cNvPr>
          <p:cNvSpPr txBox="1"/>
          <p:nvPr/>
        </p:nvSpPr>
        <p:spPr>
          <a:xfrm>
            <a:off x="6883400" y="3886200"/>
            <a:ext cx="46355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국민취업지원제도로 방문 유도를 하고 싶을 경우</a:t>
            </a:r>
          </a:p>
        </p:txBody>
      </p:sp>
      <p:sp>
        <p:nvSpPr>
          <p:cNvPr id="65" name="S16_Script_Body3">
            <a:extLst>
              <a:ext uri="{FF2B5EF4-FFF2-40B4-BE49-F238E27FC236}">
                <a16:creationId xmlns:a16="http://schemas.microsoft.com/office/drawing/2014/main" id="{C13B7620-D36B-4A55-AA4B-D7D72686D2EA}"/>
              </a:ext>
            </a:extLst>
          </p:cNvPr>
          <p:cNvSpPr txBox="1"/>
          <p:nvPr/>
        </p:nvSpPr>
        <p:spPr>
          <a:xfrm>
            <a:off x="6883400" y="4165600"/>
            <a:ext cx="46355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학원 방문 시 모의 산정을 통해 얼마나 지원 받을 수 있는지 확인해주겠다고 안내</a:t>
            </a:r>
          </a:p>
        </p:txBody>
      </p:sp>
      <p:sp>
        <p:nvSpPr>
          <p:cNvPr id="66" name="S16_Script_Row4">
            <a:extLst>
              <a:ext uri="{FF2B5EF4-FFF2-40B4-BE49-F238E27FC236}">
                <a16:creationId xmlns:a16="http://schemas.microsoft.com/office/drawing/2014/main" id="{526D4428-A55A-4208-926B-CE70AAE6DD60}"/>
              </a:ext>
            </a:extLst>
          </p:cNvPr>
          <p:cNvSpPr/>
          <p:nvPr/>
        </p:nvSpPr>
        <p:spPr>
          <a:xfrm>
            <a:off x="6248400" y="4876800"/>
            <a:ext cx="5397500" cy="9779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S16_Script_Badge4">
            <a:extLst>
              <a:ext uri="{FF2B5EF4-FFF2-40B4-BE49-F238E27FC236}">
                <a16:creationId xmlns:a16="http://schemas.microsoft.com/office/drawing/2014/main" id="{3D4AB4B8-D7F2-469D-B4BE-133F89600E04}"/>
              </a:ext>
            </a:extLst>
          </p:cNvPr>
          <p:cNvSpPr/>
          <p:nvPr/>
        </p:nvSpPr>
        <p:spPr>
          <a:xfrm>
            <a:off x="6375400" y="50038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04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68" name="S16_Script_Title4">
            <a:extLst>
              <a:ext uri="{FF2B5EF4-FFF2-40B4-BE49-F238E27FC236}">
                <a16:creationId xmlns:a16="http://schemas.microsoft.com/office/drawing/2014/main" id="{125D80C4-CCF3-424C-ACD7-4858DC1E4C7D}"/>
              </a:ext>
            </a:extLst>
          </p:cNvPr>
          <p:cNvSpPr txBox="1"/>
          <p:nvPr/>
        </p:nvSpPr>
        <p:spPr>
          <a:xfrm>
            <a:off x="6883400" y="4953000"/>
            <a:ext cx="46355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날짜를 당기고 싶을 경우</a:t>
            </a:r>
          </a:p>
        </p:txBody>
      </p:sp>
      <p:sp>
        <p:nvSpPr>
          <p:cNvPr id="69" name="S16_Script_Body4">
            <a:extLst>
              <a:ext uri="{FF2B5EF4-FFF2-40B4-BE49-F238E27FC236}">
                <a16:creationId xmlns:a16="http://schemas.microsoft.com/office/drawing/2014/main" id="{C71923D9-0101-44E8-95A0-DA7C315424C6}"/>
              </a:ext>
            </a:extLst>
          </p:cNvPr>
          <p:cNvSpPr txBox="1"/>
          <p:nvPr/>
        </p:nvSpPr>
        <p:spPr>
          <a:xfrm>
            <a:off x="6883400" y="5232400"/>
            <a:ext cx="46355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국민취업지원제도에는 예산이 정해져 있음
해당 예산이 특정 기간까지 소진 예정에 있다는 스피치 활용</a:t>
            </a:r>
          </a:p>
        </p:txBody>
      </p:sp>
    </p:spTree>
    <p:extLst>
      <p:ext uri="{BB962C8B-B14F-4D97-AF65-F5344CB8AC3E}">
        <p14:creationId xmlns:p14="http://schemas.microsoft.com/office/powerpoint/2010/main" val="3637419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17_Chapter">
            <a:extLst>
              <a:ext uri="{FF2B5EF4-FFF2-40B4-BE49-F238E27FC236}">
                <a16:creationId xmlns:a16="http://schemas.microsoft.com/office/drawing/2014/main" id="{03562B15-E04D-4F29-BD13-83BA1128388A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11" name="S17_Title">
            <a:extLst>
              <a:ext uri="{FF2B5EF4-FFF2-40B4-BE49-F238E27FC236}">
                <a16:creationId xmlns:a16="http://schemas.microsoft.com/office/drawing/2014/main" id="{D5970382-C0CA-4F56-A0BB-814DE504960D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시 선택 가이드</a:t>
            </a:r>
          </a:p>
        </p:txBody>
      </p:sp>
      <p:sp>
        <p:nvSpPr>
          <p:cNvPr id="12" name="S17_PageBadge">
            <a:extLst>
              <a:ext uri="{FF2B5EF4-FFF2-40B4-BE49-F238E27FC236}">
                <a16:creationId xmlns:a16="http://schemas.microsoft.com/office/drawing/2014/main" id="{BC223E7A-9C12-4C61-AF9E-DD5DF8CDF43A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17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3" name="S17_HeaderRule">
            <a:extLst>
              <a:ext uri="{FF2B5EF4-FFF2-40B4-BE49-F238E27FC236}">
                <a16:creationId xmlns:a16="http://schemas.microsoft.com/office/drawing/2014/main" id="{09B9B44E-E489-4169-88C9-D5D21A8D5B47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17_Section1">
            <a:extLst>
              <a:ext uri="{FF2B5EF4-FFF2-40B4-BE49-F238E27FC236}">
                <a16:creationId xmlns:a16="http://schemas.microsoft.com/office/drawing/2014/main" id="{CFDAADAD-D892-40FB-8ADF-F97F02A1FDCB}"/>
              </a:ext>
            </a:extLst>
          </p:cNvPr>
          <p:cNvSpPr/>
          <p:nvPr/>
        </p:nvSpPr>
        <p:spPr>
          <a:xfrm>
            <a:off x="533400" y="1193800"/>
            <a:ext cx="11112500" cy="4064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r>
              <a:rPr lang="ko-KR" altLang="en-US" sz="125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✓ 내일배움카드 교육과 고민할 경우</a:t>
            </a:r>
          </a:p>
        </p:txBody>
      </p:sp>
      <p:graphicFrame>
        <p:nvGraphicFramePr>
          <p:cNvPr id="15" name="S17_GuideTable">
            <a:extLst>
              <a:ext uri="{FF2B5EF4-FFF2-40B4-BE49-F238E27FC236}">
                <a16:creationId xmlns:a16="http://schemas.microsoft.com/office/drawing/2014/main" id="{3C299F93-C3F8-46E0-A4FC-0359BA470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644438"/>
              </p:ext>
            </p:extLst>
          </p:nvPr>
        </p:nvGraphicFramePr>
        <p:xfrm>
          <a:off x="1041400" y="1752600"/>
          <a:ext cx="10096500" cy="260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4125">
                  <a:extLst>
                    <a:ext uri="{9D8B030D-6E8A-4147-A177-3AD203B41FA5}">
                      <a16:colId xmlns:a16="http://schemas.microsoft.com/office/drawing/2014/main" val="3211510853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445292247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571201367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3956461245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희망 과목 내배카 수업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내배카 수업 시간</a:t>
                      </a:r>
                      <a:r>
                        <a:rPr lang="en-US" altLang="ko-KR" sz="98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,</a:t>
                      </a:r>
                      <a:r>
                        <a:rPr lang="ko-KR" altLang="en-US" sz="98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기간 참여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수강료 부담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추천 제도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354037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가능</a:t>
                      </a: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가능</a:t>
                      </a: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없음</a:t>
                      </a: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멘토 판단</a:t>
                      </a: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847725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가능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가능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조금 있음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내배카 </a:t>
                      </a:r>
                      <a:r>
                        <a:rPr lang="en-US" altLang="ko-KR" sz="98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+ </a:t>
                      </a:r>
                      <a:r>
                        <a:rPr lang="ko-KR" altLang="en-US" sz="98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국취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347158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가능</a:t>
                      </a: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가능</a:t>
                      </a: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많이 있음</a:t>
                      </a: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내배카</a:t>
                      </a: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562926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둘 중 하나 불가일 경우</a:t>
                      </a: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8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8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-</a:t>
                      </a:r>
                      <a:endParaRPr lang="ko-KR" altLang="en-US" sz="98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8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국취</a:t>
                      </a: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810163"/>
                  </a:ext>
                </a:extLst>
              </a:tr>
            </a:tbl>
          </a:graphicData>
        </a:graphic>
      </p:graphicFrame>
      <p:sp>
        <p:nvSpPr>
          <p:cNvPr id="16" name="S17_Section2">
            <a:extLst>
              <a:ext uri="{FF2B5EF4-FFF2-40B4-BE49-F238E27FC236}">
                <a16:creationId xmlns:a16="http://schemas.microsoft.com/office/drawing/2014/main" id="{73C5C2BF-731B-4048-AD0D-F459844B53B2}"/>
              </a:ext>
            </a:extLst>
          </p:cNvPr>
          <p:cNvSpPr/>
          <p:nvPr/>
        </p:nvSpPr>
        <p:spPr>
          <a:xfrm>
            <a:off x="533400" y="4584700"/>
            <a:ext cx="11112500" cy="4064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r>
              <a:rPr lang="ko-KR" altLang="en-US" sz="125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✓ 당장 공부를 할지 말지 고민할 경우</a:t>
            </a:r>
          </a:p>
        </p:txBody>
      </p:sp>
      <p:sp>
        <p:nvSpPr>
          <p:cNvPr id="17" name="S17_Note">
            <a:extLst>
              <a:ext uri="{FF2B5EF4-FFF2-40B4-BE49-F238E27FC236}">
                <a16:creationId xmlns:a16="http://schemas.microsoft.com/office/drawing/2014/main" id="{17A56A0D-8BE3-418C-8E57-71FD961E2C43}"/>
              </a:ext>
            </a:extLst>
          </p:cNvPr>
          <p:cNvSpPr/>
          <p:nvPr/>
        </p:nvSpPr>
        <p:spPr>
          <a:xfrm>
            <a:off x="1041400" y="5143500"/>
            <a:ext cx="10096500" cy="863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r>
              <a:rPr lang="ko-KR" altLang="en-US" sz="112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컨택에서 안내 했던 지원금을 받을 수 있는 기간 재차 안내 및
국취 신청 시 </a:t>
            </a:r>
            <a:r>
              <a:rPr lang="en-US" altLang="ko-KR" sz="112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 ~ 4</a:t>
            </a:r>
            <a:r>
              <a:rPr lang="ko-KR" altLang="en-US" sz="1120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주 소요되기 때문에 미리 접수 해야 되는 점 언급</a:t>
            </a:r>
          </a:p>
        </p:txBody>
      </p:sp>
    </p:spTree>
    <p:extLst>
      <p:ext uri="{BB962C8B-B14F-4D97-AF65-F5344CB8AC3E}">
        <p14:creationId xmlns:p14="http://schemas.microsoft.com/office/powerpoint/2010/main" val="3161659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18_Chapter">
            <a:extLst>
              <a:ext uri="{FF2B5EF4-FFF2-40B4-BE49-F238E27FC236}">
                <a16:creationId xmlns:a16="http://schemas.microsoft.com/office/drawing/2014/main" id="{4C50CB89-AC99-4155-9FDF-D734D0E84518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8" name="S18_Title">
            <a:extLst>
              <a:ext uri="{FF2B5EF4-FFF2-40B4-BE49-F238E27FC236}">
                <a16:creationId xmlns:a16="http://schemas.microsoft.com/office/drawing/2014/main" id="{2C44174E-F89F-4EEC-8299-8C46567DD2F9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국민취업지원제도 상담</a:t>
            </a:r>
          </a:p>
        </p:txBody>
      </p:sp>
      <p:sp>
        <p:nvSpPr>
          <p:cNvPr id="28" name="S18_PageBadge">
            <a:extLst>
              <a:ext uri="{FF2B5EF4-FFF2-40B4-BE49-F238E27FC236}">
                <a16:creationId xmlns:a16="http://schemas.microsoft.com/office/drawing/2014/main" id="{DAA12D8E-EA3D-40C3-AD65-193919C63281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18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29" name="S18_HeaderRule">
            <a:extLst>
              <a:ext uri="{FF2B5EF4-FFF2-40B4-BE49-F238E27FC236}">
                <a16:creationId xmlns:a16="http://schemas.microsoft.com/office/drawing/2014/main" id="{BF730CC1-8063-485E-B6CD-77458B0F13D1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18_Source_Frame">
            <a:extLst>
              <a:ext uri="{FF2B5EF4-FFF2-40B4-BE49-F238E27FC236}">
                <a16:creationId xmlns:a16="http://schemas.microsoft.com/office/drawing/2014/main" id="{FF8F81B5-F559-401E-941E-2C6ED2C8C0A0}"/>
              </a:ext>
            </a:extLst>
          </p:cNvPr>
          <p:cNvSpPr/>
          <p:nvPr/>
        </p:nvSpPr>
        <p:spPr>
          <a:xfrm>
            <a:off x="533400" y="1219200"/>
            <a:ext cx="7112000" cy="46355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S18_Source">
            <a:extLst>
              <a:ext uri="{FF2B5EF4-FFF2-40B4-BE49-F238E27FC236}">
                <a16:creationId xmlns:a16="http://schemas.microsoft.com/office/drawing/2014/main" id="{04C6C0AF-CC39-4FE2-B66D-59F4D233D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215" y="1934475"/>
            <a:ext cx="5684371" cy="3204950"/>
          </a:xfrm>
          <a:prstGeom prst="rect">
            <a:avLst/>
          </a:prstGeom>
        </p:spPr>
      </p:pic>
      <p:sp>
        <p:nvSpPr>
          <p:cNvPr id="33" name="S18_SummaryBase">
            <a:extLst>
              <a:ext uri="{FF2B5EF4-FFF2-40B4-BE49-F238E27FC236}">
                <a16:creationId xmlns:a16="http://schemas.microsoft.com/office/drawing/2014/main" id="{231E9099-87AB-496B-966F-7B0597A931AE}"/>
              </a:ext>
            </a:extLst>
          </p:cNvPr>
          <p:cNvSpPr/>
          <p:nvPr/>
        </p:nvSpPr>
        <p:spPr>
          <a:xfrm>
            <a:off x="7874000" y="1219200"/>
            <a:ext cx="3771900" cy="4635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S18_Summary_Row1">
            <a:extLst>
              <a:ext uri="{FF2B5EF4-FFF2-40B4-BE49-F238E27FC236}">
                <a16:creationId xmlns:a16="http://schemas.microsoft.com/office/drawing/2014/main" id="{211855F9-A82B-472C-B373-DC806B18A344}"/>
              </a:ext>
            </a:extLst>
          </p:cNvPr>
          <p:cNvSpPr/>
          <p:nvPr/>
        </p:nvSpPr>
        <p:spPr>
          <a:xfrm>
            <a:off x="8001000" y="1346200"/>
            <a:ext cx="3517900" cy="7905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S18_Summary_Badge1">
            <a:extLst>
              <a:ext uri="{FF2B5EF4-FFF2-40B4-BE49-F238E27FC236}">
                <a16:creationId xmlns:a16="http://schemas.microsoft.com/office/drawing/2014/main" id="{D7646C95-9A32-4A25-A50A-C080FDDDDA4A}"/>
              </a:ext>
            </a:extLst>
          </p:cNvPr>
          <p:cNvSpPr/>
          <p:nvPr/>
        </p:nvSpPr>
        <p:spPr>
          <a:xfrm>
            <a:off x="8128000" y="14732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01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6" name="S18_Summary_Title1">
            <a:extLst>
              <a:ext uri="{FF2B5EF4-FFF2-40B4-BE49-F238E27FC236}">
                <a16:creationId xmlns:a16="http://schemas.microsoft.com/office/drawing/2014/main" id="{2DD66F64-2F13-485F-8C02-93518A6DAF20}"/>
              </a:ext>
            </a:extLst>
          </p:cNvPr>
          <p:cNvSpPr txBox="1"/>
          <p:nvPr/>
        </p:nvSpPr>
        <p:spPr>
          <a:xfrm>
            <a:off x="8636000" y="1422400"/>
            <a:ext cx="27559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7" name="S18_Summary_Body1">
            <a:extLst>
              <a:ext uri="{FF2B5EF4-FFF2-40B4-BE49-F238E27FC236}">
                <a16:creationId xmlns:a16="http://schemas.microsoft.com/office/drawing/2014/main" id="{464365D5-5FCA-42B5-A41E-0304769F1D70}"/>
              </a:ext>
            </a:extLst>
          </p:cNvPr>
          <p:cNvSpPr txBox="1"/>
          <p:nvPr/>
        </p:nvSpPr>
        <p:spPr>
          <a:xfrm>
            <a:off x="8636000" y="1701800"/>
            <a:ext cx="2755900" cy="358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초반 국취제 해당여부 체크</a:t>
            </a:r>
          </a:p>
        </p:txBody>
      </p:sp>
      <p:sp>
        <p:nvSpPr>
          <p:cNvPr id="38" name="S18_Summary_Row2">
            <a:extLst>
              <a:ext uri="{FF2B5EF4-FFF2-40B4-BE49-F238E27FC236}">
                <a16:creationId xmlns:a16="http://schemas.microsoft.com/office/drawing/2014/main" id="{4EA2FF8A-8F29-455F-BF7F-E3F9957364C5}"/>
              </a:ext>
            </a:extLst>
          </p:cNvPr>
          <p:cNvSpPr/>
          <p:nvPr/>
        </p:nvSpPr>
        <p:spPr>
          <a:xfrm>
            <a:off x="8001000" y="2225675"/>
            <a:ext cx="3517900" cy="7905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18_Summary_Badge2">
            <a:extLst>
              <a:ext uri="{FF2B5EF4-FFF2-40B4-BE49-F238E27FC236}">
                <a16:creationId xmlns:a16="http://schemas.microsoft.com/office/drawing/2014/main" id="{033B04FB-A187-4E5A-84B5-98CCA1E97526}"/>
              </a:ext>
            </a:extLst>
          </p:cNvPr>
          <p:cNvSpPr/>
          <p:nvPr/>
        </p:nvSpPr>
        <p:spPr>
          <a:xfrm>
            <a:off x="8128000" y="2352675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02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0" name="S18_Summary_Title2">
            <a:extLst>
              <a:ext uri="{FF2B5EF4-FFF2-40B4-BE49-F238E27FC236}">
                <a16:creationId xmlns:a16="http://schemas.microsoft.com/office/drawing/2014/main" id="{2C19D85F-D97F-435E-83D4-741204F4FFB9}"/>
              </a:ext>
            </a:extLst>
          </p:cNvPr>
          <p:cNvSpPr txBox="1"/>
          <p:nvPr/>
        </p:nvSpPr>
        <p:spPr>
          <a:xfrm>
            <a:off x="8636000" y="2301875"/>
            <a:ext cx="27559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1" name="S18_Summary_Body2">
            <a:extLst>
              <a:ext uri="{FF2B5EF4-FFF2-40B4-BE49-F238E27FC236}">
                <a16:creationId xmlns:a16="http://schemas.microsoft.com/office/drawing/2014/main" id="{5DF59DF5-289F-446B-90CE-B9C0EE4483FC}"/>
              </a:ext>
            </a:extLst>
          </p:cNvPr>
          <p:cNvSpPr txBox="1"/>
          <p:nvPr/>
        </p:nvSpPr>
        <p:spPr>
          <a:xfrm>
            <a:off x="8636000" y="2581275"/>
            <a:ext cx="2755900" cy="358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지원대상 페이지 확인시켜줄 것</a:t>
            </a:r>
          </a:p>
        </p:txBody>
      </p:sp>
      <p:sp>
        <p:nvSpPr>
          <p:cNvPr id="42" name="S18_Summary_Row3">
            <a:extLst>
              <a:ext uri="{FF2B5EF4-FFF2-40B4-BE49-F238E27FC236}">
                <a16:creationId xmlns:a16="http://schemas.microsoft.com/office/drawing/2014/main" id="{D797DCA6-129E-4ABD-93C1-503CFD25E15A}"/>
              </a:ext>
            </a:extLst>
          </p:cNvPr>
          <p:cNvSpPr/>
          <p:nvPr/>
        </p:nvSpPr>
        <p:spPr>
          <a:xfrm>
            <a:off x="8001000" y="3105150"/>
            <a:ext cx="3517900" cy="7905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S18_Summary_Badge3">
            <a:extLst>
              <a:ext uri="{FF2B5EF4-FFF2-40B4-BE49-F238E27FC236}">
                <a16:creationId xmlns:a16="http://schemas.microsoft.com/office/drawing/2014/main" id="{0B6ABDED-162F-4237-BB93-49BCB6D2E4E3}"/>
              </a:ext>
            </a:extLst>
          </p:cNvPr>
          <p:cNvSpPr/>
          <p:nvPr/>
        </p:nvSpPr>
        <p:spPr>
          <a:xfrm>
            <a:off x="8128000" y="323215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03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4" name="S18_Summary_Title3">
            <a:extLst>
              <a:ext uri="{FF2B5EF4-FFF2-40B4-BE49-F238E27FC236}">
                <a16:creationId xmlns:a16="http://schemas.microsoft.com/office/drawing/2014/main" id="{A6B42AAC-3C41-49E6-8111-0C166EC64CB6}"/>
              </a:ext>
            </a:extLst>
          </p:cNvPr>
          <p:cNvSpPr txBox="1"/>
          <p:nvPr/>
        </p:nvSpPr>
        <p:spPr>
          <a:xfrm>
            <a:off x="8636000" y="3181350"/>
            <a:ext cx="27559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5" name="S18_Summary_Body3">
            <a:extLst>
              <a:ext uri="{FF2B5EF4-FFF2-40B4-BE49-F238E27FC236}">
                <a16:creationId xmlns:a16="http://schemas.microsoft.com/office/drawing/2014/main" id="{740D3B1F-C3D7-46E2-B724-35B79C46A1F1}"/>
              </a:ext>
            </a:extLst>
          </p:cNvPr>
          <p:cNvSpPr txBox="1"/>
          <p:nvPr/>
        </p:nvSpPr>
        <p:spPr>
          <a:xfrm>
            <a:off x="8636000" y="3460750"/>
            <a:ext cx="2755900" cy="358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각 유형 참여할 수 없는 대상 항목</a:t>
            </a:r>
          </a:p>
        </p:txBody>
      </p:sp>
      <p:sp>
        <p:nvSpPr>
          <p:cNvPr id="46" name="S18_Summary_Row4">
            <a:extLst>
              <a:ext uri="{FF2B5EF4-FFF2-40B4-BE49-F238E27FC236}">
                <a16:creationId xmlns:a16="http://schemas.microsoft.com/office/drawing/2014/main" id="{C4CB12CB-029A-4A3A-9952-A5F63CF5A62B}"/>
              </a:ext>
            </a:extLst>
          </p:cNvPr>
          <p:cNvSpPr/>
          <p:nvPr/>
        </p:nvSpPr>
        <p:spPr>
          <a:xfrm>
            <a:off x="8001000" y="3984625"/>
            <a:ext cx="3517900" cy="7905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S18_Summary_Badge4">
            <a:extLst>
              <a:ext uri="{FF2B5EF4-FFF2-40B4-BE49-F238E27FC236}">
                <a16:creationId xmlns:a16="http://schemas.microsoft.com/office/drawing/2014/main" id="{D2223FD1-2B40-4C17-815F-3C746FF8B707}"/>
              </a:ext>
            </a:extLst>
          </p:cNvPr>
          <p:cNvSpPr/>
          <p:nvPr/>
        </p:nvSpPr>
        <p:spPr>
          <a:xfrm>
            <a:off x="8128000" y="4111625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04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8" name="S18_Summary_Title4">
            <a:extLst>
              <a:ext uri="{FF2B5EF4-FFF2-40B4-BE49-F238E27FC236}">
                <a16:creationId xmlns:a16="http://schemas.microsoft.com/office/drawing/2014/main" id="{02DCA091-3E0A-4AB3-8A33-0771FA0CEEA2}"/>
              </a:ext>
            </a:extLst>
          </p:cNvPr>
          <p:cNvSpPr txBox="1"/>
          <p:nvPr/>
        </p:nvSpPr>
        <p:spPr>
          <a:xfrm>
            <a:off x="8636000" y="4060825"/>
            <a:ext cx="27559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4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9" name="S18_Summary_Body4">
            <a:extLst>
              <a:ext uri="{FF2B5EF4-FFF2-40B4-BE49-F238E27FC236}">
                <a16:creationId xmlns:a16="http://schemas.microsoft.com/office/drawing/2014/main" id="{3D6A1CC1-FBEA-4F7E-9352-154031D9AC87}"/>
              </a:ext>
            </a:extLst>
          </p:cNvPr>
          <p:cNvSpPr txBox="1"/>
          <p:nvPr/>
        </p:nvSpPr>
        <p:spPr>
          <a:xfrm>
            <a:off x="8636000" y="4340226"/>
            <a:ext cx="2755900" cy="358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중위소득 </a:t>
            </a:r>
            <a:r>
              <a:rPr lang="en-US" altLang="ko-KR" sz="8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60% 153</a:t>
            </a:r>
            <a:r>
              <a:rPr lang="ko-KR" altLang="en-US" sz="8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 </a:t>
            </a:r>
            <a:r>
              <a:rPr lang="en-US" altLang="ko-KR" sz="8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– </a:t>
            </a:r>
            <a:r>
              <a:rPr lang="ko-KR" altLang="en-US" sz="8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촉진수당 </a:t>
            </a:r>
            <a:r>
              <a:rPr lang="en-US" altLang="ko-KR" sz="8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60</a:t>
            </a:r>
            <a:r>
              <a:rPr lang="ko-KR" altLang="en-US" sz="8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
</a:t>
            </a:r>
            <a:r>
              <a:rPr lang="en-US" altLang="ko-KR" sz="8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-&gt; 93</a:t>
            </a:r>
            <a:r>
              <a:rPr lang="ko-KR" altLang="en-US" sz="8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초과 시 초과금 만큼 차감 지급
</a:t>
            </a:r>
            <a:r>
              <a:rPr lang="en-US" altLang="ko-KR" sz="8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Ex) 100</a:t>
            </a:r>
            <a:r>
              <a:rPr lang="ko-KR" altLang="en-US" sz="8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소득 발생 시 </a:t>
            </a:r>
            <a:r>
              <a:rPr lang="en-US" altLang="ko-KR" sz="8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53</a:t>
            </a:r>
            <a:r>
              <a:rPr lang="ko-KR" altLang="en-US" sz="8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수당 지급</a:t>
            </a:r>
          </a:p>
        </p:txBody>
      </p:sp>
      <p:sp>
        <p:nvSpPr>
          <p:cNvPr id="50" name="S18_Highlight">
            <a:extLst>
              <a:ext uri="{FF2B5EF4-FFF2-40B4-BE49-F238E27FC236}">
                <a16:creationId xmlns:a16="http://schemas.microsoft.com/office/drawing/2014/main" id="{9644CB02-793E-484E-83E4-3BA8AD0F2542}"/>
              </a:ext>
            </a:extLst>
          </p:cNvPr>
          <p:cNvSpPr/>
          <p:nvPr/>
        </p:nvSpPr>
        <p:spPr>
          <a:xfrm>
            <a:off x="8001000" y="4889500"/>
            <a:ext cx="3517900" cy="838200"/>
          </a:xfrm>
          <a:prstGeom prst="roundRect">
            <a:avLst>
              <a:gd name="adj" fmla="val 10000"/>
            </a:avLst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r>
              <a:rPr lang="ko-KR" altLang="en-US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★ </a:t>
            </a:r>
            <a:r>
              <a:rPr lang="en-US" altLang="ko-KR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I</a:t>
            </a:r>
            <a:r>
              <a:rPr lang="ko-KR" altLang="en-US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유형이 안되는 이유 설명
학생 </a:t>
            </a:r>
            <a:r>
              <a:rPr lang="en-US" altLang="ko-KR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-&gt; </a:t>
            </a:r>
            <a:r>
              <a:rPr lang="ko-KR" altLang="en-US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즉시 취업이 안되서
생계</a:t>
            </a:r>
            <a:r>
              <a:rPr lang="en-US" altLang="ko-KR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실업급여 </a:t>
            </a:r>
            <a:r>
              <a:rPr lang="en-US" altLang="ko-KR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-&gt; </a:t>
            </a:r>
            <a:r>
              <a:rPr lang="ko-KR" altLang="en-US" sz="95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이중 지원이기 때문</a:t>
            </a:r>
          </a:p>
        </p:txBody>
      </p:sp>
    </p:spTree>
    <p:extLst>
      <p:ext uri="{BB962C8B-B14F-4D97-AF65-F5344CB8AC3E}">
        <p14:creationId xmlns:p14="http://schemas.microsoft.com/office/powerpoint/2010/main" val="929427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19_Chapter">
            <a:extLst>
              <a:ext uri="{FF2B5EF4-FFF2-40B4-BE49-F238E27FC236}">
                <a16:creationId xmlns:a16="http://schemas.microsoft.com/office/drawing/2014/main" id="{0DB4619F-0EE7-4DE0-B95E-CC10001D9C5A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8" name="S19_Title">
            <a:extLst>
              <a:ext uri="{FF2B5EF4-FFF2-40B4-BE49-F238E27FC236}">
                <a16:creationId xmlns:a16="http://schemas.microsoft.com/office/drawing/2014/main" id="{5AF21160-AB3E-4A07-9D86-65636EEB55CE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가구단위</a:t>
            </a:r>
            <a:r>
              <a:rPr lang="en-US" altLang="ko-KR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·</a:t>
            </a:r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소득 기준 안내</a:t>
            </a:r>
          </a:p>
        </p:txBody>
      </p:sp>
      <p:sp>
        <p:nvSpPr>
          <p:cNvPr id="11" name="S19_PageBadge">
            <a:extLst>
              <a:ext uri="{FF2B5EF4-FFF2-40B4-BE49-F238E27FC236}">
                <a16:creationId xmlns:a16="http://schemas.microsoft.com/office/drawing/2014/main" id="{9F7E7D65-D2EB-4734-A60A-818B99A1E1E3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19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4" name="S19_HeaderRule">
            <a:extLst>
              <a:ext uri="{FF2B5EF4-FFF2-40B4-BE49-F238E27FC236}">
                <a16:creationId xmlns:a16="http://schemas.microsoft.com/office/drawing/2014/main" id="{F7726A9E-A092-42F0-9F61-02B3370E4F86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19_Image1_Frame">
            <a:extLst>
              <a:ext uri="{FF2B5EF4-FFF2-40B4-BE49-F238E27FC236}">
                <a16:creationId xmlns:a16="http://schemas.microsoft.com/office/drawing/2014/main" id="{61B3DA1D-D0D4-482D-A0D5-9DFF0553C9DC}"/>
              </a:ext>
            </a:extLst>
          </p:cNvPr>
          <p:cNvSpPr/>
          <p:nvPr/>
        </p:nvSpPr>
        <p:spPr>
          <a:xfrm>
            <a:off x="533400" y="1219200"/>
            <a:ext cx="6794500" cy="20955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S19_Image1">
            <a:extLst>
              <a:ext uri="{FF2B5EF4-FFF2-40B4-BE49-F238E27FC236}">
                <a16:creationId xmlns:a16="http://schemas.microsoft.com/office/drawing/2014/main" id="{197CD24B-3F58-4BAB-8749-5ED804862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57" y="1362256"/>
            <a:ext cx="6481385" cy="1809387"/>
          </a:xfrm>
          <a:prstGeom prst="rect">
            <a:avLst/>
          </a:prstGeom>
        </p:spPr>
      </p:pic>
      <p:sp>
        <p:nvSpPr>
          <p:cNvPr id="37" name="S19_Image2_Frame">
            <a:extLst>
              <a:ext uri="{FF2B5EF4-FFF2-40B4-BE49-F238E27FC236}">
                <a16:creationId xmlns:a16="http://schemas.microsoft.com/office/drawing/2014/main" id="{EF31FE4D-BABE-40DE-A211-5AC49AC51A0B}"/>
              </a:ext>
            </a:extLst>
          </p:cNvPr>
          <p:cNvSpPr/>
          <p:nvPr/>
        </p:nvSpPr>
        <p:spPr>
          <a:xfrm>
            <a:off x="533400" y="3441700"/>
            <a:ext cx="6794500" cy="6096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S19_Image2">
            <a:extLst>
              <a:ext uri="{FF2B5EF4-FFF2-40B4-BE49-F238E27FC236}">
                <a16:creationId xmlns:a16="http://schemas.microsoft.com/office/drawing/2014/main" id="{6D4010FC-2D87-4ABC-9CC3-8CA1CB842E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83" y="3640073"/>
            <a:ext cx="6180933" cy="212854"/>
          </a:xfrm>
          <a:prstGeom prst="rect">
            <a:avLst/>
          </a:prstGeom>
        </p:spPr>
      </p:pic>
      <p:sp>
        <p:nvSpPr>
          <p:cNvPr id="40" name="S19_Image3_Frame">
            <a:extLst>
              <a:ext uri="{FF2B5EF4-FFF2-40B4-BE49-F238E27FC236}">
                <a16:creationId xmlns:a16="http://schemas.microsoft.com/office/drawing/2014/main" id="{EB8CAB6B-396D-4C98-99CD-57DA064BBAB8}"/>
              </a:ext>
            </a:extLst>
          </p:cNvPr>
          <p:cNvSpPr/>
          <p:nvPr/>
        </p:nvSpPr>
        <p:spPr>
          <a:xfrm>
            <a:off x="533400" y="4178300"/>
            <a:ext cx="6794500" cy="16764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S19_Image3">
            <a:extLst>
              <a:ext uri="{FF2B5EF4-FFF2-40B4-BE49-F238E27FC236}">
                <a16:creationId xmlns:a16="http://schemas.microsoft.com/office/drawing/2014/main" id="{92DF5396-953A-45A6-8604-74384F755E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63" y="3849831"/>
            <a:ext cx="6848775" cy="2333338"/>
          </a:xfrm>
          <a:prstGeom prst="rect">
            <a:avLst/>
          </a:prstGeom>
        </p:spPr>
      </p:pic>
      <p:sp>
        <p:nvSpPr>
          <p:cNvPr id="43" name="S19_SummaryBase">
            <a:extLst>
              <a:ext uri="{FF2B5EF4-FFF2-40B4-BE49-F238E27FC236}">
                <a16:creationId xmlns:a16="http://schemas.microsoft.com/office/drawing/2014/main" id="{5D5C4ED6-8941-446A-982C-87CE576E5C22}"/>
              </a:ext>
            </a:extLst>
          </p:cNvPr>
          <p:cNvSpPr/>
          <p:nvPr/>
        </p:nvSpPr>
        <p:spPr>
          <a:xfrm>
            <a:off x="7556500" y="1219200"/>
            <a:ext cx="4089400" cy="4635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S19_Summary_Row1">
            <a:extLst>
              <a:ext uri="{FF2B5EF4-FFF2-40B4-BE49-F238E27FC236}">
                <a16:creationId xmlns:a16="http://schemas.microsoft.com/office/drawing/2014/main" id="{47E4CED7-150D-44A6-8E8E-3E95C6434426}"/>
              </a:ext>
            </a:extLst>
          </p:cNvPr>
          <p:cNvSpPr/>
          <p:nvPr/>
        </p:nvSpPr>
        <p:spPr>
          <a:xfrm>
            <a:off x="7683500" y="1346200"/>
            <a:ext cx="3835400" cy="7429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S19_Summary_Badge1">
            <a:extLst>
              <a:ext uri="{FF2B5EF4-FFF2-40B4-BE49-F238E27FC236}">
                <a16:creationId xmlns:a16="http://schemas.microsoft.com/office/drawing/2014/main" id="{45CA408C-4980-406C-8A7E-8B86B36F201F}"/>
              </a:ext>
            </a:extLst>
          </p:cNvPr>
          <p:cNvSpPr/>
          <p:nvPr/>
        </p:nvSpPr>
        <p:spPr>
          <a:xfrm>
            <a:off x="7810500" y="14732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01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6" name="S19_Summary_Title1">
            <a:extLst>
              <a:ext uri="{FF2B5EF4-FFF2-40B4-BE49-F238E27FC236}">
                <a16:creationId xmlns:a16="http://schemas.microsoft.com/office/drawing/2014/main" id="{AD8FABEC-EACA-4179-8164-163488282428}"/>
              </a:ext>
            </a:extLst>
          </p:cNvPr>
          <p:cNvSpPr txBox="1"/>
          <p:nvPr/>
        </p:nvSpPr>
        <p:spPr>
          <a:xfrm>
            <a:off x="8318500" y="1422400"/>
            <a:ext cx="3073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기준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7" name="S19_Summary_Body1">
            <a:extLst>
              <a:ext uri="{FF2B5EF4-FFF2-40B4-BE49-F238E27FC236}">
                <a16:creationId xmlns:a16="http://schemas.microsoft.com/office/drawing/2014/main" id="{FC86D987-5E90-4ED3-BA80-6B3C09BDAA4C}"/>
              </a:ext>
            </a:extLst>
          </p:cNvPr>
          <p:cNvSpPr txBox="1"/>
          <p:nvPr/>
        </p:nvSpPr>
        <p:spPr>
          <a:xfrm>
            <a:off x="8318500" y="1701800"/>
            <a:ext cx="3073400" cy="311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가구단위 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(★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매우 중요★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endParaRPr lang="ko-KR" altLang="en-US" sz="900" spc="-15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8" name="S19_Summary_Row2">
            <a:extLst>
              <a:ext uri="{FF2B5EF4-FFF2-40B4-BE49-F238E27FC236}">
                <a16:creationId xmlns:a16="http://schemas.microsoft.com/office/drawing/2014/main" id="{03FC3794-BBBA-4EA3-9D41-B68AFB612055}"/>
              </a:ext>
            </a:extLst>
          </p:cNvPr>
          <p:cNvSpPr/>
          <p:nvPr/>
        </p:nvSpPr>
        <p:spPr>
          <a:xfrm>
            <a:off x="7683500" y="2178050"/>
            <a:ext cx="3835400" cy="7429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S19_Summary_Badge2">
            <a:extLst>
              <a:ext uri="{FF2B5EF4-FFF2-40B4-BE49-F238E27FC236}">
                <a16:creationId xmlns:a16="http://schemas.microsoft.com/office/drawing/2014/main" id="{D0D3EEF2-4D44-488E-90A8-F4676659FFE9}"/>
              </a:ext>
            </a:extLst>
          </p:cNvPr>
          <p:cNvSpPr/>
          <p:nvPr/>
        </p:nvSpPr>
        <p:spPr>
          <a:xfrm>
            <a:off x="7810500" y="230505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02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0" name="S19_Summary_Title2">
            <a:extLst>
              <a:ext uri="{FF2B5EF4-FFF2-40B4-BE49-F238E27FC236}">
                <a16:creationId xmlns:a16="http://schemas.microsoft.com/office/drawing/2014/main" id="{063E9CAB-CD51-44AC-84C6-63EE72D16403}"/>
              </a:ext>
            </a:extLst>
          </p:cNvPr>
          <p:cNvSpPr txBox="1"/>
          <p:nvPr/>
        </p:nvSpPr>
        <p:spPr>
          <a:xfrm>
            <a:off x="8318500" y="2254250"/>
            <a:ext cx="3073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기준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1" name="S19_Summary_Body2">
            <a:extLst>
              <a:ext uri="{FF2B5EF4-FFF2-40B4-BE49-F238E27FC236}">
                <a16:creationId xmlns:a16="http://schemas.microsoft.com/office/drawing/2014/main" id="{0AE82162-B3BD-49C4-B869-2091EF3A349C}"/>
              </a:ext>
            </a:extLst>
          </p:cNvPr>
          <p:cNvSpPr txBox="1"/>
          <p:nvPr/>
        </p:nvSpPr>
        <p:spPr>
          <a:xfrm>
            <a:off x="8318500" y="2533650"/>
            <a:ext cx="3073400" cy="311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4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인가구 기준 가구단위는 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인가구
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-&gt;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형제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자매 미포함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(2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촌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endParaRPr lang="ko-KR" altLang="en-US" sz="900" spc="-15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2" name="S19_Summary_Row3">
            <a:extLst>
              <a:ext uri="{FF2B5EF4-FFF2-40B4-BE49-F238E27FC236}">
                <a16:creationId xmlns:a16="http://schemas.microsoft.com/office/drawing/2014/main" id="{C8FEBA57-1E00-4BA8-846F-ECC1C8EDD403}"/>
              </a:ext>
            </a:extLst>
          </p:cNvPr>
          <p:cNvSpPr/>
          <p:nvPr/>
        </p:nvSpPr>
        <p:spPr>
          <a:xfrm>
            <a:off x="7683500" y="3009900"/>
            <a:ext cx="3835400" cy="7429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S19_Summary_Badge3">
            <a:extLst>
              <a:ext uri="{FF2B5EF4-FFF2-40B4-BE49-F238E27FC236}">
                <a16:creationId xmlns:a16="http://schemas.microsoft.com/office/drawing/2014/main" id="{CAA1AAB5-10EB-431D-9ECC-3E3B4ACD5D32}"/>
              </a:ext>
            </a:extLst>
          </p:cNvPr>
          <p:cNvSpPr/>
          <p:nvPr/>
        </p:nvSpPr>
        <p:spPr>
          <a:xfrm>
            <a:off x="7810500" y="313690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03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4" name="S19_Summary_Title3">
            <a:extLst>
              <a:ext uri="{FF2B5EF4-FFF2-40B4-BE49-F238E27FC236}">
                <a16:creationId xmlns:a16="http://schemas.microsoft.com/office/drawing/2014/main" id="{898B59D5-F018-4A91-8CF8-499AAF97BF01}"/>
              </a:ext>
            </a:extLst>
          </p:cNvPr>
          <p:cNvSpPr txBox="1"/>
          <p:nvPr/>
        </p:nvSpPr>
        <p:spPr>
          <a:xfrm>
            <a:off x="8318500" y="3086100"/>
            <a:ext cx="3073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기준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3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5" name="S19_Summary_Body3">
            <a:extLst>
              <a:ext uri="{FF2B5EF4-FFF2-40B4-BE49-F238E27FC236}">
                <a16:creationId xmlns:a16="http://schemas.microsoft.com/office/drawing/2014/main" id="{8EDE7EBC-9173-4BA6-B1C2-BA20660BFC62}"/>
              </a:ext>
            </a:extLst>
          </p:cNvPr>
          <p:cNvSpPr txBox="1"/>
          <p:nvPr/>
        </p:nvSpPr>
        <p:spPr>
          <a:xfrm>
            <a:off x="8318500" y="3365500"/>
            <a:ext cx="3073400" cy="311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소득 초과 시 주소지 이전 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전입신고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endParaRPr lang="ko-KR" altLang="en-US" sz="900" spc="-15">
              <a:solidFill>
                <a:srgbClr val="1E2B38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6" name="S19_Summary_Row4">
            <a:extLst>
              <a:ext uri="{FF2B5EF4-FFF2-40B4-BE49-F238E27FC236}">
                <a16:creationId xmlns:a16="http://schemas.microsoft.com/office/drawing/2014/main" id="{6E32045C-82B2-44A8-AA8C-3989D1F03E81}"/>
              </a:ext>
            </a:extLst>
          </p:cNvPr>
          <p:cNvSpPr/>
          <p:nvPr/>
        </p:nvSpPr>
        <p:spPr>
          <a:xfrm>
            <a:off x="7683500" y="3841750"/>
            <a:ext cx="3835400" cy="7429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S19_Summary_Badge4">
            <a:extLst>
              <a:ext uri="{FF2B5EF4-FFF2-40B4-BE49-F238E27FC236}">
                <a16:creationId xmlns:a16="http://schemas.microsoft.com/office/drawing/2014/main" id="{99859CD7-F3FD-48D7-8825-0EECE7763AD2}"/>
              </a:ext>
            </a:extLst>
          </p:cNvPr>
          <p:cNvSpPr/>
          <p:nvPr/>
        </p:nvSpPr>
        <p:spPr>
          <a:xfrm>
            <a:off x="7810500" y="3968750"/>
            <a:ext cx="381000" cy="381000"/>
          </a:xfrm>
          <a:prstGeom prst="ellipse">
            <a:avLst/>
          </a:prstGeom>
          <a:solidFill>
            <a:srgbClr val="DD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04</a:t>
            </a:r>
            <a:endParaRPr lang="ko-KR" altLang="en-US" sz="105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8" name="S19_Summary_Title4">
            <a:extLst>
              <a:ext uri="{FF2B5EF4-FFF2-40B4-BE49-F238E27FC236}">
                <a16:creationId xmlns:a16="http://schemas.microsoft.com/office/drawing/2014/main" id="{C12E3506-ABA7-44EB-AF12-C4BC362721E7}"/>
              </a:ext>
            </a:extLst>
          </p:cNvPr>
          <p:cNvSpPr txBox="1"/>
          <p:nvPr/>
        </p:nvSpPr>
        <p:spPr>
          <a:xfrm>
            <a:off x="8318500" y="3917950"/>
            <a:ext cx="3073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기준 </a:t>
            </a:r>
            <a:r>
              <a:rPr lang="en-US" altLang="ko-KR" sz="1050" b="1" spc="-3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4</a:t>
            </a:r>
            <a:endParaRPr lang="ko-KR" altLang="en-US" sz="1050" b="1" spc="-3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9" name="S19_Summary_Body4">
            <a:extLst>
              <a:ext uri="{FF2B5EF4-FFF2-40B4-BE49-F238E27FC236}">
                <a16:creationId xmlns:a16="http://schemas.microsoft.com/office/drawing/2014/main" id="{D820E5F5-7637-4BD8-99AD-5C6425DD23EC}"/>
              </a:ext>
            </a:extLst>
          </p:cNvPr>
          <p:cNvSpPr txBox="1"/>
          <p:nvPr/>
        </p:nvSpPr>
        <p:spPr>
          <a:xfrm>
            <a:off x="8318500" y="4197350"/>
            <a:ext cx="3073400" cy="311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조부모 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&gt;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형제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자매 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&gt;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친척 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&gt;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친구
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-&gt; 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조부모 댁으로 이전 시 추가 </a:t>
            </a:r>
            <a:r>
              <a:rPr lang="en-US" altLang="ko-KR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10~20</a:t>
            </a:r>
            <a:r>
              <a:rPr lang="ko-KR" altLang="en-US" sz="900" spc="-15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</a:t>
            </a:r>
          </a:p>
        </p:txBody>
      </p:sp>
      <p:sp>
        <p:nvSpPr>
          <p:cNvPr id="60" name="S19_Highlight">
            <a:extLst>
              <a:ext uri="{FF2B5EF4-FFF2-40B4-BE49-F238E27FC236}">
                <a16:creationId xmlns:a16="http://schemas.microsoft.com/office/drawing/2014/main" id="{029454CF-AF58-44BC-96D5-54F9AC77E68B}"/>
              </a:ext>
            </a:extLst>
          </p:cNvPr>
          <p:cNvSpPr/>
          <p:nvPr/>
        </p:nvSpPr>
        <p:spPr>
          <a:xfrm>
            <a:off x="7683500" y="4711700"/>
            <a:ext cx="3835400" cy="1016000"/>
          </a:xfrm>
          <a:prstGeom prst="roundRect">
            <a:avLst>
              <a:gd name="adj" fmla="val 10000"/>
            </a:avLst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r>
              <a:rPr lang="ko-KR" altLang="en-US" sz="97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★ 주소지 이전 스피치 사용 시
</a:t>
            </a:r>
            <a:r>
              <a:rPr lang="en-US" altLang="ko-KR" sz="97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- </a:t>
            </a:r>
            <a:r>
              <a:rPr lang="ko-KR" altLang="en-US" sz="97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정부</a:t>
            </a:r>
            <a:r>
              <a:rPr lang="en-US" altLang="ko-KR" sz="97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24</a:t>
            </a:r>
            <a:r>
              <a:rPr lang="ko-KR" altLang="en-US" sz="97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로 간편하게 이전하는 방법 추천</a:t>
            </a:r>
          </a:p>
        </p:txBody>
      </p:sp>
    </p:spTree>
    <p:extLst>
      <p:ext uri="{BB962C8B-B14F-4D97-AF65-F5344CB8AC3E}">
        <p14:creationId xmlns:p14="http://schemas.microsoft.com/office/powerpoint/2010/main" val="1122370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20_Chapter">
            <a:extLst>
              <a:ext uri="{FF2B5EF4-FFF2-40B4-BE49-F238E27FC236}">
                <a16:creationId xmlns:a16="http://schemas.microsoft.com/office/drawing/2014/main" id="{92BBD218-A713-403E-8B3E-BB4445A65468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8" name="S20_Title">
            <a:extLst>
              <a:ext uri="{FF2B5EF4-FFF2-40B4-BE49-F238E27FC236}">
                <a16:creationId xmlns:a16="http://schemas.microsoft.com/office/drawing/2014/main" id="{0A786000-13CF-4CA2-BBE6-075FF77AC537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졸업예정자 상담</a:t>
            </a:r>
          </a:p>
        </p:txBody>
      </p:sp>
      <p:sp>
        <p:nvSpPr>
          <p:cNvPr id="14" name="S20_PageBadge">
            <a:extLst>
              <a:ext uri="{FF2B5EF4-FFF2-40B4-BE49-F238E27FC236}">
                <a16:creationId xmlns:a16="http://schemas.microsoft.com/office/drawing/2014/main" id="{1D412155-86CF-4CAF-B3DA-593A6F7251E5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20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5" name="S20_HeaderRule">
            <a:extLst>
              <a:ext uri="{FF2B5EF4-FFF2-40B4-BE49-F238E27FC236}">
                <a16:creationId xmlns:a16="http://schemas.microsoft.com/office/drawing/2014/main" id="{EF10E8E2-E84F-447F-9A51-20E1EAE23B69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20_Source_Frame">
            <a:extLst>
              <a:ext uri="{FF2B5EF4-FFF2-40B4-BE49-F238E27FC236}">
                <a16:creationId xmlns:a16="http://schemas.microsoft.com/office/drawing/2014/main" id="{08AC4D45-B467-48CA-AF9D-00D4EE8670B4}"/>
              </a:ext>
            </a:extLst>
          </p:cNvPr>
          <p:cNvSpPr/>
          <p:nvPr/>
        </p:nvSpPr>
        <p:spPr>
          <a:xfrm>
            <a:off x="533400" y="1193800"/>
            <a:ext cx="11112500" cy="24130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S20_Source">
            <a:extLst>
              <a:ext uri="{FF2B5EF4-FFF2-40B4-BE49-F238E27FC236}">
                <a16:creationId xmlns:a16="http://schemas.microsoft.com/office/drawing/2014/main" id="{896A6AC4-8CBE-4346-9934-0F818958C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978" y="1451228"/>
            <a:ext cx="8295345" cy="1898143"/>
          </a:xfrm>
          <a:prstGeom prst="rect">
            <a:avLst/>
          </a:prstGeom>
        </p:spPr>
      </p:pic>
      <p:sp>
        <p:nvSpPr>
          <p:cNvPr id="19" name="S20_Step1">
            <a:extLst>
              <a:ext uri="{FF2B5EF4-FFF2-40B4-BE49-F238E27FC236}">
                <a16:creationId xmlns:a16="http://schemas.microsoft.com/office/drawing/2014/main" id="{E8222C04-86CD-4E4B-85EB-E285F6DF1549}"/>
              </a:ext>
            </a:extLst>
          </p:cNvPr>
          <p:cNvSpPr/>
          <p:nvPr/>
        </p:nvSpPr>
        <p:spPr>
          <a:xfrm>
            <a:off x="533400" y="3886200"/>
            <a:ext cx="2679700" cy="1905000"/>
          </a:xfrm>
          <a:prstGeom prst="roundRect">
            <a:avLst>
              <a:gd name="adj" fmla="val 10000"/>
            </a:avLst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12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졸업예정자의 졸업 예정 </a:t>
            </a:r>
            <a:r>
              <a:rPr lang="en-US" altLang="ko-KR" sz="112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7</a:t>
            </a:r>
            <a:r>
              <a:rPr lang="ko-KR" altLang="en-US" sz="112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개월 전 신청 가능</a:t>
            </a:r>
          </a:p>
        </p:txBody>
      </p:sp>
      <p:sp>
        <p:nvSpPr>
          <p:cNvPr id="20" name="S20_Step2">
            <a:extLst>
              <a:ext uri="{FF2B5EF4-FFF2-40B4-BE49-F238E27FC236}">
                <a16:creationId xmlns:a16="http://schemas.microsoft.com/office/drawing/2014/main" id="{F5EAEBAD-9A30-47C3-BE1A-CD0EF4E07FFD}"/>
              </a:ext>
            </a:extLst>
          </p:cNvPr>
          <p:cNvSpPr/>
          <p:nvPr/>
        </p:nvSpPr>
        <p:spPr>
          <a:xfrm>
            <a:off x="3340100" y="3886200"/>
            <a:ext cx="26797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en-US" altLang="ko-KR" sz="112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-&gt; </a:t>
            </a:r>
            <a:r>
              <a:rPr lang="ko-KR" altLang="en-US" sz="112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국취제는 보통 취업 대비가 많기 때문에</a:t>
            </a:r>
          </a:p>
        </p:txBody>
      </p:sp>
      <p:sp>
        <p:nvSpPr>
          <p:cNvPr id="21" name="S20_Step3">
            <a:extLst>
              <a:ext uri="{FF2B5EF4-FFF2-40B4-BE49-F238E27FC236}">
                <a16:creationId xmlns:a16="http://schemas.microsoft.com/office/drawing/2014/main" id="{BF669485-BEEA-440C-B559-18A860A12624}"/>
              </a:ext>
            </a:extLst>
          </p:cNvPr>
          <p:cNvSpPr/>
          <p:nvPr/>
        </p:nvSpPr>
        <p:spPr>
          <a:xfrm>
            <a:off x="6146800" y="3886200"/>
            <a:ext cx="2679700" cy="1905000"/>
          </a:xfrm>
          <a:prstGeom prst="roundRect">
            <a:avLst>
              <a:gd name="adj" fmla="val 10000"/>
            </a:avLst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en-US" altLang="ko-KR" sz="112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4</a:t>
            </a:r>
            <a:r>
              <a:rPr lang="ko-KR" altLang="en-US" sz="112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학년 </a:t>
            </a:r>
            <a:r>
              <a:rPr lang="en-US" altLang="ko-KR" sz="112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r>
              <a:rPr lang="ko-KR" altLang="en-US" sz="112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학기 문의 시 </a:t>
            </a:r>
            <a:r>
              <a:rPr lang="en-US" altLang="ko-KR" sz="112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r>
              <a:rPr lang="ko-KR" altLang="en-US" sz="112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학기엔 기초 과정 선 진행 후</a:t>
            </a:r>
          </a:p>
        </p:txBody>
      </p:sp>
      <p:sp>
        <p:nvSpPr>
          <p:cNvPr id="22" name="S20_Step4">
            <a:extLst>
              <a:ext uri="{FF2B5EF4-FFF2-40B4-BE49-F238E27FC236}">
                <a16:creationId xmlns:a16="http://schemas.microsoft.com/office/drawing/2014/main" id="{45F19FC0-D4F5-47D4-A5EB-FC74D0204FD8}"/>
              </a:ext>
            </a:extLst>
          </p:cNvPr>
          <p:cNvSpPr/>
          <p:nvPr/>
        </p:nvSpPr>
        <p:spPr>
          <a:xfrm>
            <a:off x="8953500" y="3886200"/>
            <a:ext cx="2679700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en-US" altLang="ko-KR" sz="112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</a:t>
            </a:r>
            <a:r>
              <a:rPr lang="ko-KR" altLang="en-US" sz="112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학기 자격증</a:t>
            </a:r>
            <a:r>
              <a:rPr lang="en-US" altLang="ko-KR" sz="112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120" b="1" spc="-20">
                <a:solidFill>
                  <a:srgbClr val="1E2B38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포폴 시기에 국취제 신청하여 수당 지급</a:t>
            </a:r>
          </a:p>
        </p:txBody>
      </p:sp>
    </p:spTree>
    <p:extLst>
      <p:ext uri="{BB962C8B-B14F-4D97-AF65-F5344CB8AC3E}">
        <p14:creationId xmlns:p14="http://schemas.microsoft.com/office/powerpoint/2010/main" val="790026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21_Chapter">
            <a:extLst>
              <a:ext uri="{FF2B5EF4-FFF2-40B4-BE49-F238E27FC236}">
                <a16:creationId xmlns:a16="http://schemas.microsoft.com/office/drawing/2014/main" id="{661B2A9B-1AA5-417F-A7A9-A92B219ACD0E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8" name="S21_Title">
            <a:extLst>
              <a:ext uri="{FF2B5EF4-FFF2-40B4-BE49-F238E27FC236}">
                <a16:creationId xmlns:a16="http://schemas.microsoft.com/office/drawing/2014/main" id="{70893750-ACF0-463D-97BB-54D814966E9E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견적서 활용</a:t>
            </a:r>
          </a:p>
        </p:txBody>
      </p:sp>
      <p:sp>
        <p:nvSpPr>
          <p:cNvPr id="11" name="S21_PageBadge">
            <a:extLst>
              <a:ext uri="{FF2B5EF4-FFF2-40B4-BE49-F238E27FC236}">
                <a16:creationId xmlns:a16="http://schemas.microsoft.com/office/drawing/2014/main" id="{7F071635-AD2D-407D-8DDF-41E8835750B3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21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4" name="S21_HeaderRule">
            <a:extLst>
              <a:ext uri="{FF2B5EF4-FFF2-40B4-BE49-F238E27FC236}">
                <a16:creationId xmlns:a16="http://schemas.microsoft.com/office/drawing/2014/main" id="{343ADAD0-84C4-4512-BDDF-17F79C5B3EBD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21_Quote1_Frame">
            <a:extLst>
              <a:ext uri="{FF2B5EF4-FFF2-40B4-BE49-F238E27FC236}">
                <a16:creationId xmlns:a16="http://schemas.microsoft.com/office/drawing/2014/main" id="{0454EC95-51E9-46DE-8462-3F50DF579204}"/>
              </a:ext>
            </a:extLst>
          </p:cNvPr>
          <p:cNvSpPr/>
          <p:nvPr/>
        </p:nvSpPr>
        <p:spPr>
          <a:xfrm>
            <a:off x="533400" y="1244600"/>
            <a:ext cx="5397500" cy="42926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S21_Quote1">
            <a:extLst>
              <a:ext uri="{FF2B5EF4-FFF2-40B4-BE49-F238E27FC236}">
                <a16:creationId xmlns:a16="http://schemas.microsoft.com/office/drawing/2014/main" id="{5EA7E952-A8A3-495C-A91E-7BCE4557D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014" y="1847254"/>
            <a:ext cx="3244272" cy="3087291"/>
          </a:xfrm>
          <a:prstGeom prst="rect">
            <a:avLst/>
          </a:prstGeom>
        </p:spPr>
      </p:pic>
      <p:sp>
        <p:nvSpPr>
          <p:cNvPr id="18" name="S21_Quote2_Frame">
            <a:extLst>
              <a:ext uri="{FF2B5EF4-FFF2-40B4-BE49-F238E27FC236}">
                <a16:creationId xmlns:a16="http://schemas.microsoft.com/office/drawing/2014/main" id="{235A6802-7222-4A1E-A5B1-6F06CE89FC79}"/>
              </a:ext>
            </a:extLst>
          </p:cNvPr>
          <p:cNvSpPr/>
          <p:nvPr/>
        </p:nvSpPr>
        <p:spPr>
          <a:xfrm>
            <a:off x="6248400" y="1244600"/>
            <a:ext cx="5397500" cy="42926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S21_Quote2">
            <a:extLst>
              <a:ext uri="{FF2B5EF4-FFF2-40B4-BE49-F238E27FC236}">
                <a16:creationId xmlns:a16="http://schemas.microsoft.com/office/drawing/2014/main" id="{7709345B-FEC2-4C05-9E34-E843DB801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387" y="1867905"/>
            <a:ext cx="2857526" cy="3045990"/>
          </a:xfrm>
          <a:prstGeom prst="rect">
            <a:avLst/>
          </a:prstGeom>
        </p:spPr>
      </p:pic>
      <p:sp>
        <p:nvSpPr>
          <p:cNvPr id="21" name="S21_Callout">
            <a:extLst>
              <a:ext uri="{FF2B5EF4-FFF2-40B4-BE49-F238E27FC236}">
                <a16:creationId xmlns:a16="http://schemas.microsoft.com/office/drawing/2014/main" id="{6E3185BC-3FA8-4F42-82CB-43B287AC3BFB}"/>
              </a:ext>
            </a:extLst>
          </p:cNvPr>
          <p:cNvSpPr/>
          <p:nvPr/>
        </p:nvSpPr>
        <p:spPr>
          <a:xfrm>
            <a:off x="2438400" y="5715000"/>
            <a:ext cx="7302500" cy="5080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5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국취제 제외한 실 자부담금</a:t>
            </a:r>
          </a:p>
        </p:txBody>
      </p:sp>
    </p:spTree>
    <p:extLst>
      <p:ext uri="{BB962C8B-B14F-4D97-AF65-F5344CB8AC3E}">
        <p14:creationId xmlns:p14="http://schemas.microsoft.com/office/powerpoint/2010/main" val="2687062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22_Chapter">
            <a:extLst>
              <a:ext uri="{FF2B5EF4-FFF2-40B4-BE49-F238E27FC236}">
                <a16:creationId xmlns:a16="http://schemas.microsoft.com/office/drawing/2014/main" id="{646D69E9-0364-4EB9-817E-AA6D00C51C36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12" name="S22_Title">
            <a:extLst>
              <a:ext uri="{FF2B5EF4-FFF2-40B4-BE49-F238E27FC236}">
                <a16:creationId xmlns:a16="http://schemas.microsoft.com/office/drawing/2014/main" id="{7EF9ACEA-9244-4E50-819E-8709E422B195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카드 결제 스피치</a:t>
            </a:r>
          </a:p>
        </p:txBody>
      </p:sp>
      <p:sp>
        <p:nvSpPr>
          <p:cNvPr id="13" name="S22_PageBadge">
            <a:extLst>
              <a:ext uri="{FF2B5EF4-FFF2-40B4-BE49-F238E27FC236}">
                <a16:creationId xmlns:a16="http://schemas.microsoft.com/office/drawing/2014/main" id="{39F998F3-38C2-4A59-B0BA-0C99E4F9402D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22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4" name="S22_HeaderRule">
            <a:extLst>
              <a:ext uri="{FF2B5EF4-FFF2-40B4-BE49-F238E27FC236}">
                <a16:creationId xmlns:a16="http://schemas.microsoft.com/office/drawing/2014/main" id="{1ABE9486-0E67-41E2-A1CF-D710482A45E0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S22_Table1">
            <a:extLst>
              <a:ext uri="{FF2B5EF4-FFF2-40B4-BE49-F238E27FC236}">
                <a16:creationId xmlns:a16="http://schemas.microsoft.com/office/drawing/2014/main" id="{46BF4823-3635-4EDC-A65D-D4B88999A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470702"/>
              </p:ext>
            </p:extLst>
          </p:nvPr>
        </p:nvGraphicFramePr>
        <p:xfrm>
          <a:off x="533400" y="1219200"/>
          <a:ext cx="11112500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063">
                  <a:extLst>
                    <a:ext uri="{9D8B030D-6E8A-4147-A177-3AD203B41FA5}">
                      <a16:colId xmlns:a16="http://schemas.microsoft.com/office/drawing/2014/main" val="111000669"/>
                    </a:ext>
                  </a:extLst>
                </a:gridCol>
                <a:gridCol w="1389063">
                  <a:extLst>
                    <a:ext uri="{9D8B030D-6E8A-4147-A177-3AD203B41FA5}">
                      <a16:colId xmlns:a16="http://schemas.microsoft.com/office/drawing/2014/main" val="3366352797"/>
                    </a:ext>
                  </a:extLst>
                </a:gridCol>
                <a:gridCol w="1389063">
                  <a:extLst>
                    <a:ext uri="{9D8B030D-6E8A-4147-A177-3AD203B41FA5}">
                      <a16:colId xmlns:a16="http://schemas.microsoft.com/office/drawing/2014/main" val="581501897"/>
                    </a:ext>
                  </a:extLst>
                </a:gridCol>
                <a:gridCol w="1389063">
                  <a:extLst>
                    <a:ext uri="{9D8B030D-6E8A-4147-A177-3AD203B41FA5}">
                      <a16:colId xmlns:a16="http://schemas.microsoft.com/office/drawing/2014/main" val="2595761735"/>
                    </a:ext>
                  </a:extLst>
                </a:gridCol>
                <a:gridCol w="1389063">
                  <a:extLst>
                    <a:ext uri="{9D8B030D-6E8A-4147-A177-3AD203B41FA5}">
                      <a16:colId xmlns:a16="http://schemas.microsoft.com/office/drawing/2014/main" val="1805393651"/>
                    </a:ext>
                  </a:extLst>
                </a:gridCol>
                <a:gridCol w="1389063">
                  <a:extLst>
                    <a:ext uri="{9D8B030D-6E8A-4147-A177-3AD203B41FA5}">
                      <a16:colId xmlns:a16="http://schemas.microsoft.com/office/drawing/2014/main" val="2137057610"/>
                    </a:ext>
                  </a:extLst>
                </a:gridCol>
                <a:gridCol w="1389063">
                  <a:extLst>
                    <a:ext uri="{9D8B030D-6E8A-4147-A177-3AD203B41FA5}">
                      <a16:colId xmlns:a16="http://schemas.microsoft.com/office/drawing/2014/main" val="2486634918"/>
                    </a:ext>
                  </a:extLst>
                </a:gridCol>
                <a:gridCol w="1389063">
                  <a:extLst>
                    <a:ext uri="{9D8B030D-6E8A-4147-A177-3AD203B41FA5}">
                      <a16:colId xmlns:a16="http://schemas.microsoft.com/office/drawing/2014/main" val="1320927859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70" b="1" spc="0">
                        <a:solidFill>
                          <a:srgbClr val="FFFFFF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8</a:t>
                      </a:r>
                      <a:r>
                        <a:rPr lang="ko-KR" altLang="en-US" sz="87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月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9</a:t>
                      </a:r>
                      <a:r>
                        <a:rPr lang="ko-KR" altLang="en-US" sz="87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月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10</a:t>
                      </a:r>
                      <a:r>
                        <a:rPr lang="ko-KR" altLang="en-US" sz="87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月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11</a:t>
                      </a:r>
                      <a:r>
                        <a:rPr lang="ko-KR" altLang="en-US" sz="87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月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12</a:t>
                      </a:r>
                      <a:r>
                        <a:rPr lang="ko-KR" altLang="en-US" sz="87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月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</a:t>
                      </a:r>
                      <a:r>
                        <a:rPr lang="ko-KR" altLang="en-US" sz="87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月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</a:t>
                      </a:r>
                      <a:r>
                        <a:rPr lang="ko-KR" altLang="en-US" sz="87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月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06337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국취제 수당</a:t>
                      </a: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신청</a:t>
                      </a: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600,000</a:t>
                      </a:r>
                      <a:endParaRPr lang="ko-KR" altLang="en-US" sz="87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600,000</a:t>
                      </a:r>
                      <a:endParaRPr lang="ko-KR" altLang="en-US" sz="87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600,000</a:t>
                      </a:r>
                      <a:endParaRPr lang="ko-KR" altLang="en-US" sz="87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600,000</a:t>
                      </a:r>
                      <a:endParaRPr lang="ko-KR" altLang="en-US" sz="87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600,000</a:t>
                      </a:r>
                      <a:endParaRPr lang="ko-KR" altLang="en-US" sz="87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600,000</a:t>
                      </a:r>
                      <a:endParaRPr lang="ko-KR" altLang="en-US" sz="87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87772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등록금 납부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</a:t>
                      </a:r>
                      <a:r>
                        <a:rPr lang="ko-KR" altLang="en-US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개월 할부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-600,000</a:t>
                      </a:r>
                      <a:endParaRPr lang="ko-KR" altLang="en-US" sz="87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-600,000</a:t>
                      </a:r>
                      <a:endParaRPr lang="ko-KR" altLang="en-US" sz="87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-600,000</a:t>
                      </a:r>
                      <a:endParaRPr lang="ko-KR" altLang="en-US" sz="87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-600,000</a:t>
                      </a:r>
                      <a:endParaRPr lang="ko-KR" altLang="en-US" sz="87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-600,000</a:t>
                      </a:r>
                      <a:endParaRPr lang="ko-KR" altLang="en-US" sz="87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-600,000</a:t>
                      </a:r>
                      <a:endParaRPr lang="ko-KR" altLang="en-US" sz="87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37945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7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월 납부 금액</a:t>
                      </a: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7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0</a:t>
                      </a:r>
                      <a:endParaRPr lang="ko-KR" altLang="en-US" sz="87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0</a:t>
                      </a:r>
                      <a:endParaRPr lang="ko-KR" altLang="en-US" sz="87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0</a:t>
                      </a:r>
                      <a:endParaRPr lang="ko-KR" altLang="en-US" sz="87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0</a:t>
                      </a:r>
                      <a:endParaRPr lang="ko-KR" altLang="en-US" sz="87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0</a:t>
                      </a:r>
                      <a:endParaRPr lang="ko-KR" altLang="en-US" sz="87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7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0</a:t>
                      </a:r>
                      <a:endParaRPr lang="ko-KR" altLang="en-US" sz="87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022520"/>
                  </a:ext>
                </a:extLst>
              </a:tr>
            </a:tbl>
          </a:graphicData>
        </a:graphic>
      </p:graphicFrame>
      <p:graphicFrame>
        <p:nvGraphicFramePr>
          <p:cNvPr id="16" name="S22_Table2">
            <a:extLst>
              <a:ext uri="{FF2B5EF4-FFF2-40B4-BE49-F238E27FC236}">
                <a16:creationId xmlns:a16="http://schemas.microsoft.com/office/drawing/2014/main" id="{B28CD801-1EAA-4ACA-8160-229360E5D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52779"/>
              </p:ext>
            </p:extLst>
          </p:nvPr>
        </p:nvGraphicFramePr>
        <p:xfrm>
          <a:off x="533400" y="3022600"/>
          <a:ext cx="11112500" cy="196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063">
                  <a:extLst>
                    <a:ext uri="{9D8B030D-6E8A-4147-A177-3AD203B41FA5}">
                      <a16:colId xmlns:a16="http://schemas.microsoft.com/office/drawing/2014/main" val="3868659913"/>
                    </a:ext>
                  </a:extLst>
                </a:gridCol>
                <a:gridCol w="1389063">
                  <a:extLst>
                    <a:ext uri="{9D8B030D-6E8A-4147-A177-3AD203B41FA5}">
                      <a16:colId xmlns:a16="http://schemas.microsoft.com/office/drawing/2014/main" val="676224004"/>
                    </a:ext>
                  </a:extLst>
                </a:gridCol>
                <a:gridCol w="1389063">
                  <a:extLst>
                    <a:ext uri="{9D8B030D-6E8A-4147-A177-3AD203B41FA5}">
                      <a16:colId xmlns:a16="http://schemas.microsoft.com/office/drawing/2014/main" val="83772504"/>
                    </a:ext>
                  </a:extLst>
                </a:gridCol>
                <a:gridCol w="1389063">
                  <a:extLst>
                    <a:ext uri="{9D8B030D-6E8A-4147-A177-3AD203B41FA5}">
                      <a16:colId xmlns:a16="http://schemas.microsoft.com/office/drawing/2014/main" val="805516046"/>
                    </a:ext>
                  </a:extLst>
                </a:gridCol>
                <a:gridCol w="1389063">
                  <a:extLst>
                    <a:ext uri="{9D8B030D-6E8A-4147-A177-3AD203B41FA5}">
                      <a16:colId xmlns:a16="http://schemas.microsoft.com/office/drawing/2014/main" val="1247054363"/>
                    </a:ext>
                  </a:extLst>
                </a:gridCol>
                <a:gridCol w="1389063">
                  <a:extLst>
                    <a:ext uri="{9D8B030D-6E8A-4147-A177-3AD203B41FA5}">
                      <a16:colId xmlns:a16="http://schemas.microsoft.com/office/drawing/2014/main" val="458948774"/>
                    </a:ext>
                  </a:extLst>
                </a:gridCol>
                <a:gridCol w="1389063">
                  <a:extLst>
                    <a:ext uri="{9D8B030D-6E8A-4147-A177-3AD203B41FA5}">
                      <a16:colId xmlns:a16="http://schemas.microsoft.com/office/drawing/2014/main" val="201936295"/>
                    </a:ext>
                  </a:extLst>
                </a:gridCol>
                <a:gridCol w="1389063">
                  <a:extLst>
                    <a:ext uri="{9D8B030D-6E8A-4147-A177-3AD203B41FA5}">
                      <a16:colId xmlns:a16="http://schemas.microsoft.com/office/drawing/2014/main" val="85530712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40" b="1" spc="0">
                        <a:solidFill>
                          <a:srgbClr val="FFFFFF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8</a:t>
                      </a:r>
                      <a:r>
                        <a:rPr lang="ko-KR" altLang="en-US" sz="84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月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9</a:t>
                      </a:r>
                      <a:r>
                        <a:rPr lang="ko-KR" altLang="en-US" sz="84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月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10</a:t>
                      </a:r>
                      <a:r>
                        <a:rPr lang="ko-KR" altLang="en-US" sz="84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月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11</a:t>
                      </a:r>
                      <a:r>
                        <a:rPr lang="ko-KR" altLang="en-US" sz="84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月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12</a:t>
                      </a:r>
                      <a:r>
                        <a:rPr lang="ko-KR" altLang="en-US" sz="84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月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</a:t>
                      </a:r>
                      <a:r>
                        <a:rPr lang="ko-KR" altLang="en-US" sz="84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月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12</a:t>
                      </a:r>
                      <a:r>
                        <a:rPr lang="ko-KR" altLang="en-US" sz="840" b="1" spc="0">
                          <a:solidFill>
                            <a:srgbClr val="FFFFFF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月</a:t>
                      </a:r>
                    </a:p>
                  </a:txBody>
                  <a:tcPr marL="25400" marR="25400" marT="12700" marB="12700" anchor="ctr">
                    <a:solidFill>
                      <a:srgbClr val="0646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082855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국취제 수당</a:t>
                      </a: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신청</a:t>
                      </a: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600,000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600,000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600,000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600,000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600,000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600,000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89567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등록금 납부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</a:t>
                      </a:r>
                      <a:r>
                        <a:rPr lang="ko-KR" altLang="en-US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개월 할부</a:t>
                      </a: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-600,000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-600,000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-600,000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-600,000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-600,000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-600,000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322836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자부담금</a:t>
                      </a: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150</a:t>
                      </a:r>
                      <a:r>
                        <a:rPr lang="ko-KR" altLang="en-US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만원 할부</a:t>
                      </a: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250,000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250,000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250,000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250,000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250,000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0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250,000</a:t>
                      </a:r>
                      <a:endParaRPr lang="ko-KR" altLang="en-US" sz="840" b="0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EE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356185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4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월 납부 금액</a:t>
                      </a: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4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250,000</a:t>
                      </a:r>
                      <a:endParaRPr lang="ko-KR" altLang="en-US" sz="84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250,000</a:t>
                      </a:r>
                      <a:endParaRPr lang="ko-KR" altLang="en-US" sz="84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250,000</a:t>
                      </a:r>
                      <a:endParaRPr lang="ko-KR" altLang="en-US" sz="84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250,000</a:t>
                      </a:r>
                      <a:endParaRPr lang="ko-KR" altLang="en-US" sz="84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250,000</a:t>
                      </a:r>
                      <a:endParaRPr lang="ko-KR" altLang="en-US" sz="84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40" b="1" spc="0">
                          <a:solidFill>
                            <a:srgbClr val="1E2B38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250,000</a:t>
                      </a:r>
                      <a:endParaRPr lang="ko-KR" altLang="en-US" sz="840" b="1" spc="0">
                        <a:solidFill>
                          <a:srgbClr val="1E2B38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marL="25400" marR="25400" marT="12700" marB="12700" anchor="ctr">
                    <a:solidFill>
                      <a:srgbClr val="DD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338192"/>
                  </a:ext>
                </a:extLst>
              </a:tr>
            </a:tbl>
          </a:graphicData>
        </a:graphic>
      </p:graphicFrame>
      <p:sp>
        <p:nvSpPr>
          <p:cNvPr id="17" name="S22_Callout1">
            <a:extLst>
              <a:ext uri="{FF2B5EF4-FFF2-40B4-BE49-F238E27FC236}">
                <a16:creationId xmlns:a16="http://schemas.microsoft.com/office/drawing/2014/main" id="{286D4E34-410F-4B7D-927F-369F41E0DA64}"/>
              </a:ext>
            </a:extLst>
          </p:cNvPr>
          <p:cNvSpPr/>
          <p:nvPr/>
        </p:nvSpPr>
        <p:spPr>
          <a:xfrm>
            <a:off x="3517900" y="5181600"/>
            <a:ext cx="5143500" cy="4572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4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카드 무이자 </a:t>
            </a:r>
            <a:r>
              <a:rPr lang="en-US" altLang="ko-KR" sz="14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6</a:t>
            </a:r>
            <a:r>
              <a:rPr lang="ko-KR" altLang="en-US" sz="14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개월 할부</a:t>
            </a:r>
          </a:p>
        </p:txBody>
      </p:sp>
      <p:sp>
        <p:nvSpPr>
          <p:cNvPr id="18" name="S22_Arrow">
            <a:extLst>
              <a:ext uri="{FF2B5EF4-FFF2-40B4-BE49-F238E27FC236}">
                <a16:creationId xmlns:a16="http://schemas.microsoft.com/office/drawing/2014/main" id="{3016B82F-1454-4612-97B5-85F79F3E11F4}"/>
              </a:ext>
            </a:extLst>
          </p:cNvPr>
          <p:cNvSpPr/>
          <p:nvPr/>
        </p:nvSpPr>
        <p:spPr>
          <a:xfrm>
            <a:off x="5867400" y="5689600"/>
            <a:ext cx="444500" cy="152400"/>
          </a:xfrm>
          <a:prstGeom prst="roundRect">
            <a:avLst/>
          </a:prstGeom>
          <a:solidFill>
            <a:srgbClr val="0A4F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S22_Callout2">
            <a:extLst>
              <a:ext uri="{FF2B5EF4-FFF2-40B4-BE49-F238E27FC236}">
                <a16:creationId xmlns:a16="http://schemas.microsoft.com/office/drawing/2014/main" id="{CF997059-6155-49F8-8CE4-0E96BE7146BA}"/>
              </a:ext>
            </a:extLst>
          </p:cNvPr>
          <p:cNvSpPr/>
          <p:nvPr/>
        </p:nvSpPr>
        <p:spPr>
          <a:xfrm>
            <a:off x="2184400" y="5905500"/>
            <a:ext cx="7810500" cy="457200"/>
          </a:xfrm>
          <a:prstGeom prst="roundRect">
            <a:avLst>
              <a:gd name="adj" fmla="val 10000"/>
            </a:avLst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en-US" altLang="ko-KR" sz="1350" b="1" spc="-2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60</a:t>
            </a:r>
            <a:r>
              <a:rPr lang="ko-KR" altLang="en-US" sz="1350" b="1" spc="-2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납부 후 </a:t>
            </a:r>
            <a:r>
              <a:rPr lang="en-US" altLang="ko-KR" sz="1350" b="1" spc="-2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60</a:t>
            </a:r>
            <a:r>
              <a:rPr lang="ko-KR" altLang="en-US" sz="1350" b="1" spc="-2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만원 입금 </a:t>
            </a:r>
            <a:r>
              <a:rPr lang="en-US" altLang="ko-KR" sz="1350" b="1" spc="-2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-&gt; </a:t>
            </a:r>
            <a:r>
              <a:rPr lang="ko-KR" altLang="en-US" sz="1350" b="1" spc="-2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납부금액 </a:t>
            </a:r>
            <a:r>
              <a:rPr lang="en-US" altLang="ko-KR" sz="1350" b="1" spc="-20">
                <a:solidFill>
                  <a:srgbClr val="11111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X</a:t>
            </a:r>
            <a:endParaRPr lang="ko-KR" altLang="en-US" sz="1350" b="1" spc="-20">
              <a:solidFill>
                <a:srgbClr val="11111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133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23_Chapter">
            <a:extLst>
              <a:ext uri="{FF2B5EF4-FFF2-40B4-BE49-F238E27FC236}">
                <a16:creationId xmlns:a16="http://schemas.microsoft.com/office/drawing/2014/main" id="{25EDFFE6-9608-4633-8A5D-1C9D9EA24D50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8" name="S23_Title">
            <a:extLst>
              <a:ext uri="{FF2B5EF4-FFF2-40B4-BE49-F238E27FC236}">
                <a16:creationId xmlns:a16="http://schemas.microsoft.com/office/drawing/2014/main" id="{627C5E9E-719A-48C9-96FC-FAF812B6A0D7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카카오톡 활용</a:t>
            </a:r>
          </a:p>
        </p:txBody>
      </p:sp>
      <p:sp>
        <p:nvSpPr>
          <p:cNvPr id="11" name="S23_PageBadge">
            <a:extLst>
              <a:ext uri="{FF2B5EF4-FFF2-40B4-BE49-F238E27FC236}">
                <a16:creationId xmlns:a16="http://schemas.microsoft.com/office/drawing/2014/main" id="{6BDBFB48-CA22-489B-AB9F-560FD318175F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23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4" name="S23_HeaderRule">
            <a:extLst>
              <a:ext uri="{FF2B5EF4-FFF2-40B4-BE49-F238E27FC236}">
                <a16:creationId xmlns:a16="http://schemas.microsoft.com/office/drawing/2014/main" id="{8C99B02D-8A7C-4877-8D5C-2B23E344084C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23_Image1_Frame">
            <a:extLst>
              <a:ext uri="{FF2B5EF4-FFF2-40B4-BE49-F238E27FC236}">
                <a16:creationId xmlns:a16="http://schemas.microsoft.com/office/drawing/2014/main" id="{BFFAEF21-6D6C-4D77-A44D-6A18DAC80869}"/>
              </a:ext>
            </a:extLst>
          </p:cNvPr>
          <p:cNvSpPr/>
          <p:nvPr/>
        </p:nvSpPr>
        <p:spPr>
          <a:xfrm>
            <a:off x="533400" y="1244600"/>
            <a:ext cx="3479800" cy="44450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S23_Image1">
            <a:extLst>
              <a:ext uri="{FF2B5EF4-FFF2-40B4-BE49-F238E27FC236}">
                <a16:creationId xmlns:a16="http://schemas.microsoft.com/office/drawing/2014/main" id="{4103B994-51BE-46EB-AD28-30688E3FE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597" y="1719582"/>
            <a:ext cx="2003405" cy="3495036"/>
          </a:xfrm>
          <a:prstGeom prst="rect">
            <a:avLst/>
          </a:prstGeom>
        </p:spPr>
      </p:pic>
      <p:sp>
        <p:nvSpPr>
          <p:cNvPr id="20" name="S23_Image2_Frame">
            <a:extLst>
              <a:ext uri="{FF2B5EF4-FFF2-40B4-BE49-F238E27FC236}">
                <a16:creationId xmlns:a16="http://schemas.microsoft.com/office/drawing/2014/main" id="{16D69490-7320-4DA7-8C4E-E7375022C68E}"/>
              </a:ext>
            </a:extLst>
          </p:cNvPr>
          <p:cNvSpPr/>
          <p:nvPr/>
        </p:nvSpPr>
        <p:spPr>
          <a:xfrm>
            <a:off x="4356100" y="1244600"/>
            <a:ext cx="3479800" cy="44450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S23_Image2">
            <a:extLst>
              <a:ext uri="{FF2B5EF4-FFF2-40B4-BE49-F238E27FC236}">
                <a16:creationId xmlns:a16="http://schemas.microsoft.com/office/drawing/2014/main" id="{D3B8E676-170D-4817-BEF0-E3350A0DB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049" y="1719582"/>
            <a:ext cx="2533901" cy="3495035"/>
          </a:xfrm>
          <a:prstGeom prst="rect">
            <a:avLst/>
          </a:prstGeom>
        </p:spPr>
      </p:pic>
      <p:sp>
        <p:nvSpPr>
          <p:cNvPr id="23" name="S23_Image3_Frame">
            <a:extLst>
              <a:ext uri="{FF2B5EF4-FFF2-40B4-BE49-F238E27FC236}">
                <a16:creationId xmlns:a16="http://schemas.microsoft.com/office/drawing/2014/main" id="{53C7609C-49A3-4F33-B136-8E92B57B57D2}"/>
              </a:ext>
            </a:extLst>
          </p:cNvPr>
          <p:cNvSpPr/>
          <p:nvPr/>
        </p:nvSpPr>
        <p:spPr>
          <a:xfrm>
            <a:off x="8178800" y="1244600"/>
            <a:ext cx="3479800" cy="44450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S23_Image3">
            <a:extLst>
              <a:ext uri="{FF2B5EF4-FFF2-40B4-BE49-F238E27FC236}">
                <a16:creationId xmlns:a16="http://schemas.microsoft.com/office/drawing/2014/main" id="{293EAA48-D5CD-4B1B-B70F-4D96889C45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4288" y="1735047"/>
            <a:ext cx="2188825" cy="3464106"/>
          </a:xfrm>
          <a:prstGeom prst="rect">
            <a:avLst/>
          </a:prstGeom>
        </p:spPr>
      </p:pic>
      <p:sp>
        <p:nvSpPr>
          <p:cNvPr id="26" name="S23_Callout">
            <a:extLst>
              <a:ext uri="{FF2B5EF4-FFF2-40B4-BE49-F238E27FC236}">
                <a16:creationId xmlns:a16="http://schemas.microsoft.com/office/drawing/2014/main" id="{8673560A-1DAD-4B7F-86E5-B06CE1FE0BDD}"/>
              </a:ext>
            </a:extLst>
          </p:cNvPr>
          <p:cNvSpPr/>
          <p:nvPr/>
        </p:nvSpPr>
        <p:spPr>
          <a:xfrm>
            <a:off x="3581400" y="5880100"/>
            <a:ext cx="5016500" cy="4445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45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시 카톡 활용</a:t>
            </a:r>
          </a:p>
        </p:txBody>
      </p:sp>
    </p:spTree>
    <p:extLst>
      <p:ext uri="{BB962C8B-B14F-4D97-AF65-F5344CB8AC3E}">
        <p14:creationId xmlns:p14="http://schemas.microsoft.com/office/powerpoint/2010/main" val="2622207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24_Chapter">
            <a:extLst>
              <a:ext uri="{FF2B5EF4-FFF2-40B4-BE49-F238E27FC236}">
                <a16:creationId xmlns:a16="http://schemas.microsoft.com/office/drawing/2014/main" id="{29EDBA7A-83D0-4770-A156-7D662B4ABEA2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9" name="S24_Title">
            <a:extLst>
              <a:ext uri="{FF2B5EF4-FFF2-40B4-BE49-F238E27FC236}">
                <a16:creationId xmlns:a16="http://schemas.microsoft.com/office/drawing/2014/main" id="{573A5603-68CF-4D8F-A170-BE13DE102BDA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기존 수강생 수급내역</a:t>
            </a:r>
          </a:p>
        </p:txBody>
      </p:sp>
      <p:sp>
        <p:nvSpPr>
          <p:cNvPr id="12" name="S24_PageBadge">
            <a:extLst>
              <a:ext uri="{FF2B5EF4-FFF2-40B4-BE49-F238E27FC236}">
                <a16:creationId xmlns:a16="http://schemas.microsoft.com/office/drawing/2014/main" id="{E4B0744A-5774-49DF-9DC7-8ECBE3B1F307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24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5" name="S24_HeaderRule">
            <a:extLst>
              <a:ext uri="{FF2B5EF4-FFF2-40B4-BE49-F238E27FC236}">
                <a16:creationId xmlns:a16="http://schemas.microsoft.com/office/drawing/2014/main" id="{4DA5298E-3CEB-4875-B232-B187EEFD2F63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24_Callout">
            <a:extLst>
              <a:ext uri="{FF2B5EF4-FFF2-40B4-BE49-F238E27FC236}">
                <a16:creationId xmlns:a16="http://schemas.microsoft.com/office/drawing/2014/main" id="{5811E29A-BFBB-4B4E-8172-3C105EBFB622}"/>
              </a:ext>
            </a:extLst>
          </p:cNvPr>
          <p:cNvSpPr/>
          <p:nvPr/>
        </p:nvSpPr>
        <p:spPr>
          <a:xfrm>
            <a:off x="3073400" y="1168400"/>
            <a:ext cx="6032500" cy="4064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35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기존 수강생 수급내역</a:t>
            </a:r>
          </a:p>
        </p:txBody>
      </p:sp>
      <p:sp>
        <p:nvSpPr>
          <p:cNvPr id="20" name="S24_Image1_Frame">
            <a:extLst>
              <a:ext uri="{FF2B5EF4-FFF2-40B4-BE49-F238E27FC236}">
                <a16:creationId xmlns:a16="http://schemas.microsoft.com/office/drawing/2014/main" id="{9AECAD96-0CF1-4C15-A908-30D4D803AE76}"/>
              </a:ext>
            </a:extLst>
          </p:cNvPr>
          <p:cNvSpPr/>
          <p:nvPr/>
        </p:nvSpPr>
        <p:spPr>
          <a:xfrm>
            <a:off x="533400" y="1727200"/>
            <a:ext cx="4953000" cy="41910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S24_Image1">
            <a:extLst>
              <a:ext uri="{FF2B5EF4-FFF2-40B4-BE49-F238E27FC236}">
                <a16:creationId xmlns:a16="http://schemas.microsoft.com/office/drawing/2014/main" id="{EF8B5D79-5C8D-4E47-8D79-11BDBFD84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608" y="2252292"/>
            <a:ext cx="3328584" cy="3140817"/>
          </a:xfrm>
          <a:prstGeom prst="rect">
            <a:avLst/>
          </a:prstGeom>
        </p:spPr>
      </p:pic>
      <p:sp>
        <p:nvSpPr>
          <p:cNvPr id="23" name="S24_Image2_Frame">
            <a:extLst>
              <a:ext uri="{FF2B5EF4-FFF2-40B4-BE49-F238E27FC236}">
                <a16:creationId xmlns:a16="http://schemas.microsoft.com/office/drawing/2014/main" id="{A0B8F311-80F4-493F-B91D-D14A94093D9F}"/>
              </a:ext>
            </a:extLst>
          </p:cNvPr>
          <p:cNvSpPr/>
          <p:nvPr/>
        </p:nvSpPr>
        <p:spPr>
          <a:xfrm>
            <a:off x="5715000" y="1727200"/>
            <a:ext cx="5930900" cy="12065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S24_Image2">
            <a:extLst>
              <a:ext uri="{FF2B5EF4-FFF2-40B4-BE49-F238E27FC236}">
                <a16:creationId xmlns:a16="http://schemas.microsoft.com/office/drawing/2014/main" id="{DAEA5538-B484-4D60-BF3E-1E12595173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572" y="1988757"/>
            <a:ext cx="2477756" cy="683387"/>
          </a:xfrm>
          <a:prstGeom prst="rect">
            <a:avLst/>
          </a:prstGeom>
        </p:spPr>
      </p:pic>
      <p:sp>
        <p:nvSpPr>
          <p:cNvPr id="26" name="S24_Image3_Frame">
            <a:extLst>
              <a:ext uri="{FF2B5EF4-FFF2-40B4-BE49-F238E27FC236}">
                <a16:creationId xmlns:a16="http://schemas.microsoft.com/office/drawing/2014/main" id="{C6FA2521-C432-40CC-9CD2-8B4A650CDC8D}"/>
              </a:ext>
            </a:extLst>
          </p:cNvPr>
          <p:cNvSpPr/>
          <p:nvPr/>
        </p:nvSpPr>
        <p:spPr>
          <a:xfrm>
            <a:off x="5715000" y="3124200"/>
            <a:ext cx="5930900" cy="13335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S24_Image3">
            <a:extLst>
              <a:ext uri="{FF2B5EF4-FFF2-40B4-BE49-F238E27FC236}">
                <a16:creationId xmlns:a16="http://schemas.microsoft.com/office/drawing/2014/main" id="{EE5CF5ED-6A97-483E-A28C-669274E303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963" y="3416435"/>
            <a:ext cx="2404974" cy="749030"/>
          </a:xfrm>
          <a:prstGeom prst="rect">
            <a:avLst/>
          </a:prstGeom>
        </p:spPr>
      </p:pic>
      <p:sp>
        <p:nvSpPr>
          <p:cNvPr id="29" name="S24_Image4_Frame">
            <a:extLst>
              <a:ext uri="{FF2B5EF4-FFF2-40B4-BE49-F238E27FC236}">
                <a16:creationId xmlns:a16="http://schemas.microsoft.com/office/drawing/2014/main" id="{651D8BCA-A4C7-4C8F-A709-6A82BC8090AE}"/>
              </a:ext>
            </a:extLst>
          </p:cNvPr>
          <p:cNvSpPr/>
          <p:nvPr/>
        </p:nvSpPr>
        <p:spPr>
          <a:xfrm>
            <a:off x="5715000" y="4648200"/>
            <a:ext cx="5930900" cy="12700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S24_Image4">
            <a:extLst>
              <a:ext uri="{FF2B5EF4-FFF2-40B4-BE49-F238E27FC236}">
                <a16:creationId xmlns:a16="http://schemas.microsoft.com/office/drawing/2014/main" id="{25C79460-60C9-423C-943A-46463B14D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013" y="4854635"/>
            <a:ext cx="3508875" cy="85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73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25_Chapter">
            <a:extLst>
              <a:ext uri="{FF2B5EF4-FFF2-40B4-BE49-F238E27FC236}">
                <a16:creationId xmlns:a16="http://schemas.microsoft.com/office/drawing/2014/main" id="{B272091D-3CB5-4D6A-B7AC-25DB8209C6DE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8" name="S25_Title">
            <a:extLst>
              <a:ext uri="{FF2B5EF4-FFF2-40B4-BE49-F238E27FC236}">
                <a16:creationId xmlns:a16="http://schemas.microsoft.com/office/drawing/2014/main" id="{30ABC7E7-A860-46DF-ACDA-47D95D64440C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국취제 과정 확대</a:t>
            </a:r>
          </a:p>
        </p:txBody>
      </p:sp>
      <p:sp>
        <p:nvSpPr>
          <p:cNvPr id="11" name="S25_PageBadge">
            <a:extLst>
              <a:ext uri="{FF2B5EF4-FFF2-40B4-BE49-F238E27FC236}">
                <a16:creationId xmlns:a16="http://schemas.microsoft.com/office/drawing/2014/main" id="{AB6D863E-3314-4E28-8D56-06AD69116C90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25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5" name="S25_HeaderRule">
            <a:extLst>
              <a:ext uri="{FF2B5EF4-FFF2-40B4-BE49-F238E27FC236}">
                <a16:creationId xmlns:a16="http://schemas.microsoft.com/office/drawing/2014/main" id="{560AD291-E083-40A1-A36A-EC9190E7593A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25_Image1_Frame">
            <a:extLst>
              <a:ext uri="{FF2B5EF4-FFF2-40B4-BE49-F238E27FC236}">
                <a16:creationId xmlns:a16="http://schemas.microsoft.com/office/drawing/2014/main" id="{6BA014D0-6AFD-4F3A-82C2-F7C13903D544}"/>
              </a:ext>
            </a:extLst>
          </p:cNvPr>
          <p:cNvSpPr/>
          <p:nvPr/>
        </p:nvSpPr>
        <p:spPr>
          <a:xfrm>
            <a:off x="533400" y="1244600"/>
            <a:ext cx="5397500" cy="40894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S25_Image1">
            <a:extLst>
              <a:ext uri="{FF2B5EF4-FFF2-40B4-BE49-F238E27FC236}">
                <a16:creationId xmlns:a16="http://schemas.microsoft.com/office/drawing/2014/main" id="{394EA849-C51A-450A-9091-54C219203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818" y="1974099"/>
            <a:ext cx="3972665" cy="2630402"/>
          </a:xfrm>
          <a:prstGeom prst="rect">
            <a:avLst/>
          </a:prstGeom>
        </p:spPr>
      </p:pic>
      <p:sp>
        <p:nvSpPr>
          <p:cNvPr id="19" name="S25_Image2_Frame">
            <a:extLst>
              <a:ext uri="{FF2B5EF4-FFF2-40B4-BE49-F238E27FC236}">
                <a16:creationId xmlns:a16="http://schemas.microsoft.com/office/drawing/2014/main" id="{7CF509C0-4AEC-4A74-9CFF-C9DFC99F43AF}"/>
              </a:ext>
            </a:extLst>
          </p:cNvPr>
          <p:cNvSpPr/>
          <p:nvPr/>
        </p:nvSpPr>
        <p:spPr>
          <a:xfrm>
            <a:off x="6248400" y="1244600"/>
            <a:ext cx="5397500" cy="40894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S25_Image2">
            <a:extLst>
              <a:ext uri="{FF2B5EF4-FFF2-40B4-BE49-F238E27FC236}">
                <a16:creationId xmlns:a16="http://schemas.microsoft.com/office/drawing/2014/main" id="{46F7E523-E140-49F9-B156-87AD007077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533" y="1777256"/>
            <a:ext cx="2813234" cy="3024088"/>
          </a:xfrm>
          <a:prstGeom prst="rect">
            <a:avLst/>
          </a:prstGeom>
        </p:spPr>
      </p:pic>
      <p:sp>
        <p:nvSpPr>
          <p:cNvPr id="22" name="S25_Callout1">
            <a:extLst>
              <a:ext uri="{FF2B5EF4-FFF2-40B4-BE49-F238E27FC236}">
                <a16:creationId xmlns:a16="http://schemas.microsoft.com/office/drawing/2014/main" id="{FEA05A90-08E4-47D1-AD9D-47FEDD0D80E3}"/>
              </a:ext>
            </a:extLst>
          </p:cNvPr>
          <p:cNvSpPr/>
          <p:nvPr/>
        </p:nvSpPr>
        <p:spPr>
          <a:xfrm>
            <a:off x="533400" y="5562600"/>
            <a:ext cx="5397500" cy="609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4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단순 컴활 취업 </a:t>
            </a:r>
            <a:r>
              <a:rPr lang="en-US" altLang="ko-KR" sz="14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-&gt; </a:t>
            </a:r>
            <a:r>
              <a:rPr lang="ko-KR" altLang="en-US" sz="14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정규 확장</a:t>
            </a:r>
          </a:p>
        </p:txBody>
      </p:sp>
      <p:sp>
        <p:nvSpPr>
          <p:cNvPr id="23" name="S25_Callout2">
            <a:extLst>
              <a:ext uri="{FF2B5EF4-FFF2-40B4-BE49-F238E27FC236}">
                <a16:creationId xmlns:a16="http://schemas.microsoft.com/office/drawing/2014/main" id="{3ABC49AF-38DE-4B3A-9186-467AE8A03A5A}"/>
              </a:ext>
            </a:extLst>
          </p:cNvPr>
          <p:cNvSpPr/>
          <p:nvPr/>
        </p:nvSpPr>
        <p:spPr>
          <a:xfrm>
            <a:off x="6248400" y="5562600"/>
            <a:ext cx="5397500" cy="609600"/>
          </a:xfrm>
          <a:prstGeom prst="roundRect">
            <a:avLst>
              <a:gd name="adj" fmla="val 10000"/>
            </a:avLst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4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사무직</a:t>
            </a:r>
            <a:r>
              <a:rPr lang="en-US" altLang="ko-KR" sz="14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? -&gt; </a:t>
            </a:r>
            <a:r>
              <a:rPr lang="ko-KR" altLang="en-US" sz="14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경리 </a:t>
            </a:r>
            <a:r>
              <a:rPr lang="en-US" altLang="ko-KR" sz="14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or </a:t>
            </a:r>
            <a:r>
              <a:rPr lang="ko-KR" altLang="en-US" sz="14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마케팅</a:t>
            </a:r>
          </a:p>
        </p:txBody>
      </p:sp>
    </p:spTree>
    <p:extLst>
      <p:ext uri="{BB962C8B-B14F-4D97-AF65-F5344CB8AC3E}">
        <p14:creationId xmlns:p14="http://schemas.microsoft.com/office/powerpoint/2010/main" val="64220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26_Chapter">
            <a:extLst>
              <a:ext uri="{FF2B5EF4-FFF2-40B4-BE49-F238E27FC236}">
                <a16:creationId xmlns:a16="http://schemas.microsoft.com/office/drawing/2014/main" id="{5870C3B2-8B9B-4F51-BDDF-D1826D44F528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8" name="S26_Title">
            <a:extLst>
              <a:ext uri="{FF2B5EF4-FFF2-40B4-BE49-F238E27FC236}">
                <a16:creationId xmlns:a16="http://schemas.microsoft.com/office/drawing/2014/main" id="{A182580A-8639-4D3A-A5B4-BFE62D719501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대상자가 아닐 때</a:t>
            </a:r>
          </a:p>
        </p:txBody>
      </p:sp>
      <p:sp>
        <p:nvSpPr>
          <p:cNvPr id="11" name="S26_PageBadge">
            <a:extLst>
              <a:ext uri="{FF2B5EF4-FFF2-40B4-BE49-F238E27FC236}">
                <a16:creationId xmlns:a16="http://schemas.microsoft.com/office/drawing/2014/main" id="{DC383D93-20E1-42EE-9540-18E6FC8118A7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26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4" name="S26_HeaderRule">
            <a:extLst>
              <a:ext uri="{FF2B5EF4-FFF2-40B4-BE49-F238E27FC236}">
                <a16:creationId xmlns:a16="http://schemas.microsoft.com/office/drawing/2014/main" id="{EC45A9A3-2998-435C-AF9D-E99FDE8829A1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26_Image1_Frame">
            <a:extLst>
              <a:ext uri="{FF2B5EF4-FFF2-40B4-BE49-F238E27FC236}">
                <a16:creationId xmlns:a16="http://schemas.microsoft.com/office/drawing/2014/main" id="{9A0BBAC0-1096-484C-A159-19E1670E00D6}"/>
              </a:ext>
            </a:extLst>
          </p:cNvPr>
          <p:cNvSpPr/>
          <p:nvPr/>
        </p:nvSpPr>
        <p:spPr>
          <a:xfrm>
            <a:off x="533400" y="1244600"/>
            <a:ext cx="5397500" cy="34798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S26_Image1">
            <a:extLst>
              <a:ext uri="{FF2B5EF4-FFF2-40B4-BE49-F238E27FC236}">
                <a16:creationId xmlns:a16="http://schemas.microsoft.com/office/drawing/2014/main" id="{3224CECE-4735-494E-A4F5-CC9E644EF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385" y="1809180"/>
            <a:ext cx="2809529" cy="2350639"/>
          </a:xfrm>
          <a:prstGeom prst="rect">
            <a:avLst/>
          </a:prstGeom>
        </p:spPr>
      </p:pic>
      <p:sp>
        <p:nvSpPr>
          <p:cNvPr id="21" name="S26_Image2_Frame">
            <a:extLst>
              <a:ext uri="{FF2B5EF4-FFF2-40B4-BE49-F238E27FC236}">
                <a16:creationId xmlns:a16="http://schemas.microsoft.com/office/drawing/2014/main" id="{6AEBE557-4D9F-4DEB-991E-18DD347C41AC}"/>
              </a:ext>
            </a:extLst>
          </p:cNvPr>
          <p:cNvSpPr/>
          <p:nvPr/>
        </p:nvSpPr>
        <p:spPr>
          <a:xfrm>
            <a:off x="6248400" y="1244600"/>
            <a:ext cx="5397500" cy="16256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S26_Image2">
            <a:extLst>
              <a:ext uri="{FF2B5EF4-FFF2-40B4-BE49-F238E27FC236}">
                <a16:creationId xmlns:a16="http://schemas.microsoft.com/office/drawing/2014/main" id="{3BD2C010-09BE-4534-901F-2B6B15C54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941" y="1446657"/>
            <a:ext cx="3240418" cy="1221486"/>
          </a:xfrm>
          <a:prstGeom prst="rect">
            <a:avLst/>
          </a:prstGeom>
        </p:spPr>
      </p:pic>
      <p:sp>
        <p:nvSpPr>
          <p:cNvPr id="24" name="S26_Image3_Frame">
            <a:extLst>
              <a:ext uri="{FF2B5EF4-FFF2-40B4-BE49-F238E27FC236}">
                <a16:creationId xmlns:a16="http://schemas.microsoft.com/office/drawing/2014/main" id="{CECC3620-64D0-4232-BA9D-B6E5D325F8EB}"/>
              </a:ext>
            </a:extLst>
          </p:cNvPr>
          <p:cNvSpPr/>
          <p:nvPr/>
        </p:nvSpPr>
        <p:spPr>
          <a:xfrm>
            <a:off x="6248400" y="3098800"/>
            <a:ext cx="5397500" cy="16256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S26_Image3">
            <a:extLst>
              <a:ext uri="{FF2B5EF4-FFF2-40B4-BE49-F238E27FC236}">
                <a16:creationId xmlns:a16="http://schemas.microsoft.com/office/drawing/2014/main" id="{4E38CAEE-E8D0-496E-AE41-9CD6003903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336" y="3552230"/>
            <a:ext cx="545629" cy="718740"/>
          </a:xfrm>
          <a:prstGeom prst="rect">
            <a:avLst/>
          </a:prstGeom>
        </p:spPr>
      </p:pic>
      <p:sp>
        <p:nvSpPr>
          <p:cNvPr id="27" name="S26_Callout1">
            <a:extLst>
              <a:ext uri="{FF2B5EF4-FFF2-40B4-BE49-F238E27FC236}">
                <a16:creationId xmlns:a16="http://schemas.microsoft.com/office/drawing/2014/main" id="{96FE0759-BEFF-46DE-B19E-843F320A388D}"/>
              </a:ext>
            </a:extLst>
          </p:cNvPr>
          <p:cNvSpPr/>
          <p:nvPr/>
        </p:nvSpPr>
        <p:spPr>
          <a:xfrm>
            <a:off x="533400" y="5016500"/>
            <a:ext cx="5397500" cy="10541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5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휴학생은 국비 불가
교육청 지원</a:t>
            </a:r>
            <a:r>
              <a:rPr lang="en-US" altLang="ko-KR" sz="15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5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할인</a:t>
            </a:r>
            <a:r>
              <a:rPr lang="en-US" altLang="ko-KR" sz="15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) </a:t>
            </a:r>
            <a:r>
              <a:rPr lang="ko-KR" altLang="en-US" sz="15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가능</a:t>
            </a:r>
          </a:p>
        </p:txBody>
      </p:sp>
      <p:sp>
        <p:nvSpPr>
          <p:cNvPr id="28" name="S26_Callout2">
            <a:extLst>
              <a:ext uri="{FF2B5EF4-FFF2-40B4-BE49-F238E27FC236}">
                <a16:creationId xmlns:a16="http://schemas.microsoft.com/office/drawing/2014/main" id="{2D1518C2-2A95-4F62-AEA0-4C0BC0AEAD29}"/>
              </a:ext>
            </a:extLst>
          </p:cNvPr>
          <p:cNvSpPr/>
          <p:nvPr/>
        </p:nvSpPr>
        <p:spPr>
          <a:xfrm>
            <a:off x="6248400" y="5016500"/>
            <a:ext cx="5397500" cy="1054100"/>
          </a:xfrm>
          <a:prstGeom prst="roundRect">
            <a:avLst>
              <a:gd name="adj" fmla="val 10000"/>
            </a:avLst>
          </a:prstGeom>
          <a:solidFill>
            <a:srgbClr val="FFF5D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60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자퇴를 권하지 말 것</a:t>
            </a:r>
            <a:r>
              <a:rPr lang="en-US" altLang="ko-KR" sz="1600" b="1" spc="-20">
                <a:solidFill>
                  <a:srgbClr val="9A3D2E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!</a:t>
            </a:r>
            <a:endParaRPr lang="ko-KR" altLang="en-US" sz="1600" b="1" spc="-20">
              <a:solidFill>
                <a:srgbClr val="9A3D2E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08052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27_Chapter">
            <a:extLst>
              <a:ext uri="{FF2B5EF4-FFF2-40B4-BE49-F238E27FC236}">
                <a16:creationId xmlns:a16="http://schemas.microsoft.com/office/drawing/2014/main" id="{009A1A4E-5F69-46C2-8EE5-9FF6C0E21E2E}"/>
              </a:ext>
            </a:extLst>
          </p:cNvPr>
          <p:cNvSpPr txBox="1"/>
          <p:nvPr/>
        </p:nvSpPr>
        <p:spPr>
          <a:xfrm>
            <a:off x="533400" y="1016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CHAPTER 3. </a:t>
            </a:r>
            <a:r>
              <a:rPr lang="ko-KR" altLang="en-US" sz="850" b="1" spc="-35">
                <a:solidFill>
                  <a:srgbClr val="8AA6C7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상담 스피치</a:t>
            </a:r>
          </a:p>
        </p:txBody>
      </p:sp>
      <p:sp>
        <p:nvSpPr>
          <p:cNvPr id="8" name="S27_Title">
            <a:extLst>
              <a:ext uri="{FF2B5EF4-FFF2-40B4-BE49-F238E27FC236}">
                <a16:creationId xmlns:a16="http://schemas.microsoft.com/office/drawing/2014/main" id="{E5FCE2E0-2FAD-426D-8BA2-6B08733689D4}"/>
              </a:ext>
            </a:extLst>
          </p:cNvPr>
          <p:cNvSpPr txBox="1"/>
          <p:nvPr/>
        </p:nvSpPr>
        <p:spPr>
          <a:xfrm>
            <a:off x="533400" y="381000"/>
            <a:ext cx="10160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 altLang="en-US" sz="2700" b="1" spc="-10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국취제 할인율</a:t>
            </a:r>
          </a:p>
        </p:txBody>
      </p:sp>
      <p:sp>
        <p:nvSpPr>
          <p:cNvPr id="11" name="S27_PageBadge">
            <a:extLst>
              <a:ext uri="{FF2B5EF4-FFF2-40B4-BE49-F238E27FC236}">
                <a16:creationId xmlns:a16="http://schemas.microsoft.com/office/drawing/2014/main" id="{D1768CFA-59D4-4343-96C2-C7625019C88B}"/>
              </a:ext>
            </a:extLst>
          </p:cNvPr>
          <p:cNvSpPr/>
          <p:nvPr/>
        </p:nvSpPr>
        <p:spPr>
          <a:xfrm>
            <a:off x="11188700" y="355600"/>
            <a:ext cx="431800" cy="355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6350">
            <a:solidFill>
              <a:srgbClr val="DDF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000" b="1">
                <a:solidFill>
                  <a:srgbClr val="0A4F99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27</a:t>
            </a:r>
            <a:endParaRPr lang="ko-KR" altLang="en-US" sz="1000" b="1">
              <a:solidFill>
                <a:srgbClr val="0A4F99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5" name="S27_HeaderRule">
            <a:extLst>
              <a:ext uri="{FF2B5EF4-FFF2-40B4-BE49-F238E27FC236}">
                <a16:creationId xmlns:a16="http://schemas.microsoft.com/office/drawing/2014/main" id="{6CE18B91-BA53-40C0-9966-C2D117AD5821}"/>
              </a:ext>
            </a:extLst>
          </p:cNvPr>
          <p:cNvCxnSpPr/>
          <p:nvPr/>
        </p:nvCxnSpPr>
        <p:spPr>
          <a:xfrm>
            <a:off x="546100" y="1016000"/>
            <a:ext cx="11099800" cy="0"/>
          </a:xfrm>
          <a:prstGeom prst="line">
            <a:avLst/>
          </a:prstGeom>
          <a:ln w="17780">
            <a:solidFill>
              <a:srgbClr val="0A4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27_Image1_Frame">
            <a:extLst>
              <a:ext uri="{FF2B5EF4-FFF2-40B4-BE49-F238E27FC236}">
                <a16:creationId xmlns:a16="http://schemas.microsoft.com/office/drawing/2014/main" id="{500C4CA2-5AFC-4224-AC39-79F1DCAF399F}"/>
              </a:ext>
            </a:extLst>
          </p:cNvPr>
          <p:cNvSpPr/>
          <p:nvPr/>
        </p:nvSpPr>
        <p:spPr>
          <a:xfrm>
            <a:off x="533400" y="1244600"/>
            <a:ext cx="5397500" cy="40894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S27_Image1">
            <a:extLst>
              <a:ext uri="{FF2B5EF4-FFF2-40B4-BE49-F238E27FC236}">
                <a16:creationId xmlns:a16="http://schemas.microsoft.com/office/drawing/2014/main" id="{D8410B64-94E0-4C14-A7AC-A500C384E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141" y="1875811"/>
            <a:ext cx="2376019" cy="2826978"/>
          </a:xfrm>
          <a:prstGeom prst="rect">
            <a:avLst/>
          </a:prstGeom>
        </p:spPr>
      </p:pic>
      <p:sp>
        <p:nvSpPr>
          <p:cNvPr id="19" name="S27_Image2_Frame">
            <a:extLst>
              <a:ext uri="{FF2B5EF4-FFF2-40B4-BE49-F238E27FC236}">
                <a16:creationId xmlns:a16="http://schemas.microsoft.com/office/drawing/2014/main" id="{A8A92432-4307-4DFD-A50A-9FC730D974B8}"/>
              </a:ext>
            </a:extLst>
          </p:cNvPr>
          <p:cNvSpPr/>
          <p:nvPr/>
        </p:nvSpPr>
        <p:spPr>
          <a:xfrm>
            <a:off x="6248400" y="1244600"/>
            <a:ext cx="5397500" cy="4089400"/>
          </a:xfrm>
          <a:prstGeom prst="roundRect">
            <a:avLst>
              <a:gd name="adj" fmla="val 10000"/>
            </a:avLst>
          </a:prstGeom>
          <a:solidFill>
            <a:srgbClr val="F8FBFE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S27_Image2">
            <a:extLst>
              <a:ext uri="{FF2B5EF4-FFF2-40B4-BE49-F238E27FC236}">
                <a16:creationId xmlns:a16="http://schemas.microsoft.com/office/drawing/2014/main" id="{D29861FD-5BDB-4F81-9EAC-B4A0A8F63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631" y="1466149"/>
            <a:ext cx="3735038" cy="3646301"/>
          </a:xfrm>
          <a:prstGeom prst="rect">
            <a:avLst/>
          </a:prstGeom>
        </p:spPr>
      </p:pic>
      <p:sp>
        <p:nvSpPr>
          <p:cNvPr id="22" name="S27_Callout1">
            <a:extLst>
              <a:ext uri="{FF2B5EF4-FFF2-40B4-BE49-F238E27FC236}">
                <a16:creationId xmlns:a16="http://schemas.microsoft.com/office/drawing/2014/main" id="{1E1B2C88-8F4F-4289-B500-06EE722FF154}"/>
              </a:ext>
            </a:extLst>
          </p:cNvPr>
          <p:cNvSpPr/>
          <p:nvPr/>
        </p:nvSpPr>
        <p:spPr>
          <a:xfrm>
            <a:off x="533400" y="5562600"/>
            <a:ext cx="5397500" cy="609600"/>
          </a:xfrm>
          <a:prstGeom prst="roundRect">
            <a:avLst>
              <a:gd name="adj" fmla="val 10000"/>
            </a:avLst>
          </a:prstGeom>
          <a:solidFill>
            <a:srgbClr val="DDF0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5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국취제 </a:t>
            </a:r>
            <a:r>
              <a:rPr lang="en-US" altLang="ko-KR" sz="15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= </a:t>
            </a:r>
            <a:r>
              <a:rPr lang="ko-KR" altLang="en-US" sz="150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할인</a:t>
            </a:r>
          </a:p>
        </p:txBody>
      </p:sp>
      <p:sp>
        <p:nvSpPr>
          <p:cNvPr id="23" name="S27_Callout2">
            <a:extLst>
              <a:ext uri="{FF2B5EF4-FFF2-40B4-BE49-F238E27FC236}">
                <a16:creationId xmlns:a16="http://schemas.microsoft.com/office/drawing/2014/main" id="{074BF170-7B96-40C1-9680-98F8A3C458AF}"/>
              </a:ext>
            </a:extLst>
          </p:cNvPr>
          <p:cNvSpPr/>
          <p:nvPr/>
        </p:nvSpPr>
        <p:spPr>
          <a:xfrm>
            <a:off x="6248400" y="5562600"/>
            <a:ext cx="5397500" cy="609600"/>
          </a:xfrm>
          <a:prstGeom prst="roundRect">
            <a:avLst>
              <a:gd name="adj" fmla="val 10000"/>
            </a:avLst>
          </a:prstGeom>
          <a:solidFill>
            <a:srgbClr val="EEF7FF"/>
          </a:solidFill>
          <a:ln w="12700">
            <a:solidFill>
              <a:srgbClr val="B9D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65100" tIns="76200" rIns="139700" bIns="76200" rtlCol="0" anchor="ctr">
            <a:noAutofit/>
          </a:bodyPr>
          <a:lstStyle/>
          <a:p>
            <a:pPr algn="ctr"/>
            <a:r>
              <a:rPr lang="ko-KR" altLang="en-US" sz="145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국비지원은 할인이 필수가 아니다</a:t>
            </a:r>
            <a:r>
              <a:rPr lang="en-US" altLang="ko-KR" sz="1450" b="1" spc="-20">
                <a:solidFill>
                  <a:srgbClr val="0A356A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!</a:t>
            </a:r>
            <a:endParaRPr lang="ko-KR" altLang="en-US" sz="1450" b="1" spc="-20">
              <a:solidFill>
                <a:srgbClr val="0A356A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1669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721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68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9722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04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100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709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1554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495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연휴 끝, 새 시작! » ZEROWEB HiStory – 제로웹 기업 블로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1605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530744E8-56C7-4C96-8641-8F39C132F0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0" t="6354" r="3400" b="88141"/>
          <a:stretch/>
        </p:blipFill>
        <p:spPr>
          <a:xfrm>
            <a:off x="5404117" y="2801256"/>
            <a:ext cx="1383765" cy="571278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15" y="1459684"/>
            <a:ext cx="4348589" cy="475419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9213" y="1459684"/>
            <a:ext cx="4485087" cy="475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074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530744E8-56C7-4C96-8641-8F39C132F0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0" t="6354" r="3400" b="88141"/>
          <a:stretch/>
        </p:blipFill>
        <p:spPr>
          <a:xfrm>
            <a:off x="5404117" y="2801256"/>
            <a:ext cx="1383765" cy="57127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1600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718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754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699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721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063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230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8570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144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0131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054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092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530744E8-56C7-4C96-8641-8F39C132F0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0" t="6354" r="3400" b="88141"/>
          <a:stretch/>
        </p:blipFill>
        <p:spPr>
          <a:xfrm>
            <a:off x="5404117" y="2801256"/>
            <a:ext cx="1383765" cy="57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02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27223</TotalTime>
  <Words>2995</Words>
  <Application>Microsoft Office PowerPoint</Application>
  <PresentationFormat>와이드스크린</PresentationFormat>
  <Paragraphs>399</Paragraphs>
  <Slides>50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SBS</cp:lastModifiedBy>
  <cp:revision>812</cp:revision>
  <cp:lastPrinted>2022-04-15T16:16:33Z</cp:lastPrinted>
  <dcterms:created xsi:type="dcterms:W3CDTF">2021-05-13T05:12:36Z</dcterms:created>
  <dcterms:modified xsi:type="dcterms:W3CDTF">2026-08-21T06:00:46Z</dcterms:modified>
</cp:coreProperties>
</file>