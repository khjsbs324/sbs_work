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23" r:id="rId2"/>
    <p:sldId id="272" r:id="rId3"/>
    <p:sldId id="363" r:id="rId4"/>
    <p:sldId id="403" r:id="rId58"/>
    <p:sldId id="364" r:id="rId5"/>
    <p:sldId id="404" r:id="rId59"/>
    <p:sldId id="405" r:id="rId60"/>
    <p:sldId id="406" r:id="rId61"/>
    <p:sldId id="325" r:id="rId6"/>
    <p:sldId id="407" r:id="rId62"/>
    <p:sldId id="369" r:id="rId7"/>
    <p:sldId id="408" r:id="rId63"/>
    <p:sldId id="368" r:id="rId8"/>
    <p:sldId id="409" r:id="rId64"/>
    <p:sldId id="365" r:id="rId9"/>
    <p:sldId id="410" r:id="rId65"/>
    <p:sldId id="380" r:id="rId10"/>
    <p:sldId id="411" r:id="rId66"/>
    <p:sldId id="366" r:id="rId11"/>
    <p:sldId id="412" r:id="rId67"/>
    <p:sldId id="413" r:id="rId68"/>
    <p:sldId id="346" r:id="rId12"/>
    <p:sldId id="414" r:id="rId69"/>
    <p:sldId id="415" r:id="rId70"/>
    <p:sldId id="376" r:id="rId13"/>
    <p:sldId id="416" r:id="rId71"/>
    <p:sldId id="377" r:id="rId14"/>
    <p:sldId id="417" r:id="rId72"/>
    <p:sldId id="374" r:id="rId15"/>
    <p:sldId id="418" r:id="rId73"/>
    <p:sldId id="419" r:id="rId74"/>
    <p:sldId id="375" r:id="rId16"/>
    <p:sldId id="420" r:id="rId75"/>
    <p:sldId id="421" r:id="rId76"/>
    <p:sldId id="370" r:id="rId17"/>
    <p:sldId id="422" r:id="rId77"/>
    <p:sldId id="367" r:id="rId18"/>
    <p:sldId id="347" r:id="rId19"/>
    <p:sldId id="423" r:id="rId78"/>
    <p:sldId id="424" r:id="rId79"/>
    <p:sldId id="425" r:id="rId80"/>
    <p:sldId id="426" r:id="rId81"/>
    <p:sldId id="427" r:id="rId82"/>
    <p:sldId id="348" r:id="rId20"/>
    <p:sldId id="428" r:id="rId83"/>
    <p:sldId id="429" r:id="rId84"/>
    <p:sldId id="430" r:id="rId85"/>
    <p:sldId id="431" r:id="rId86"/>
    <p:sldId id="360" r:id="rId21"/>
    <p:sldId id="432" r:id="rId87"/>
    <p:sldId id="350" r:id="rId22"/>
    <p:sldId id="433" r:id="rId88"/>
    <p:sldId id="434" r:id="rId89"/>
    <p:sldId id="435" r:id="rId90"/>
    <p:sldId id="436" r:id="rId91"/>
    <p:sldId id="437" r:id="rId92"/>
    <p:sldId id="353" r:id="rId23"/>
    <p:sldId id="438" r:id="rId93"/>
    <p:sldId id="326" r:id="rId24"/>
    <p:sldId id="439" r:id="rId94"/>
    <p:sldId id="440" r:id="rId95"/>
    <p:sldId id="441" r:id="rId96"/>
    <p:sldId id="352" r:id="rId25"/>
    <p:sldId id="442" r:id="rId97"/>
    <p:sldId id="443" r:id="rId98"/>
    <p:sldId id="444" r:id="rId99"/>
    <p:sldId id="445" r:id="rId100"/>
    <p:sldId id="343" r:id="rId26"/>
    <p:sldId id="446" r:id="rId101"/>
    <p:sldId id="447" r:id="rId102"/>
    <p:sldId id="344" r:id="rId27"/>
    <p:sldId id="448" r:id="rId103"/>
    <p:sldId id="449" r:id="rId104"/>
    <p:sldId id="450" r:id="rId105"/>
    <p:sldId id="345" r:id="rId28"/>
    <p:sldId id="451" r:id="rId106"/>
    <p:sldId id="452" r:id="rId107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389" r:id="rId37"/>
    <p:sldId id="269" r:id="rId38"/>
    <p:sldId id="391" r:id="rId39"/>
    <p:sldId id="392" r:id="rId40"/>
    <p:sldId id="393" r:id="rId41"/>
    <p:sldId id="394" r:id="rId42"/>
    <p:sldId id="395" r:id="rId43"/>
    <p:sldId id="396" r:id="rId44"/>
    <p:sldId id="397" r:id="rId45"/>
    <p:sldId id="398" r:id="rId46"/>
    <p:sldId id="399" r:id="rId47"/>
    <p:sldId id="400" r:id="rId48"/>
    <p:sldId id="401" r:id="rId49"/>
    <p:sldId id="402" r:id="rId50"/>
    <p:sldId id="390" r:id="rId51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7B87"/>
    <a:srgbClr val="D9D9D9"/>
    <a:srgbClr val="FFFFFF"/>
    <a:srgbClr val="282828"/>
    <a:srgbClr val="000E74"/>
    <a:srgbClr val="21B1A4"/>
    <a:srgbClr val="595959"/>
    <a:srgbClr val="A9D18E"/>
    <a:srgbClr val="203864"/>
    <a:srgbClr val="1C98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053BCB10-224D-45EA-A70F-21E4F07F0E6B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EC2180A1-0950-4FD7-B841-6AA1F22F9B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574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B91D9E88-D975-4BCF-A84A-2E3895983E9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83307"/>
            <a:ext cx="5445760" cy="3913614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494AF622-1872-4085-BF23-7BAFAEA08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72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A10577FD-D4C8-4CC3-876E-D735E7FB7C48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0713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FE99-345C-4F31-8F31-E93DD3AC1919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828309" y="6472463"/>
            <a:ext cx="3349171" cy="363764"/>
          </a:xfrm>
        </p:spPr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18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70A9-C6B6-4C07-BECE-DE40A2457EA2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70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D875-B3E9-4F45-B2DE-C809E7BFF002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32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D140-85C8-44B1-8F0B-5DEC1B6D8EA7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265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5A25-2B9B-44B7-BF58-27B8D3FCAB2D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92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12C-61C6-4BA5-92AF-B961D6FB9AF2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61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6A1B4-5C7A-4C8D-BCF6-C374BB2991AF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05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A3E5-5AAB-4969-BC2C-11A69DBE5B00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229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D6B8A-FCE2-40C5-BBAD-10BB42FC8098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90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67E7-EA4B-4E8D-9F9B-611B60547ECB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768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770-7FC1-4664-957B-8B858EFE0CB5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1844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8E9B0-B330-4921-A533-4FBCB68B8805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13801" y="6472464"/>
            <a:ext cx="3349171" cy="363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31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8.jp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530744E8-56C7-4C96-8641-8F39C132F0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0" t="6354" r="3400" b="88141"/>
          <a:stretch/>
        </p:blipFill>
        <p:spPr>
          <a:xfrm>
            <a:off x="5404117" y="2801256"/>
            <a:ext cx="1383765" cy="57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62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125507-D1E4-4C24-861D-835FDB94E268}"/>
              </a:ext>
            </a:extLst>
          </p:cNvPr>
          <p:cNvSpPr txBox="1"/>
          <p:nvPr/>
        </p:nvSpPr>
        <p:spPr>
          <a:xfrm>
            <a:off x="533400" y="101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40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CONTENTS</a:t>
            </a:r>
            <a:endParaRPr lang="ko-KR" altLang="en-US" sz="850" b="1" spc="-40">
              <a:solidFill>
                <a:srgbClr val="8AA6C7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F67689-A723-4185-A90A-A1FCB8036476}"/>
              </a:ext>
            </a:extLst>
          </p:cNvPr>
          <p:cNvSpPr txBox="1"/>
          <p:nvPr/>
        </p:nvSpPr>
        <p:spPr>
          <a:xfrm>
            <a:off x="533400" y="381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1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컨택</a:t>
            </a:r>
            <a:r>
              <a:rPr lang="en-US" altLang="ko-KR" sz="2700" b="1" spc="-11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&amp;</a:t>
            </a:r>
            <a:r>
              <a:rPr lang="ko-KR" altLang="en-US" sz="2700" b="1" spc="-11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노하우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0E2F383-96B4-456F-88F5-CE0AF8180DC8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F58C6D6F-BB0A-48BD-AC9E-70EFE1A07475}"/>
              </a:ext>
            </a:extLst>
          </p:cNvPr>
          <p:cNvCxnSpPr/>
          <p:nvPr/>
        </p:nvCxnSpPr>
        <p:spPr>
          <a:xfrm>
            <a:off x="2527300" y="2108200"/>
            <a:ext cx="3048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9ABB29F-E613-4BFC-B8D7-2E07FA983541}"/>
              </a:ext>
            </a:extLst>
          </p:cNvPr>
          <p:cNvCxnSpPr/>
          <p:nvPr/>
        </p:nvCxnSpPr>
        <p:spPr>
          <a:xfrm>
            <a:off x="2832100" y="1524000"/>
            <a:ext cx="0" cy="107950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6526DE3-4718-47D4-A05C-04C5FDF28B16}"/>
              </a:ext>
            </a:extLst>
          </p:cNvPr>
          <p:cNvCxnSpPr/>
          <p:nvPr/>
        </p:nvCxnSpPr>
        <p:spPr>
          <a:xfrm>
            <a:off x="2832100" y="15240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BFF9BDCA-8418-4F4E-BF56-DBA1942FA72D}"/>
              </a:ext>
            </a:extLst>
          </p:cNvPr>
          <p:cNvCxnSpPr/>
          <p:nvPr/>
        </p:nvCxnSpPr>
        <p:spPr>
          <a:xfrm>
            <a:off x="2832100" y="26035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F1534AA-D9F2-461A-9687-8DE4848F5652}"/>
              </a:ext>
            </a:extLst>
          </p:cNvPr>
          <p:cNvCxnSpPr/>
          <p:nvPr/>
        </p:nvCxnSpPr>
        <p:spPr>
          <a:xfrm>
            <a:off x="2527300" y="4940300"/>
            <a:ext cx="3048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94171C1-1EE9-451B-9773-72E91A5666BA}"/>
              </a:ext>
            </a:extLst>
          </p:cNvPr>
          <p:cNvCxnSpPr/>
          <p:nvPr/>
        </p:nvCxnSpPr>
        <p:spPr>
          <a:xfrm>
            <a:off x="2832100" y="4356100"/>
            <a:ext cx="0" cy="107950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DC647B5-DAE7-459E-AB56-E4F061839D93}"/>
              </a:ext>
            </a:extLst>
          </p:cNvPr>
          <p:cNvCxnSpPr/>
          <p:nvPr/>
        </p:nvCxnSpPr>
        <p:spPr>
          <a:xfrm>
            <a:off x="2832100" y="43561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BF4151E-461D-4E93-9295-60D3FDBB449F}"/>
              </a:ext>
            </a:extLst>
          </p:cNvPr>
          <p:cNvCxnSpPr/>
          <p:nvPr/>
        </p:nvCxnSpPr>
        <p:spPr>
          <a:xfrm>
            <a:off x="2832100" y="54356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21B6821-8CB0-434C-BA89-3B41B2FFA32D}"/>
              </a:ext>
            </a:extLst>
          </p:cNvPr>
          <p:cNvSpPr/>
          <p:nvPr/>
        </p:nvSpPr>
        <p:spPr>
          <a:xfrm>
            <a:off x="596900" y="1155700"/>
            <a:ext cx="1930400" cy="1955800"/>
          </a:xfrm>
          <a:prstGeom prst="roundRect">
            <a:avLst/>
          </a:prstGeom>
          <a:solidFill>
            <a:srgbClr val="064682"/>
          </a:solidFill>
          <a:ln w="1524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9FFA8E7-F395-46B7-A7A1-4212AEB70315}"/>
              </a:ext>
            </a:extLst>
          </p:cNvPr>
          <p:cNvSpPr/>
          <p:nvPr/>
        </p:nvSpPr>
        <p:spPr>
          <a:xfrm>
            <a:off x="1206500" y="1384300"/>
            <a:ext cx="711200" cy="711200"/>
          </a:xfrm>
          <a:prstGeom prst="ellipse">
            <a:avLst/>
          </a:prstGeom>
          <a:noFill/>
          <a:ln w="2286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2AF9B36-A10E-48FA-8946-4CE06DA11893}"/>
              </a:ext>
            </a:extLst>
          </p:cNvPr>
          <p:cNvCxnSpPr/>
          <p:nvPr/>
        </p:nvCxnSpPr>
        <p:spPr>
          <a:xfrm>
            <a:off x="1562100" y="1600200"/>
            <a:ext cx="0" cy="3175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898849FA-56BD-4BCB-93CC-6D5DA4E0A4AB}"/>
              </a:ext>
            </a:extLst>
          </p:cNvPr>
          <p:cNvCxnSpPr/>
          <p:nvPr/>
        </p:nvCxnSpPr>
        <p:spPr>
          <a:xfrm>
            <a:off x="1308100" y="1600200"/>
            <a:ext cx="203200" cy="50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563F24-186E-47C5-B997-03AF43A1DFD7}"/>
              </a:ext>
            </a:extLst>
          </p:cNvPr>
          <p:cNvCxnSpPr/>
          <p:nvPr/>
        </p:nvCxnSpPr>
        <p:spPr>
          <a:xfrm>
            <a:off x="1308100" y="1600200"/>
            <a:ext cx="0" cy="2794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257263DC-164B-4D49-88D4-3051360D8171}"/>
              </a:ext>
            </a:extLst>
          </p:cNvPr>
          <p:cNvCxnSpPr/>
          <p:nvPr/>
        </p:nvCxnSpPr>
        <p:spPr>
          <a:xfrm>
            <a:off x="1308100" y="1879600"/>
            <a:ext cx="203200" cy="381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0804901-A674-4B8C-A477-AEB74F8A4AE9}"/>
              </a:ext>
            </a:extLst>
          </p:cNvPr>
          <p:cNvCxnSpPr/>
          <p:nvPr/>
        </p:nvCxnSpPr>
        <p:spPr>
          <a:xfrm flipH="1">
            <a:off x="1612900" y="1600200"/>
            <a:ext cx="203200" cy="50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54A30D1-40AE-43E8-892A-976EBF00CBB1}"/>
              </a:ext>
            </a:extLst>
          </p:cNvPr>
          <p:cNvCxnSpPr/>
          <p:nvPr/>
        </p:nvCxnSpPr>
        <p:spPr>
          <a:xfrm>
            <a:off x="1816100" y="1600200"/>
            <a:ext cx="0" cy="2794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703E8A0-38DA-49DA-83F5-992A335447A8}"/>
              </a:ext>
            </a:extLst>
          </p:cNvPr>
          <p:cNvCxnSpPr/>
          <p:nvPr/>
        </p:nvCxnSpPr>
        <p:spPr>
          <a:xfrm flipH="1">
            <a:off x="1612900" y="1879600"/>
            <a:ext cx="203200" cy="381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A7D2679-1CF3-440B-B535-89CCCCEC9FF3}"/>
              </a:ext>
            </a:extLst>
          </p:cNvPr>
          <p:cNvSpPr txBox="1"/>
          <p:nvPr/>
        </p:nvSpPr>
        <p:spPr>
          <a:xfrm>
            <a:off x="749300" y="22733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900" b="1" spc="-7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컨택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800628B-35C9-45BD-A28E-2FA342357C42}"/>
              </a:ext>
            </a:extLst>
          </p:cNvPr>
          <p:cNvSpPr/>
          <p:nvPr/>
        </p:nvSpPr>
        <p:spPr>
          <a:xfrm>
            <a:off x="596900" y="3987800"/>
            <a:ext cx="1930400" cy="1955800"/>
          </a:xfrm>
          <a:prstGeom prst="roundRect">
            <a:avLst/>
          </a:prstGeom>
          <a:solidFill>
            <a:srgbClr val="064682"/>
          </a:solidFill>
          <a:ln w="1524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92CD30FA-E213-47FA-B58D-6DBDC8A64B00}"/>
              </a:ext>
            </a:extLst>
          </p:cNvPr>
          <p:cNvSpPr/>
          <p:nvPr/>
        </p:nvSpPr>
        <p:spPr>
          <a:xfrm>
            <a:off x="1206500" y="4216400"/>
            <a:ext cx="711200" cy="711200"/>
          </a:xfrm>
          <a:prstGeom prst="ellipse">
            <a:avLst/>
          </a:prstGeom>
          <a:noFill/>
          <a:ln w="2286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D046043-C2E9-439D-9351-9B2C681AB1C0}"/>
              </a:ext>
            </a:extLst>
          </p:cNvPr>
          <p:cNvSpPr/>
          <p:nvPr/>
        </p:nvSpPr>
        <p:spPr>
          <a:xfrm>
            <a:off x="1295400" y="4445000"/>
            <a:ext cx="533400" cy="317500"/>
          </a:xfrm>
          <a:prstGeom prst="roundRect">
            <a:avLst/>
          </a:prstGeom>
          <a:noFill/>
          <a:ln w="2032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C9538AD-1E26-4D98-9A84-9F583C631E3C}"/>
              </a:ext>
            </a:extLst>
          </p:cNvPr>
          <p:cNvCxnSpPr/>
          <p:nvPr/>
        </p:nvCxnSpPr>
        <p:spPr>
          <a:xfrm>
            <a:off x="1333500" y="4546600"/>
            <a:ext cx="4572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>
            <a:extLst>
              <a:ext uri="{FF2B5EF4-FFF2-40B4-BE49-F238E27FC236}">
                <a16:creationId xmlns:a16="http://schemas.microsoft.com/office/drawing/2014/main" id="{A7F85FB6-8660-4CF0-8DE1-4408192E264A}"/>
              </a:ext>
            </a:extLst>
          </p:cNvPr>
          <p:cNvSpPr/>
          <p:nvPr/>
        </p:nvSpPr>
        <p:spPr>
          <a:xfrm>
            <a:off x="1384300" y="4622800"/>
            <a:ext cx="88900" cy="889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CC11AB-FF7F-43B1-8CE9-9D310F74FC12}"/>
              </a:ext>
            </a:extLst>
          </p:cNvPr>
          <p:cNvSpPr txBox="1"/>
          <p:nvPr/>
        </p:nvSpPr>
        <p:spPr>
          <a:xfrm>
            <a:off x="749300" y="51054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900" b="1" spc="-7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운영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446D5074-29B4-41C9-BD8B-D05774C2C914}"/>
              </a:ext>
            </a:extLst>
          </p:cNvPr>
          <p:cNvSpPr/>
          <p:nvPr/>
        </p:nvSpPr>
        <p:spPr>
          <a:xfrm>
            <a:off x="3124200" y="11049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AED2A788-B077-42D6-A4A7-E90365ECE3EE}"/>
              </a:ext>
            </a:extLst>
          </p:cNvPr>
          <p:cNvSpPr/>
          <p:nvPr/>
        </p:nvSpPr>
        <p:spPr>
          <a:xfrm>
            <a:off x="3302000" y="12827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DD33639-4D1F-4EC3-A881-C052ED45054F}"/>
              </a:ext>
            </a:extLst>
          </p:cNvPr>
          <p:cNvSpPr txBox="1"/>
          <p:nvPr/>
        </p:nvSpPr>
        <p:spPr>
          <a:xfrm>
            <a:off x="3911600" y="12954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 종류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8EA805E5-3B9C-4E0C-AC72-9F1C82A1462B}"/>
              </a:ext>
            </a:extLst>
          </p:cNvPr>
          <p:cNvSpPr/>
          <p:nvPr/>
        </p:nvSpPr>
        <p:spPr>
          <a:xfrm rot="5400000">
            <a:off x="7353300" y="14478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5AAF1CF-613B-4D2C-821F-19728280C243}"/>
              </a:ext>
            </a:extLst>
          </p:cNvPr>
          <p:cNvSpPr/>
          <p:nvPr/>
        </p:nvSpPr>
        <p:spPr>
          <a:xfrm>
            <a:off x="7683500" y="11049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지원 유형과 카드 발급 기준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484004BB-36A5-4A76-A455-B15956DBCC61}"/>
              </a:ext>
            </a:extLst>
          </p:cNvPr>
          <p:cNvSpPr/>
          <p:nvPr/>
        </p:nvSpPr>
        <p:spPr>
          <a:xfrm>
            <a:off x="3124200" y="21844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9E7DA09D-6DF9-4537-A24C-4368509E922F}"/>
              </a:ext>
            </a:extLst>
          </p:cNvPr>
          <p:cNvSpPr/>
          <p:nvPr/>
        </p:nvSpPr>
        <p:spPr>
          <a:xfrm>
            <a:off x="3302000" y="23622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79B800-AFA0-4D4F-9950-E8B6A2FB4120}"/>
              </a:ext>
            </a:extLst>
          </p:cNvPr>
          <p:cNvSpPr txBox="1"/>
          <p:nvPr/>
        </p:nvSpPr>
        <p:spPr>
          <a:xfrm>
            <a:off x="3911600" y="23749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스피치</a:t>
            </a:r>
          </a:p>
        </p:txBody>
      </p:sp>
      <p:sp>
        <p:nvSpPr>
          <p:cNvPr id="85" name="이등변 삼각형 84">
            <a:extLst>
              <a:ext uri="{FF2B5EF4-FFF2-40B4-BE49-F238E27FC236}">
                <a16:creationId xmlns:a16="http://schemas.microsoft.com/office/drawing/2014/main" id="{22684D47-9732-443A-9FD8-542A6EC9CC0D}"/>
              </a:ext>
            </a:extLst>
          </p:cNvPr>
          <p:cNvSpPr/>
          <p:nvPr/>
        </p:nvSpPr>
        <p:spPr>
          <a:xfrm rot="5400000">
            <a:off x="7353300" y="25273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87E8F73-FC5E-436A-A979-88AACF8BF417}"/>
              </a:ext>
            </a:extLst>
          </p:cNvPr>
          <p:cNvSpPr/>
          <p:nvPr/>
        </p:nvSpPr>
        <p:spPr>
          <a:xfrm>
            <a:off x="7683500" y="21844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상황별 문의 응대와 방문 유도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34B1E51A-5448-4CD5-93A5-18730573D8F1}"/>
              </a:ext>
            </a:extLst>
          </p:cNvPr>
          <p:cNvSpPr/>
          <p:nvPr/>
        </p:nvSpPr>
        <p:spPr>
          <a:xfrm>
            <a:off x="3124200" y="39370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990483C3-0AA7-495E-A61E-C9375E39A4FD}"/>
              </a:ext>
            </a:extLst>
          </p:cNvPr>
          <p:cNvSpPr/>
          <p:nvPr/>
        </p:nvSpPr>
        <p:spPr>
          <a:xfrm>
            <a:off x="3302000" y="41148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56744F8-06E6-4B2B-9C9D-B883FD47F2D5}"/>
              </a:ext>
            </a:extLst>
          </p:cNvPr>
          <p:cNvSpPr txBox="1"/>
          <p:nvPr/>
        </p:nvSpPr>
        <p:spPr>
          <a:xfrm>
            <a:off x="3911600" y="41275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90" name="이등변 삼각형 89">
            <a:extLst>
              <a:ext uri="{FF2B5EF4-FFF2-40B4-BE49-F238E27FC236}">
                <a16:creationId xmlns:a16="http://schemas.microsoft.com/office/drawing/2014/main" id="{E8F07863-BA17-45BF-A00B-092E372770A9}"/>
              </a:ext>
            </a:extLst>
          </p:cNvPr>
          <p:cNvSpPr/>
          <p:nvPr/>
        </p:nvSpPr>
        <p:spPr>
          <a:xfrm rot="5400000">
            <a:off x="7353300" y="42799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E3591302-4070-4A3D-846C-9DADCEFFE60E}"/>
              </a:ext>
            </a:extLst>
          </p:cNvPr>
          <p:cNvSpPr/>
          <p:nvPr/>
        </p:nvSpPr>
        <p:spPr>
          <a:xfrm>
            <a:off x="7683500" y="39370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설계와 국취제 활용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EF3285EB-B5D4-42EE-9CC5-2129AE275991}"/>
              </a:ext>
            </a:extLst>
          </p:cNvPr>
          <p:cNvSpPr/>
          <p:nvPr/>
        </p:nvSpPr>
        <p:spPr>
          <a:xfrm>
            <a:off x="3124200" y="50165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7A7ACE67-AF55-489C-8EC7-AEBDCF42AFFD}"/>
              </a:ext>
            </a:extLst>
          </p:cNvPr>
          <p:cNvSpPr/>
          <p:nvPr/>
        </p:nvSpPr>
        <p:spPr>
          <a:xfrm>
            <a:off x="3302000" y="51943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8377536-EBD2-45D1-8647-9BCAE7130E77}"/>
              </a:ext>
            </a:extLst>
          </p:cNvPr>
          <p:cNvSpPr txBox="1"/>
          <p:nvPr/>
        </p:nvSpPr>
        <p:spPr>
          <a:xfrm>
            <a:off x="3911600" y="52070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</a:t>
            </a:r>
            <a:r>
              <a:rPr lang="en-US" altLang="ko-KR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+ </a:t>
            </a:r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</a:p>
        </p:txBody>
      </p:sp>
      <p:sp>
        <p:nvSpPr>
          <p:cNvPr id="95" name="이등변 삼각형 94">
            <a:extLst>
              <a:ext uri="{FF2B5EF4-FFF2-40B4-BE49-F238E27FC236}">
                <a16:creationId xmlns:a16="http://schemas.microsoft.com/office/drawing/2014/main" id="{BA4C23C5-C6BC-4DEA-973F-1F8C71F4F4A0}"/>
              </a:ext>
            </a:extLst>
          </p:cNvPr>
          <p:cNvSpPr/>
          <p:nvPr/>
        </p:nvSpPr>
        <p:spPr>
          <a:xfrm rot="5400000">
            <a:off x="7353300" y="53594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C8D5F6FC-05F2-49E7-B379-3CF7902946D3}"/>
              </a:ext>
            </a:extLst>
          </p:cNvPr>
          <p:cNvSpPr/>
          <p:nvPr/>
        </p:nvSpPr>
        <p:spPr>
          <a:xfrm>
            <a:off x="7683500" y="50165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일반과정과 국비과정 연결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9A12731-CD33-4AFD-8986-4B750F64D097}"/>
              </a:ext>
            </a:extLst>
          </p:cNvPr>
          <p:cNvSpPr txBox="1"/>
          <p:nvPr/>
        </p:nvSpPr>
        <p:spPr>
          <a:xfrm>
            <a:off x="609600" y="6248400"/>
            <a:ext cx="10985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050" spc="-35">
                <a:solidFill>
                  <a:srgbClr val="7B8794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컨택부터 상담 운영까지 한 흐름으로 정리한 실무 목차</a:t>
            </a:r>
          </a:p>
        </p:txBody>
      </p:sp>
    </p:spTree>
    <p:extLst>
      <p:ext uri="{BB962C8B-B14F-4D97-AF65-F5344CB8AC3E}">
        <p14:creationId xmlns:p14="http://schemas.microsoft.com/office/powerpoint/2010/main" val="13872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국비지원 종류 · 훈련 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03-1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훈련 유형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국가기간 · 국가전략산업직종 훈련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훈련비 90% 이상 지원, 유형에 따라 100% 지원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32512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403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378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실업자 계좌제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7465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유형에 따라 자부담금 발생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45466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699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673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근로자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50419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유형에 따라 자부담금 발생</a:t>
            </a:r>
          </a:p>
        </p:txBody>
      </p:sp>
    </p:spTree>
    <p:extLst>
      <p:ext uri="{BB962C8B-B14F-4D97-AF65-F5344CB8AC3E}">
        <p14:creationId xmlns:p14="http://schemas.microsoft.com/office/powerpoint/2010/main" val="422565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국비지원 대상 및 지원한도 · 지원대상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04-1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168400" y="1270000"/>
            <a:ext cx="9842500" cy="698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356A"/>
                </a:solidFill>
                <a:latin typeface="Noto Sans KR"/>
              </a:rPr>
              <a:t>300만원 기본 지원, 최대 500만원까지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2197100"/>
            <a:ext cx="10604500" cy="10668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356A"/>
                </a:solidFill>
                <a:latin typeface="Noto Sans KR"/>
              </a:rPr>
              <a:t>지원대상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356A"/>
                </a:solidFill>
                <a:latin typeface="Noto Sans KR"/>
              </a:rPr>
              <a:t>업무 능력을 키우고 싶은 누구나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356A"/>
                </a:solidFill>
                <a:latin typeface="Noto Sans KR"/>
              </a:rPr>
              <a:t>대학(원)생도 졸업까지 남은 수업연한이 2년 이내면 발급 가능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3530600"/>
            <a:ext cx="10604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지원 제외 대상(요약) · 1</a:t>
            </a:r>
          </a:p>
        </p:txBody>
      </p:sp>
      <p:sp>
        <p:nvSpPr>
          <p:cNvPr id="9" name="Card"/>
          <p:cNvSpPr/>
          <p:nvPr/>
        </p:nvSpPr>
        <p:spPr>
          <a:xfrm>
            <a:off x="787400" y="40767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01  공무원, 사립학교 교직원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44323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02  75세 이상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47879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03  대규모기업 근로자(월 임금 300만원 이상·만 45세 미만)</a:t>
            </a:r>
          </a:p>
        </p:txBody>
      </p:sp>
      <p:sp>
        <p:nvSpPr>
          <p:cNvPr id="12" name="Card"/>
          <p:cNvSpPr/>
          <p:nvPr/>
        </p:nvSpPr>
        <p:spPr>
          <a:xfrm>
            <a:off x="787400" y="51435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04  월 소득 500만원 이상 특수형태근로종사자</a:t>
            </a:r>
          </a:p>
        </p:txBody>
      </p:sp>
      <p:sp>
        <p:nvSpPr>
          <p:cNvPr id="13" name="Card"/>
          <p:cNvSpPr/>
          <p:nvPr/>
        </p:nvSpPr>
        <p:spPr>
          <a:xfrm>
            <a:off x="787400" y="54991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05  사업기간 1년 미만이거나 연 매출 4억원 이상 자영업자</a:t>
            </a:r>
          </a:p>
        </p:txBody>
      </p:sp>
      <p:sp>
        <p:nvSpPr>
          <p:cNvPr id="14" name="Card"/>
          <p:cNvSpPr/>
          <p:nvPr/>
        </p:nvSpPr>
        <p:spPr>
          <a:xfrm>
            <a:off x="787400" y="5854700"/>
            <a:ext cx="106045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06  사업기간 1년 미만이거나 월 소득 300만원 이상 법인대표</a:t>
            </a:r>
          </a:p>
        </p:txBody>
      </p:sp>
    </p:spTree>
    <p:extLst>
      <p:ext uri="{BB962C8B-B14F-4D97-AF65-F5344CB8AC3E}">
        <p14:creationId xmlns:p14="http://schemas.microsoft.com/office/powerpoint/2010/main" val="2623890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내일배움카드 vs 국민취업지원제도 · 내일배움카드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05-1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168400" y="1270000"/>
            <a:ext cx="9842500" cy="609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356A"/>
                </a:solidFill>
                <a:latin typeface="Noto Sans KR"/>
              </a:rPr>
              <a:t>선지급 후 수업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2070100"/>
            <a:ext cx="10604500" cy="3937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장점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2603500"/>
            <a:ext cx="5143500" cy="7874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01  최초 발급 시 카드에 300만원 충전, 구직자/재직자/사업자 참여 가능</a:t>
            </a:r>
          </a:p>
        </p:txBody>
      </p:sp>
      <p:sp>
        <p:nvSpPr>
          <p:cNvPr id="9" name="Card"/>
          <p:cNvSpPr/>
          <p:nvPr/>
        </p:nvSpPr>
        <p:spPr>
          <a:xfrm>
            <a:off x="6121400" y="2603500"/>
            <a:ext cx="5143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02  적합한 과정일 경우 적은 자부담, 취업 연계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4495800"/>
            <a:ext cx="10604500" cy="3937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단점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5029200"/>
            <a:ext cx="5143500" cy="4318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정해진 수업 내 과정조율 불가</a:t>
            </a:r>
          </a:p>
        </p:txBody>
      </p:sp>
      <p:sp>
        <p:nvSpPr>
          <p:cNvPr id="12" name="Card"/>
          <p:cNvSpPr/>
          <p:nvPr/>
        </p:nvSpPr>
        <p:spPr>
          <a:xfrm>
            <a:off x="6121400" y="5029200"/>
            <a:ext cx="51435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고용24 등록 된 과정만 사용 가능</a:t>
            </a:r>
          </a:p>
        </p:txBody>
      </p:sp>
      <p:sp>
        <p:nvSpPr>
          <p:cNvPr id="13" name="Card"/>
          <p:cNvSpPr/>
          <p:nvPr/>
        </p:nvSpPr>
        <p:spPr>
          <a:xfrm>
            <a:off x="787400" y="5537200"/>
            <a:ext cx="5143500" cy="4318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국비 수강료 전액 결제 불가능 (15~55% 부담)</a:t>
            </a:r>
          </a:p>
        </p:txBody>
      </p:sp>
      <p:sp>
        <p:nvSpPr>
          <p:cNvPr id="14" name="Card"/>
          <p:cNvSpPr/>
          <p:nvPr/>
        </p:nvSpPr>
        <p:spPr>
          <a:xfrm>
            <a:off x="6121400" y="5537200"/>
            <a:ext cx="51435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100% 대면으로 진행되며 출결 미달 시 탈락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6045200"/>
            <a:ext cx="5143500" cy="4318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기초부터 진행하여 전공자에겐 부적합</a:t>
            </a:r>
          </a:p>
        </p:txBody>
      </p:sp>
    </p:spTree>
    <p:extLst>
      <p:ext uri="{BB962C8B-B14F-4D97-AF65-F5344CB8AC3E}">
        <p14:creationId xmlns:p14="http://schemas.microsoft.com/office/powerpoint/2010/main" val="255066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국비 문의의 흐름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06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397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371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내일배움카드 교육 찾는 경우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7399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수요의 80% 이상은 내일배움카드에 해당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지원 제도가 다양해져 방문 시에 개인에게 맞는 국비 과정을 안내해주겠다 이야기 후에 상담 시 국민취업지원제도와 내일배움카드 장단점 비교 후 선택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4130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2565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5400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국비 언급은 없으나 국민취업지원제도 참여 조건이 가능한 경우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29083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적용 가능한 부분을 먼저 언급 함으로써 타학원 국비 수업과 더블 방지 및 방문에 대한 명분을 제시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35814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3733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37084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국민취업지원제도로 방문 유도를 하고 싶을 경우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40767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학원 방문 시 모의 산정을 통해 얼마나 지원 받을 수 있는지 확인해주겠다고 안내</a:t>
            </a:r>
          </a:p>
        </p:txBody>
      </p:sp>
      <p:sp>
        <p:nvSpPr>
          <p:cNvPr id="18" name="Card"/>
          <p:cNvSpPr/>
          <p:nvPr/>
        </p:nvSpPr>
        <p:spPr>
          <a:xfrm>
            <a:off x="533400" y="47498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9" name="Card"/>
          <p:cNvSpPr/>
          <p:nvPr/>
        </p:nvSpPr>
        <p:spPr>
          <a:xfrm>
            <a:off x="685800" y="4902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95400" y="48768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상담 날짜를 당기고 싶을 경우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5400" y="52451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국민취업지원제도에는 예산이 정해져 있음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해당 예산이 특정 기간까지 소진 예정에 있다는 스피치 활용</a:t>
            </a:r>
          </a:p>
        </p:txBody>
      </p:sp>
      <p:sp>
        <p:nvSpPr>
          <p:cNvPr id="22" name="Card"/>
          <p:cNvSpPr/>
          <p:nvPr/>
        </p:nvSpPr>
        <p:spPr>
          <a:xfrm>
            <a:off x="1803400" y="6070600"/>
            <a:ext cx="8572500" cy="330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356A"/>
                </a:solidFill>
                <a:latin typeface="Noto Sans KR"/>
              </a:rPr>
              <a:t>다음 페이지에서 원본 흐름도를 크게 확인</a:t>
            </a:r>
          </a:p>
        </p:txBody>
      </p:sp>
    </p:spTree>
    <p:extLst>
      <p:ext uri="{BB962C8B-B14F-4D97-AF65-F5344CB8AC3E}">
        <p14:creationId xmlns:p14="http://schemas.microsoft.com/office/powerpoint/2010/main" val="1711405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국비 문의자 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07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397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371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내일배움카드 교육 찾는 경우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7399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수요의 80% 이상은 내일배움카드에 해당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지원 제도가 다양해져 방문 시에 개인에게 맞는 국비 과정을 안내해주겠다 이야기 후에 상담 시 국민취업지원제도와 내일배움카드 장단점 비교 후 선택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4130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2565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5400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국비 언급은 없으나 국민취업지원제도 참여 조건이 가능한 경우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29083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적용 가능한 부분을 먼저 언급 함으로써 타학원 국비 수업과 더블 방지 및 방문에 대한 명분을 제시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35814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3733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37084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국민취업지원제도로 방문 유도를 하고 싶을 경우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40767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학원 방문 시 모의 산정을 통해 얼마나 지원 받을 수 있는지 확인해주겠다고 안내</a:t>
            </a:r>
          </a:p>
        </p:txBody>
      </p:sp>
      <p:sp>
        <p:nvSpPr>
          <p:cNvPr id="18" name="Card"/>
          <p:cNvSpPr/>
          <p:nvPr/>
        </p:nvSpPr>
        <p:spPr>
          <a:xfrm>
            <a:off x="533400" y="47498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9" name="Card"/>
          <p:cNvSpPr/>
          <p:nvPr/>
        </p:nvSpPr>
        <p:spPr>
          <a:xfrm>
            <a:off x="685800" y="4902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95400" y="48768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상담 날짜를 당기고 싶을 경우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5400" y="52451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국민취업지원제도에는 예산이 정해져 있음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해당 예산이 특정 기간까지 소진 예정에 있다는 스피치 활용</a:t>
            </a:r>
          </a:p>
        </p:txBody>
      </p:sp>
      <p:sp>
        <p:nvSpPr>
          <p:cNvPr id="22" name="Card"/>
          <p:cNvSpPr/>
          <p:nvPr/>
        </p:nvSpPr>
        <p:spPr>
          <a:xfrm>
            <a:off x="1803400" y="6070600"/>
            <a:ext cx="8572500" cy="330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356A"/>
                </a:solidFill>
                <a:latin typeface="Noto Sans KR"/>
              </a:rPr>
              <a:t>다음 페이지에서 원본 흐름도를 크게 확인</a:t>
            </a:r>
          </a:p>
        </p:txBody>
      </p:sp>
    </p:spTree>
    <p:extLst>
      <p:ext uri="{BB962C8B-B14F-4D97-AF65-F5344CB8AC3E}">
        <p14:creationId xmlns:p14="http://schemas.microsoft.com/office/powerpoint/2010/main" val="3629638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구직자 컨택 스피치 ·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08-1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전액국비만 찾는 경우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“유형에 따라 자부담 비율이 차이가 발생합니다. 일반적으로 구직자나 특정계층(저소득층, 장애인 등)인 경우 전액 국비 가능합니다.”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“특정계층 외 일부 유형에 따라 자부담이 발생할 수 있는데 발생한다면 얼마나 발생하는지는 세부적인 조회가 필요해 방문 시 정확히 안내해드리겠습니다.”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내배카 발급 후 상담 희망하는 경우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“내배카 발급 시 희망 직종을 선택해야하기 때문에 상담 후 직종 선택 및 희망 교육과정 설정 후 발급하시는 것이 좋습니다”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“내배카 과정은 매달 개강하지 않기 때문에 수령 후 상담 진행할 시 2~3개월 뒤 과정으로 참여해야할 수 있습니다.”</a:t>
            </a:r>
          </a:p>
        </p:txBody>
      </p:sp>
    </p:spTree>
    <p:extLst>
      <p:ext uri="{BB962C8B-B14F-4D97-AF65-F5344CB8AC3E}">
        <p14:creationId xmlns:p14="http://schemas.microsoft.com/office/powerpoint/2010/main" val="3111577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재직자 컨택 스피치 ·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09-1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전액국비만 찾는 경우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“국비지원은 취업률 향상이 목적이라 재직자보단 구직자에게 지원이 많습니다. 재직자는 전액 국비는 없으나 일부 자부담 납부하면 됩니다.”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“재직자도 자부담을 최소로 납부하려면 구직자 과정인 오전～오후 수업으로 참여해야 합니다. 저녁은 재직자 과정이기 때문에 자부담이 발생합니다.”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타학원과 비교하는 경우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“각 교육기관마다 주력으로 운영하는 과정이 상이합니다. 본원의 경우 000과정은 메인 과정이고 일반과정+국비과정 모두 운영하고 있습니다.”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“많은 국비교육들이 인원 미달로 폐강, 연기가 되는데 본원의 경우에는 조기마감이 되는 경우가 많아 비대면으로 참여하시는 분들도 많습니다.”</a:t>
            </a:r>
          </a:p>
        </p:txBody>
      </p:sp>
    </p:spTree>
    <p:extLst>
      <p:ext uri="{BB962C8B-B14F-4D97-AF65-F5344CB8AC3E}">
        <p14:creationId xmlns:p14="http://schemas.microsoft.com/office/powerpoint/2010/main" val="1223776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페이스북 DB 컨택 스피치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10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77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397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371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739900"/>
            <a:ext cx="10198100" cy="152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페북 DB -&gt; 출처에 맞는 국비 스피치(영상, 인테리어, AI, 연령타겟 등)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133600"/>
            <a:ext cx="11112500" cy="77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2286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260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2628900"/>
            <a:ext cx="10198100" cy="152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컨택 시 현재 상황(학생, 구직자, 재직자) 파악이 우선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3022600"/>
            <a:ext cx="11112500" cy="77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3175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3149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3517900"/>
            <a:ext cx="10198100" cy="152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국비지원 제도 다양, 본인에게 맞는 국비가 중요!</a:t>
            </a:r>
          </a:p>
        </p:txBody>
      </p:sp>
      <p:sp>
        <p:nvSpPr>
          <p:cNvPr id="18" name="Card"/>
          <p:cNvSpPr/>
          <p:nvPr/>
        </p:nvSpPr>
        <p:spPr>
          <a:xfrm>
            <a:off x="533400" y="3911600"/>
            <a:ext cx="11112500" cy="77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9" name="Card"/>
          <p:cNvSpPr/>
          <p:nvPr/>
        </p:nvSpPr>
        <p:spPr>
          <a:xfrm>
            <a:off x="685800" y="4064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95400" y="4038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5400" y="4406900"/>
            <a:ext cx="10198100" cy="152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국취제 조건 미리 파악 -&gt; 나이, 재직여부, 실업급여, 가구원 등</a:t>
            </a:r>
          </a:p>
        </p:txBody>
      </p:sp>
      <p:sp>
        <p:nvSpPr>
          <p:cNvPr id="22" name="Card"/>
          <p:cNvSpPr/>
          <p:nvPr/>
        </p:nvSpPr>
        <p:spPr>
          <a:xfrm>
            <a:off x="533400" y="4800600"/>
            <a:ext cx="11112500" cy="77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3" name="Card"/>
          <p:cNvSpPr/>
          <p:nvPr/>
        </p:nvSpPr>
        <p:spPr>
          <a:xfrm>
            <a:off x="685800" y="4953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05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295400" y="4927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5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295400" y="5295900"/>
            <a:ext cx="10198100" cy="152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컨택 클로징 시 국비 체크 및 제도 비교하여 최소 자부담 안내 스피치</a:t>
            </a:r>
          </a:p>
        </p:txBody>
      </p:sp>
      <p:sp>
        <p:nvSpPr>
          <p:cNvPr id="26" name="Card"/>
          <p:cNvSpPr/>
          <p:nvPr/>
        </p:nvSpPr>
        <p:spPr>
          <a:xfrm>
            <a:off x="1168400" y="5880100"/>
            <a:ext cx="9842500" cy="4318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★페북컨택 시 국비 언급을 두려워하지 말고,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구직자 DB의 경우엔 내배카, 국취제 선언급하는 것이 좋다</a:t>
            </a:r>
          </a:p>
        </p:txBody>
      </p:sp>
    </p:spTree>
    <p:extLst>
      <p:ext uri="{BB962C8B-B14F-4D97-AF65-F5344CB8AC3E}">
        <p14:creationId xmlns:p14="http://schemas.microsoft.com/office/powerpoint/2010/main" val="1449758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실업급여 수령자 컨택 스피치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77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397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371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739900"/>
            <a:ext cx="10198100" cy="152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실업급여 = 국비지원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실업급여는 국민취업지원제도와 비슷 -&gt; 구직활동을 해야 수당 지급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일반과정(미인정)도 구직활동으로 인정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133600"/>
            <a:ext cx="11112500" cy="77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2286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260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2628900"/>
            <a:ext cx="10198100" cy="152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실업급여 수급자는 고용센터에서 내배카 안내받은 경우가 많음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3022600"/>
            <a:ext cx="11112500" cy="77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3175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3149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3517900"/>
            <a:ext cx="10198100" cy="152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실업급여 수급자는 전액지원이 불가하기 때문에 자부담 발생 언급</a:t>
            </a:r>
          </a:p>
        </p:txBody>
      </p:sp>
      <p:sp>
        <p:nvSpPr>
          <p:cNvPr id="18" name="Card"/>
          <p:cNvSpPr/>
          <p:nvPr/>
        </p:nvSpPr>
        <p:spPr>
          <a:xfrm>
            <a:off x="533400" y="3911600"/>
            <a:ext cx="11112500" cy="77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9" name="Card"/>
          <p:cNvSpPr/>
          <p:nvPr/>
        </p:nvSpPr>
        <p:spPr>
          <a:xfrm>
            <a:off x="685800" y="4064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95400" y="4038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5400" y="4406900"/>
            <a:ext cx="10198100" cy="152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내배카 사용자는 기존 사용과 비교하여 잔액 확인 및 자부담 납부 내역 체크</a:t>
            </a:r>
          </a:p>
        </p:txBody>
      </p:sp>
      <p:sp>
        <p:nvSpPr>
          <p:cNvPr id="22" name="Card"/>
          <p:cNvSpPr/>
          <p:nvPr/>
        </p:nvSpPr>
        <p:spPr>
          <a:xfrm>
            <a:off x="533400" y="4800600"/>
            <a:ext cx="11112500" cy="77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3" name="Card"/>
          <p:cNvSpPr/>
          <p:nvPr/>
        </p:nvSpPr>
        <p:spPr>
          <a:xfrm>
            <a:off x="685800" y="4953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05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295400" y="4927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5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295400" y="5295900"/>
            <a:ext cx="10198100" cy="152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지점 내 국비과정이 있다면 국비 + 일반과정을 가장 추천</a:t>
            </a:r>
          </a:p>
        </p:txBody>
      </p:sp>
    </p:spTree>
    <p:extLst>
      <p:ext uri="{BB962C8B-B14F-4D97-AF65-F5344CB8AC3E}">
        <p14:creationId xmlns:p14="http://schemas.microsoft.com/office/powerpoint/2010/main" val="425844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구직자 국비문의 상담 · 핵심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12-1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국비만 맞출 때의 리스크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당장 등록은 가능해도 이후 불안요소가 생길 수 있습니다.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국취제 상담센터의 제동, 우유부단함, 수강 환불 가능성을 미리 고려해야 합니다.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국비 수강의 특성과 정규과정의 장단점을 함께 비교해줘야 합니다.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정규과정 후 국비 활용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정규과정으로 기본기를 잡은 뒤 국비 수강을 고려하도록 안내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프로젝트 수업, 놓쳤던 내용 복습, 국비 무료교육의 이점을 어필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첫 공부의 리스크를 이후 국비 수강으로 보완할 수 있다는 안정감 제공</a:t>
            </a:r>
          </a:p>
        </p:txBody>
      </p:sp>
    </p:spTree>
    <p:extLst>
      <p:ext uri="{BB962C8B-B14F-4D97-AF65-F5344CB8AC3E}">
        <p14:creationId xmlns:p14="http://schemas.microsoft.com/office/powerpoint/2010/main" val="3533301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구직자 국비문의 상담 · 핵심 이해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13-1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구직자 국비의 목적은 취업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이해 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국비의 가장 큰 목적은 직무능력 개발을 통한 취업입니다.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32512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403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378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이해 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7465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국비과정은 정해진 커리큘럼과 지정된 훈련기간을 수료해야 지원되는 학교형 시스템입니다.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4546600"/>
            <a:ext cx="1060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699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673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이해 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5041900"/>
            <a:ext cx="9690100" cy="520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한 과정을 깊게 배우기보다 실무 활용 학습과 포트폴리오 제작에 초점이 맞춰져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3686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기본 이해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14-1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533400" y="1117600"/>
            <a:ext cx="111125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7B8794"/>
                </a:solidFill>
                <a:latin typeface="Noto Sans KR"/>
              </a:rPr>
              <a:t>국비 문의 유형에 따라 응대 스피치와 상담 방향을 달리하는 가이드</a:t>
            </a:r>
          </a:p>
        </p:txBody>
      </p:sp>
      <p:sp>
        <p:nvSpPr>
          <p:cNvPr id="7" name="Card"/>
          <p:cNvSpPr/>
          <p:nvPr/>
        </p:nvSpPr>
        <p:spPr>
          <a:xfrm>
            <a:off x="533400" y="1371600"/>
            <a:ext cx="11112500" cy="4318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국비를 정확히 모를 경우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1917700"/>
            <a:ext cx="106045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9" name="Card"/>
          <p:cNvSpPr/>
          <p:nvPr/>
        </p:nvSpPr>
        <p:spPr>
          <a:xfrm>
            <a:off x="939800" y="2070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0447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기본 포인트 1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549400" y="2413000"/>
            <a:ext cx="9690100" cy="393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국비를 단순히 ‘국가에서 수강료를 지원해주는 제도’ 정도로만 아는 경우가 많다.</a:t>
            </a:r>
          </a:p>
        </p:txBody>
      </p:sp>
      <p:sp>
        <p:nvSpPr>
          <p:cNvPr id="12" name="Card"/>
          <p:cNvSpPr/>
          <p:nvPr/>
        </p:nvSpPr>
        <p:spPr>
          <a:xfrm>
            <a:off x="787400" y="3060700"/>
            <a:ext cx="106045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3" name="Card"/>
          <p:cNvSpPr/>
          <p:nvPr/>
        </p:nvSpPr>
        <p:spPr>
          <a:xfrm>
            <a:off x="939800" y="3213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1877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기본 포인트 2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549400" y="3556000"/>
            <a:ext cx="9690100" cy="393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내일배움카드를 발급만 받았거나, 알기만 하거나, 아예 잘 모르는 경우도 있다.</a:t>
            </a:r>
          </a:p>
        </p:txBody>
      </p:sp>
      <p:sp>
        <p:nvSpPr>
          <p:cNvPr id="16" name="Card"/>
          <p:cNvSpPr/>
          <p:nvPr/>
        </p:nvSpPr>
        <p:spPr>
          <a:xfrm>
            <a:off x="787400" y="4203700"/>
            <a:ext cx="106045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7" name="Card"/>
          <p:cNvSpPr/>
          <p:nvPr/>
        </p:nvSpPr>
        <p:spPr>
          <a:xfrm>
            <a:off x="939800" y="4356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43307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기본 포인트 3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549400" y="4699000"/>
            <a:ext cx="9690100" cy="393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재직자는 내일배움카드 사용 시 자부담이 발생할 수 있으므로 조회 후 안내가 필요하다.</a:t>
            </a:r>
          </a:p>
        </p:txBody>
      </p:sp>
      <p:sp>
        <p:nvSpPr>
          <p:cNvPr id="20" name="Card"/>
          <p:cNvSpPr/>
          <p:nvPr/>
        </p:nvSpPr>
        <p:spPr>
          <a:xfrm>
            <a:off x="787400" y="5346700"/>
            <a:ext cx="106045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1" name="Card"/>
          <p:cNvSpPr/>
          <p:nvPr/>
        </p:nvSpPr>
        <p:spPr>
          <a:xfrm>
            <a:off x="939800" y="5499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49400" y="54737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기본 포인트 4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549400" y="5842000"/>
            <a:ext cx="9690100" cy="393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이 경우에는 내배카에서 일반과정 전환을 자연스럽게 유도하는 스피치가 효과적이다.</a:t>
            </a:r>
          </a:p>
        </p:txBody>
      </p:sp>
    </p:spTree>
    <p:extLst>
      <p:ext uri="{BB962C8B-B14F-4D97-AF65-F5344CB8AC3E}">
        <p14:creationId xmlns:p14="http://schemas.microsoft.com/office/powerpoint/2010/main" val="2352926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스피치 3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15-1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533400" y="1117600"/>
            <a:ext cx="111125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7B8794"/>
                </a:solidFill>
                <a:latin typeface="Noto Sans KR"/>
              </a:rPr>
              <a:t>추가 응대 스피치와 상담 핵심 포인트</a:t>
            </a:r>
          </a:p>
        </p:txBody>
      </p:sp>
      <p:sp>
        <p:nvSpPr>
          <p:cNvPr id="7" name="Card"/>
          <p:cNvSpPr/>
          <p:nvPr/>
        </p:nvSpPr>
        <p:spPr>
          <a:xfrm>
            <a:off x="533400" y="1270000"/>
            <a:ext cx="11112500" cy="10414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유형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할인이 목적이라기보다 ‘국가 지원을 받고 싶다’는 명분을 중요하게 생각하는 재직자 유형</a:t>
            </a:r>
          </a:p>
        </p:txBody>
      </p:sp>
      <p:sp>
        <p:nvSpPr>
          <p:cNvPr id="8" name="Card"/>
          <p:cNvSpPr/>
          <p:nvPr/>
        </p:nvSpPr>
        <p:spPr>
          <a:xfrm>
            <a:off x="533400" y="2514600"/>
            <a:ext cx="11112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9" name="Card"/>
          <p:cNvSpPr/>
          <p:nvPr/>
        </p:nvSpPr>
        <p:spPr>
          <a:xfrm>
            <a:off x="685800" y="2667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295400" y="2641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응대 포인트 1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295400" y="3009900"/>
            <a:ext cx="10198100" cy="3429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프로모션 할인보다 교육청 지원, 장학 지원, 기관 지원처럼 ‘지원 명분’을 활용하는 방식이 효과적일 수 있다.</a:t>
            </a:r>
          </a:p>
        </p:txBody>
      </p:sp>
      <p:sp>
        <p:nvSpPr>
          <p:cNvPr id="12" name="Card"/>
          <p:cNvSpPr/>
          <p:nvPr/>
        </p:nvSpPr>
        <p:spPr>
          <a:xfrm>
            <a:off x="533400" y="3606800"/>
            <a:ext cx="11112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3" name="Card"/>
          <p:cNvSpPr/>
          <p:nvPr/>
        </p:nvSpPr>
        <p:spPr>
          <a:xfrm>
            <a:off x="685800" y="3759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295400" y="37338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응대 포인트 2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295400" y="4102100"/>
            <a:ext cx="10198100" cy="3429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국비 제도는 다양하지만, 내일배움카드는 청년층 구직자 중심으로 지원되는 경우가 많다.</a:t>
            </a:r>
          </a:p>
        </p:txBody>
      </p:sp>
      <p:sp>
        <p:nvSpPr>
          <p:cNvPr id="16" name="Card"/>
          <p:cNvSpPr/>
          <p:nvPr/>
        </p:nvSpPr>
        <p:spPr>
          <a:xfrm>
            <a:off x="533400" y="4699000"/>
            <a:ext cx="11112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7" name="Card"/>
          <p:cNvSpPr/>
          <p:nvPr/>
        </p:nvSpPr>
        <p:spPr>
          <a:xfrm>
            <a:off x="685800" y="4851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295400" y="48260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응대 포인트 3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295400" y="5194300"/>
            <a:ext cx="10198100" cy="3429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재직자에게는 참여가 어려운 과정과 낮 시간대 과정이 많으므로, 개인 맞춤 커리큘럼과 적용 가능한 지원 제도를 함께 확인해드리는 방향으로 안내한다.</a:t>
            </a:r>
          </a:p>
        </p:txBody>
      </p:sp>
    </p:spTree>
    <p:extLst>
      <p:ext uri="{BB962C8B-B14F-4D97-AF65-F5344CB8AC3E}">
        <p14:creationId xmlns:p14="http://schemas.microsoft.com/office/powerpoint/2010/main" val="1767552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내일배움카드 타파 방법 · 원칙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16-1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333500"/>
            <a:ext cx="11112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4859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4605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원칙 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828800"/>
            <a:ext cx="10198100" cy="7112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무조건 국비를 나쁘게 보는것보다는, 좋은 제도이나 본인에게는 맞지않은 지원임을 강조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무의식적으로 단점을 좀더 문의자의 상황에 맞춰서 어필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857500"/>
            <a:ext cx="11112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30099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9845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원칙 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3352800"/>
            <a:ext cx="10198100" cy="7112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본인의 장점, 멘토의 필요성만 상담시 충분히 어필했다면 내배카는 쉽게 타파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4381500"/>
            <a:ext cx="11112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45339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45085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원칙 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4876800"/>
            <a:ext cx="10198100" cy="7112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내배카 사용이 안되는 수업은 당당히 말할것! 이유명확하게 안내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(특수학경우 취업직군일 경우, 채용공고가 많지 않은 취업군일경우)</a:t>
            </a:r>
          </a:p>
        </p:txBody>
      </p:sp>
    </p:spTree>
    <p:extLst>
      <p:ext uri="{BB962C8B-B14F-4D97-AF65-F5344CB8AC3E}">
        <p14:creationId xmlns:p14="http://schemas.microsoft.com/office/powerpoint/2010/main" val="3637419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상담 시 선택 가이드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17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19200"/>
            <a:ext cx="11112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✓ 내일배움카드 교육과 고민할 경우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7400" y="1879600"/>
          <a:ext cx="1060450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/>
                <a:gridCol w="2654300"/>
                <a:gridCol w="2641600"/>
                <a:gridCol w="2654300"/>
              </a:tblGrid>
              <a:tr h="538480"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희망 과목 내배카 수업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내배카 수업 시간,기간 참여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수강료 부담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KR"/>
                        </a:rPr>
                        <a:t>추천 제도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538480"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없음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멘토 판단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38480"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조금 있음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내배카 + 국취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가능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많이 있음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내배카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38480"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E2B38"/>
                          </a:solidFill>
                          <a:latin typeface="Noto Sans KR"/>
                        </a:rPr>
                        <a:t>둘 중 하나 불가일 경우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-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0">
                          <a:solidFill>
                            <a:srgbClr val="1E2B38"/>
                          </a:solidFill>
                          <a:latin typeface="Noto Sans KR"/>
                        </a:rPr>
                        <a:t>국취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533400" y="4864100"/>
            <a:ext cx="11112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✓ 당장 공부를 할지 말지 고민할 경우</a:t>
            </a:r>
          </a:p>
        </p:txBody>
      </p:sp>
      <p:sp>
        <p:nvSpPr>
          <p:cNvPr id="9" name="Card"/>
          <p:cNvSpPr/>
          <p:nvPr/>
        </p:nvSpPr>
        <p:spPr>
          <a:xfrm>
            <a:off x="787400" y="5549900"/>
            <a:ext cx="10604500" cy="6731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컨택에서 안내 했던 지원금을 받을 수 있는 기간 재차 안내 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국취 신청 시 3 ~ 4주 소요되기 때문에 미리 접수 해야 되는 점 언급</a:t>
            </a:r>
          </a:p>
        </p:txBody>
      </p:sp>
    </p:spTree>
    <p:extLst>
      <p:ext uri="{BB962C8B-B14F-4D97-AF65-F5344CB8AC3E}">
        <p14:creationId xmlns:p14="http://schemas.microsoft.com/office/powerpoint/2010/main" val="3161659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국민취업지원제도 상담 · 상담 핵심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18-1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70000"/>
            <a:ext cx="11112500" cy="876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422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3970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765300"/>
            <a:ext cx="10198100" cy="2540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상담 초반 국취제 해당여부 체크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260600"/>
            <a:ext cx="11112500" cy="876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2413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3876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2755900"/>
            <a:ext cx="10198100" cy="2540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지원대상 페이지 확인시켜줄 것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3251200"/>
            <a:ext cx="11112500" cy="876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3403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33782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3746500"/>
            <a:ext cx="10198100" cy="2540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각 유형 참여할 수 없는 대상 항목</a:t>
            </a:r>
          </a:p>
        </p:txBody>
      </p:sp>
      <p:sp>
        <p:nvSpPr>
          <p:cNvPr id="18" name="Card"/>
          <p:cNvSpPr/>
          <p:nvPr/>
        </p:nvSpPr>
        <p:spPr>
          <a:xfrm>
            <a:off x="533400" y="4241800"/>
            <a:ext cx="11112500" cy="876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9" name="Card"/>
          <p:cNvSpPr/>
          <p:nvPr/>
        </p:nvSpPr>
        <p:spPr>
          <a:xfrm>
            <a:off x="685800" y="4394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95400" y="43688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5400" y="4737100"/>
            <a:ext cx="10198100" cy="2540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중위소득 60% 153만 – 촉진수당 60만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-&gt; 93만원 초과 시 초과금 만큼 차감 지급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Ex) 100만원 소득 발생 시 53만원 수당 지급</a:t>
            </a:r>
          </a:p>
        </p:txBody>
      </p:sp>
      <p:sp>
        <p:nvSpPr>
          <p:cNvPr id="22" name="Card"/>
          <p:cNvSpPr/>
          <p:nvPr/>
        </p:nvSpPr>
        <p:spPr>
          <a:xfrm>
            <a:off x="1168400" y="5842000"/>
            <a:ext cx="9842500" cy="4826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★ I유형이 안되는 이유 설명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학생 -&gt; 즉시 취업이 안되서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생계,실업급여 -&gt; 이중 지원이기 때문</a:t>
            </a:r>
          </a:p>
        </p:txBody>
      </p:sp>
    </p:spTree>
    <p:extLst>
      <p:ext uri="{BB962C8B-B14F-4D97-AF65-F5344CB8AC3E}">
        <p14:creationId xmlns:p14="http://schemas.microsoft.com/office/powerpoint/2010/main" val="929427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가구단위·소득 기준 안내 · 기준표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19-1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572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26년 기준 중위소득  |  단위: 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7400" y="1955800"/>
          <a:ext cx="106045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1765300"/>
                <a:gridCol w="1765300"/>
                <a:gridCol w="1765300"/>
                <a:gridCol w="1765300"/>
                <a:gridCol w="1765300"/>
              </a:tblGrid>
              <a:tr h="5397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구분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1인 가구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2인 가구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3인 가구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4인 가구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5인 가구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5397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중위소득 60%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1,538,543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2,519,575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3,215,422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3,896,843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4,534,031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397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중위소득 100%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2,564,238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4,199,292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5,359,036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6,494,738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7,556,719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중위소득 120%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3,077,086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5,039,150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6,430,843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7,793,686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9,068,063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787400" y="4394200"/>
            <a:ext cx="10604500" cy="14224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가구단위 산정 기준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신청인 본인, 배우자(사실혼 포함), 1촌 이내 직계혈족(부모·자녀) 중 생계와 주거를 같이 하는 민법상 가족을 포함합니다.</a:t>
            </a:r>
          </a:p>
        </p:txBody>
      </p:sp>
    </p:spTree>
    <p:extLst>
      <p:ext uri="{BB962C8B-B14F-4D97-AF65-F5344CB8AC3E}">
        <p14:creationId xmlns:p14="http://schemas.microsoft.com/office/powerpoint/2010/main" val="1122370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졸업예정자 상담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20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168400" y="1460500"/>
            <a:ext cx="9842500" cy="37465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356A"/>
                </a:solidFill>
                <a:latin typeface="Noto Sans KR"/>
              </a:rPr>
              <a:t>졸업예정자의 졸업 예정 7개월 전 신청 가능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356A"/>
                </a:solidFill>
                <a:latin typeface="Noto Sans KR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356A"/>
                </a:solidFill>
                <a:latin typeface="Noto Sans KR"/>
              </a:rPr>
              <a:t>-&gt; 국취제는 보통 취업 대비가 많기 때문에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356A"/>
                </a:solidFill>
                <a:latin typeface="Noto Sans KR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356A"/>
                </a:solidFill>
                <a:latin typeface="Noto Sans KR"/>
              </a:rPr>
              <a:t>4학년 1학기 문의 시 1학기엔 기초 과정 선 진행 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356A"/>
                </a:solidFill>
                <a:latin typeface="Noto Sans KR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356A"/>
                </a:solidFill>
                <a:latin typeface="Noto Sans KR"/>
              </a:rPr>
              <a:t>2학기 자격증, 포폴 시기에 국취제 신청하여 수당 지급</a:t>
            </a:r>
          </a:p>
        </p:txBody>
      </p:sp>
      <p:sp>
        <p:nvSpPr>
          <p:cNvPr id="7" name="Card"/>
          <p:cNvSpPr/>
          <p:nvPr/>
        </p:nvSpPr>
        <p:spPr>
          <a:xfrm>
            <a:off x="2184400" y="5676900"/>
            <a:ext cx="7810500" cy="4064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다음 페이지에서 원본 안내문을 확대 확인</a:t>
            </a:r>
          </a:p>
        </p:txBody>
      </p:sp>
    </p:spTree>
    <p:extLst>
      <p:ext uri="{BB962C8B-B14F-4D97-AF65-F5344CB8AC3E}">
        <p14:creationId xmlns:p14="http://schemas.microsoft.com/office/powerpoint/2010/main" val="790026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견적서 활용 · 3D그래픽학과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397000"/>
          <a:ext cx="111125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0"/>
                <a:gridCol w="1270000"/>
                <a:gridCol w="2222500"/>
              </a:tblGrid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과목명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등록금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9월 프리미어 프로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10월 애프터이펙트 기초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11월 애프터이펙트 활용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12월 애프터이펙트 심화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9월 블렌더 기초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10월 블렌더 활용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500,000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11월 3D 에셋지브러쉬 기초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1422400" y="5651500"/>
            <a:ext cx="9334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356A"/>
                </a:solidFill>
                <a:latin typeface="Noto Sans KR"/>
              </a:rPr>
              <a:t>3D그래픽학과 등록금 세부 내역 · 1</a:t>
            </a:r>
          </a:p>
        </p:txBody>
      </p:sp>
    </p:spTree>
    <p:extLst>
      <p:ext uri="{BB962C8B-B14F-4D97-AF65-F5344CB8AC3E}">
        <p14:creationId xmlns:p14="http://schemas.microsoft.com/office/powerpoint/2010/main" val="2687062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카드 결제 스피치 · 자부담 없음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22-1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422400"/>
          <a:ext cx="111125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13335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730250"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8月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9月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10月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11月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12月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1月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2月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730250"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1E2B38"/>
                          </a:solidFill>
                          <a:latin typeface="Noto Sans KR"/>
                        </a:rPr>
                        <a:t>국취제 수당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신청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730250"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1E2B38"/>
                          </a:solidFill>
                          <a:latin typeface="Noto Sans KR"/>
                        </a:rPr>
                        <a:t>등록금 납부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6개월 할부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anchor="ctr"/>
                    <a:lstStyle/>
                    <a:p>
                      <a:pPr algn="ctr"/>
                      <a:r>
                        <a:rPr sz="1100" b="1">
                          <a:solidFill>
                            <a:srgbClr val="1E2B38"/>
                          </a:solidFill>
                          <a:latin typeface="Noto Sans KR"/>
                        </a:rPr>
                        <a:t>월 납부 금액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1E2B38"/>
                          </a:solidFill>
                          <a:latin typeface="Noto Sans KR"/>
                        </a:rPr>
                        <a:t>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2184400" y="4851400"/>
            <a:ext cx="7810500" cy="8890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356A"/>
                </a:solidFill>
                <a:latin typeface="Noto Sans KR"/>
              </a:rPr>
              <a:t>카드 무이자 6개월 할부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356A"/>
                </a:solidFill>
                <a:latin typeface="Noto Sans KR"/>
              </a:rPr>
              <a:t>60만원 납부 후 60만원 입금 -&gt; 납부금액 X</a:t>
            </a:r>
          </a:p>
        </p:txBody>
      </p:sp>
    </p:spTree>
    <p:extLst>
      <p:ext uri="{BB962C8B-B14F-4D97-AF65-F5344CB8AC3E}">
        <p14:creationId xmlns:p14="http://schemas.microsoft.com/office/powerpoint/2010/main" val="170133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카카오톡 활용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041400" y="1625600"/>
            <a:ext cx="10096500" cy="33020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상담 시 카톡 활용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카카오톡을 활용해 상담 전후 자료와 신청 링크를 전달하고, 문의자의 반응과 진행 상태를 이어서 관리합니다.</a:t>
            </a:r>
          </a:p>
        </p:txBody>
      </p:sp>
      <p:sp>
        <p:nvSpPr>
          <p:cNvPr id="7" name="Card"/>
          <p:cNvSpPr/>
          <p:nvPr/>
        </p:nvSpPr>
        <p:spPr>
          <a:xfrm>
            <a:off x="2184400" y="5461000"/>
            <a:ext cx="7810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356A"/>
                </a:solidFill>
                <a:latin typeface="Noto Sans KR"/>
              </a:rPr>
              <a:t>이어지는 페이지에서 관련 원본 자료를 한 장씩 확대 확인</a:t>
            </a:r>
          </a:p>
        </p:txBody>
      </p:sp>
    </p:spTree>
    <p:extLst>
      <p:ext uri="{BB962C8B-B14F-4D97-AF65-F5344CB8AC3E}">
        <p14:creationId xmlns:p14="http://schemas.microsoft.com/office/powerpoint/2010/main" val="2622207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기존 수강생 수급내역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24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041400" y="1625600"/>
            <a:ext cx="10096500" cy="33020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기존 수강생 수급내역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기존 수강생의 실제 수급 내역을 근거로 지원금 수령 사례를 설명합니다.</a:t>
            </a:r>
          </a:p>
        </p:txBody>
      </p:sp>
      <p:sp>
        <p:nvSpPr>
          <p:cNvPr id="7" name="Card"/>
          <p:cNvSpPr/>
          <p:nvPr/>
        </p:nvSpPr>
        <p:spPr>
          <a:xfrm>
            <a:off x="2184400" y="5461000"/>
            <a:ext cx="7810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356A"/>
                </a:solidFill>
                <a:latin typeface="Noto Sans KR"/>
              </a:rPr>
              <a:t>이어지는 페이지에서 관련 원본 자료를 한 장씩 확대 확인</a:t>
            </a:r>
          </a:p>
        </p:txBody>
      </p:sp>
    </p:spTree>
    <p:extLst>
      <p:ext uri="{BB962C8B-B14F-4D97-AF65-F5344CB8AC3E}">
        <p14:creationId xmlns:p14="http://schemas.microsoft.com/office/powerpoint/2010/main" val="1551073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과정 확대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25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041400" y="1625600"/>
            <a:ext cx="10096500" cy="33020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단순 컴활 취업 -&gt; 정규 확장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사무직? -&gt; 경리 or 마케팅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넓은 취업 목표를 구체적인 직무와 정규과정으로 연결합니다.</a:t>
            </a:r>
          </a:p>
        </p:txBody>
      </p:sp>
      <p:sp>
        <p:nvSpPr>
          <p:cNvPr id="7" name="Card"/>
          <p:cNvSpPr/>
          <p:nvPr/>
        </p:nvSpPr>
        <p:spPr>
          <a:xfrm>
            <a:off x="2184400" y="5461000"/>
            <a:ext cx="7810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356A"/>
                </a:solidFill>
                <a:latin typeface="Noto Sans KR"/>
              </a:rPr>
              <a:t>이어지는 페이지에서 관련 원본 자료를 한 장씩 확대 확인</a:t>
            </a:r>
          </a:p>
        </p:txBody>
      </p:sp>
    </p:spTree>
    <p:extLst>
      <p:ext uri="{BB962C8B-B14F-4D97-AF65-F5344CB8AC3E}">
        <p14:creationId xmlns:p14="http://schemas.microsoft.com/office/powerpoint/2010/main" val="64220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대상자가 아닐 때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26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041400" y="1625600"/>
            <a:ext cx="10096500" cy="33020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휴학생은 국비 불가 · 교육청 지원(할인) 가능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자퇴를 권하지 말 것!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지원 대상이 아니더라도 다른 지원 방식을 검토합니다.</a:t>
            </a:r>
          </a:p>
        </p:txBody>
      </p:sp>
      <p:sp>
        <p:nvSpPr>
          <p:cNvPr id="7" name="Card"/>
          <p:cNvSpPr/>
          <p:nvPr/>
        </p:nvSpPr>
        <p:spPr>
          <a:xfrm>
            <a:off x="2184400" y="5461000"/>
            <a:ext cx="7810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356A"/>
                </a:solidFill>
                <a:latin typeface="Noto Sans KR"/>
              </a:rPr>
              <a:t>이어지는 페이지에서 관련 원본 자료를 한 장씩 확대 확인</a:t>
            </a:r>
          </a:p>
        </p:txBody>
      </p:sp>
    </p:spTree>
    <p:extLst>
      <p:ext uri="{BB962C8B-B14F-4D97-AF65-F5344CB8AC3E}">
        <p14:creationId xmlns:p14="http://schemas.microsoft.com/office/powerpoint/2010/main" val="1490805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할인율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27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041400" y="1625600"/>
            <a:ext cx="10096500" cy="33020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국취제 = 할인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국비지원은 할인이 필수가 아니다!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356A"/>
                </a:solidFill>
                <a:latin typeface="Noto Sans KR"/>
              </a:rPr>
              <a:t>과정 적합성과 취업 목표를 중심으로 안내합니다.</a:t>
            </a:r>
          </a:p>
        </p:txBody>
      </p:sp>
      <p:sp>
        <p:nvSpPr>
          <p:cNvPr id="7" name="Card"/>
          <p:cNvSpPr/>
          <p:nvPr/>
        </p:nvSpPr>
        <p:spPr>
          <a:xfrm>
            <a:off x="2184400" y="5461000"/>
            <a:ext cx="7810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356A"/>
                </a:solidFill>
                <a:latin typeface="Noto Sans KR"/>
              </a:rPr>
              <a:t>이어지는 페이지에서 관련 원본 자료를 한 장씩 확대 확인</a:t>
            </a:r>
          </a:p>
        </p:txBody>
      </p:sp>
    </p:spTree>
    <p:extLst>
      <p:ext uri="{BB962C8B-B14F-4D97-AF65-F5344CB8AC3E}">
        <p14:creationId xmlns:p14="http://schemas.microsoft.com/office/powerpoint/2010/main" val="3151669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72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68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72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04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00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709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1554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495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605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530744E8-56C7-4C96-8641-8F39C132F0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0" t="6354" r="3400" b="88141"/>
          <a:stretch/>
        </p:blipFill>
        <p:spPr>
          <a:xfrm>
            <a:off x="5404117" y="2801256"/>
            <a:ext cx="1383765" cy="571278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15" y="1459684"/>
            <a:ext cx="4348589" cy="475419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9213" y="1459684"/>
            <a:ext cx="4485087" cy="475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074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530744E8-56C7-4C96-8641-8F39C132F0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0" t="6354" r="3400" b="88141"/>
          <a:stretch/>
        </p:blipFill>
        <p:spPr>
          <a:xfrm>
            <a:off x="5404117" y="2801256"/>
            <a:ext cx="1383765" cy="57127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60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71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75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99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721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063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230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8570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14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131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054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092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530744E8-56C7-4C96-8641-8F39C132F0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0" t="6354" r="3400" b="88141"/>
          <a:stretch/>
        </p:blipFill>
        <p:spPr>
          <a:xfrm>
            <a:off x="5404117" y="2801256"/>
            <a:ext cx="1383765" cy="57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02003"/>
      </p:ext>
    </p:extLst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국비지원 종류 · 카드 발급 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03-2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카드 발급 유형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국민 내일배움카드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1028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• 훈련비 300만원 지원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• 자부담비용은 직종평균 취업률(과거3년 평균)에 따라 15~55% 자부담하여야 함.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• 자부담비율은 직종평균 취업률(고용24 기준)에 따라 15~55% 자부담해야 함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3835400"/>
            <a:ext cx="10604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987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05-1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9624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국민취업지원제도 · 1유형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4330700"/>
            <a:ext cx="9690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B38"/>
                </a:solidFill>
                <a:latin typeface="Noto Sans KR"/>
              </a:rPr>
              <a:t>구직촉진수당 : 월60만 최대6개월 = 360만원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5105400"/>
            <a:ext cx="106045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5257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05-2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52324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국민취업지원제도 · 2유형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5600700"/>
            <a:ext cx="9690100" cy="4953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• 참여수당 : 15만원 + 프로그램에 따라 3~10만원 추가 지급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• 참여장려수당: 1회 2만원 X 최대 5회 = 10만원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국비지원 대상 및 지원한도 · 지원 제외 대상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04-2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572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지원 제외 대상(요약) · 2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17700"/>
            <a:ext cx="10604500" cy="584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07  월 소득 300만원 이상 비영리단체 대표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2616200"/>
            <a:ext cx="106045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08  졸업까지 2년 이상 남은 대학(원)생</a:t>
            </a:r>
          </a:p>
        </p:txBody>
      </p:sp>
      <p:sp>
        <p:nvSpPr>
          <p:cNvPr id="9" name="Card"/>
          <p:cNvSpPr/>
          <p:nvPr/>
        </p:nvSpPr>
        <p:spPr>
          <a:xfrm>
            <a:off x="787400" y="3314700"/>
            <a:ext cx="10604500" cy="584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09  생계급여 수급자(단, 조건부 수급자·조건부 유예자는 가능)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4013200"/>
            <a:ext cx="106045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10  다른 부처·지자체에서 훈련비를 지원받는 사람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4711700"/>
            <a:ext cx="10604500" cy="584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B38"/>
                </a:solidFill>
                <a:latin typeface="Noto Sans KR"/>
              </a:rPr>
              <a:t>11  부정수급자 등</a:t>
            </a:r>
          </a:p>
        </p:txBody>
      </p:sp>
      <p:sp>
        <p:nvSpPr>
          <p:cNvPr id="12" name="Card"/>
          <p:cNvSpPr/>
          <p:nvPr/>
        </p:nvSpPr>
        <p:spPr>
          <a:xfrm>
            <a:off x="787400" y="5562600"/>
            <a:ext cx="10604500" cy="3810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KR"/>
              </a:rPr>
              <a:t>훈련비 지원율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국비지원 대상 및 지원한도 · 훈련비 지원율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04-3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787400" y="1282700"/>
            <a:ext cx="10604500" cy="4572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훈련비 지원율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43100"/>
            <a:ext cx="106045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0955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701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지원율 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38400"/>
            <a:ext cx="9690100" cy="2413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일반 참여자 45~85%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2933700"/>
            <a:ext cx="106045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086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0607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지원율 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429000"/>
            <a:ext cx="9690100" cy="2413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국민취업지원제도 I유형, II유형 중 특정계층 등 일반 자부담 적용자 80~100%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3924300"/>
            <a:ext cx="106045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0767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0513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지원율 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4419600"/>
            <a:ext cx="9690100" cy="2413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국민취업지원제도 II유형(청년·중장년 등) 50~85%</a:t>
            </a:r>
          </a:p>
        </p:txBody>
      </p:sp>
      <p:sp>
        <p:nvSpPr>
          <p:cNvPr id="19" name="Card"/>
          <p:cNvSpPr/>
          <p:nvPr/>
        </p:nvSpPr>
        <p:spPr>
          <a:xfrm>
            <a:off x="787400" y="4914900"/>
            <a:ext cx="106045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0" name="Card"/>
          <p:cNvSpPr/>
          <p:nvPr/>
        </p:nvSpPr>
        <p:spPr>
          <a:xfrm>
            <a:off x="939800" y="50673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549400" y="50419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지원율 4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49400" y="5410200"/>
            <a:ext cx="9690100" cy="2413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근로장려금(EITC) 수급자 72.5~92.5%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국비지원 대상 및 지원한도 · 추가 지원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04-4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168400" y="1282700"/>
            <a:ext cx="9842500" cy="6350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356A"/>
                </a:solidFill>
                <a:latin typeface="Noto Sans KR"/>
              </a:rPr>
              <a:t>300만원 소진 시 200만원 추가 / 총 500만원 한도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2146300"/>
            <a:ext cx="10604500" cy="4572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추가 지원 대상자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2755900"/>
            <a:ext cx="10604500" cy="3429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01  기간제·파견·단시간·일용근로자로 재직 중인 피보험자</a:t>
            </a:r>
          </a:p>
        </p:txBody>
      </p:sp>
      <p:sp>
        <p:nvSpPr>
          <p:cNvPr id="9" name="Card"/>
          <p:cNvSpPr/>
          <p:nvPr/>
        </p:nvSpPr>
        <p:spPr>
          <a:xfrm>
            <a:off x="787400" y="3162300"/>
            <a:ext cx="106045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02  고용위기지역·선제대응지역 지원대상자, 특별고용지원업종 종사자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3568700"/>
            <a:ext cx="10604500" cy="3429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03  출소(예정)자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3975100"/>
            <a:ext cx="106045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04  기초생활수급자 및 차상위계층</a:t>
            </a:r>
          </a:p>
        </p:txBody>
      </p:sp>
      <p:sp>
        <p:nvSpPr>
          <p:cNvPr id="12" name="Card"/>
          <p:cNvSpPr/>
          <p:nvPr/>
        </p:nvSpPr>
        <p:spPr>
          <a:xfrm>
            <a:off x="787400" y="4381500"/>
            <a:ext cx="10604500" cy="3429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05  장애인</a:t>
            </a:r>
          </a:p>
        </p:txBody>
      </p:sp>
      <p:sp>
        <p:nvSpPr>
          <p:cNvPr id="13" name="Card"/>
          <p:cNvSpPr/>
          <p:nvPr/>
        </p:nvSpPr>
        <p:spPr>
          <a:xfrm>
            <a:off x="787400" y="4787900"/>
            <a:ext cx="106045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06  자립준비청년, 한부모가족 해당자</a:t>
            </a:r>
          </a:p>
        </p:txBody>
      </p:sp>
      <p:sp>
        <p:nvSpPr>
          <p:cNvPr id="14" name="Card"/>
          <p:cNvSpPr/>
          <p:nvPr/>
        </p:nvSpPr>
        <p:spPr>
          <a:xfrm>
            <a:off x="787400" y="5194300"/>
            <a:ext cx="10604500" cy="3429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07  북한이탈주민, 아프간 특별기여자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5600700"/>
            <a:ext cx="106045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E2B38"/>
                </a:solidFill>
                <a:latin typeface="Noto Sans KR"/>
              </a:rPr>
              <a:t>08  청소년복지지원법에 따른 가정밖 청소년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87400" y="6197600"/>
            <a:ext cx="10604500" cy="190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B8794"/>
                </a:solidFill>
                <a:latin typeface="Noto Sans KR"/>
              </a:rPr>
              <a:t>※ 고용24 기준 요약 정리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1. 국비지원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내일배움카드 vs 국민취업지원제도 · 국민취업지원제도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05-2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1168400" y="1270000"/>
            <a:ext cx="9842500" cy="609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356A"/>
                </a:solidFill>
                <a:latin typeface="Noto Sans KR"/>
              </a:rPr>
              <a:t>선수업 후 지급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2070100"/>
            <a:ext cx="10604500" cy="3937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장점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2603500"/>
            <a:ext cx="5143500" cy="7874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01  스케줄, 과정 조율 가능, 모든 과목에 적용할 수 있음</a:t>
            </a:r>
          </a:p>
        </p:txBody>
      </p:sp>
      <p:sp>
        <p:nvSpPr>
          <p:cNvPr id="9" name="Card"/>
          <p:cNvSpPr/>
          <p:nvPr/>
        </p:nvSpPr>
        <p:spPr>
          <a:xfrm>
            <a:off x="6121400" y="2603500"/>
            <a:ext cx="5143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02  촉진수당 360만원 전액 수강료 사용 가능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3517900"/>
            <a:ext cx="5143500" cy="7874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03  비대면으로 진행해도 수당 지급</a:t>
            </a:r>
          </a:p>
        </p:txBody>
      </p:sp>
      <p:sp>
        <p:nvSpPr>
          <p:cNvPr id="11" name="Card"/>
          <p:cNvSpPr/>
          <p:nvPr/>
        </p:nvSpPr>
        <p:spPr>
          <a:xfrm>
            <a:off x="6121400" y="3517900"/>
            <a:ext cx="5143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E2B38"/>
                </a:solidFill>
                <a:latin typeface="Noto Sans KR"/>
              </a:rPr>
              <a:t>04  취업 성공 수당 150만원까지 수급 가능</a:t>
            </a:r>
          </a:p>
        </p:txBody>
      </p:sp>
      <p:sp>
        <p:nvSpPr>
          <p:cNvPr id="12" name="Card"/>
          <p:cNvSpPr/>
          <p:nvPr/>
        </p:nvSpPr>
        <p:spPr>
          <a:xfrm>
            <a:off x="787400" y="4495800"/>
            <a:ext cx="10604500" cy="3937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단점</a:t>
            </a:r>
          </a:p>
        </p:txBody>
      </p:sp>
      <p:sp>
        <p:nvSpPr>
          <p:cNvPr id="13" name="Card"/>
          <p:cNvSpPr/>
          <p:nvPr/>
        </p:nvSpPr>
        <p:spPr>
          <a:xfrm>
            <a:off x="787400" y="5029200"/>
            <a:ext cx="5143500" cy="4318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E2B38"/>
                </a:solidFill>
                <a:latin typeface="Noto Sans KR"/>
              </a:rPr>
              <a:t>• 선 납부 후 수당 지급으로 인한 부담 증가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국비 문의의 흐름 · 원본 확대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06A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06-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27" y="1193800"/>
            <a:ext cx="8692444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내용을 확대 배치한 참고 페이지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국비 문의자 유형 · 원본 확대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07A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07-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27" y="1193800"/>
            <a:ext cx="8692444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내용을 확대 배치한 참고 페이지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구직자 컨택 스피치 ·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08-2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국비지원 시 금액을 물어보는 경우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“유형에 따라 자부담이 다릅니다. 배움카드 사용해보신적 있으실까요?” -&gt; 있다면 기존에 얼마나 납부했는지? / 없다면 상담 시 정확히 조회 가능으로 안내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“원수강료는 50만원인데 국비지원 시 (할인가 적용) 30~40만원입니다.” -&gt; 정확한 금액을 오픈하지 않고 대략적인 금액 오픈으로 상담 유도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상담 날짜를 당기고 싶을 경우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“국민취업지원제도는 예산이 정해져 있기 때문에 빠르게 신청하시는 것이 안정적으로 6개월 전체 수령 가능합니다.”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“예산이 소진이 가까워질 수록 조건이 까다로워지거나 조기 종료 가능성 있으니 오늘(내일) 상담 오셔서 안내 후 신청까지 안내해드리겠습니다.”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“내일배움카드 수업은 매 달 개강하지 않고 참여 절차가 있고 개강 후 참여는 어렵기 때문에 빠른 상담 후 고민해보시는게 좋습니다.”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재직자 컨택 스피치 ·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09-2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국비지원 시 금액을 물어보는 경우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“재직자는 공무원, 대기업 종사자는 국비 불가하며 일반 재직자의 경우 가구단위 소득에 따라 유형은 달라집니다.”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“재직자는 보통 교육과정이나 유형에 따라 30~70%까지는 지원받고 30~70%는 본인 부담입니다. 단과보다는 정규과정이 지원율이 높습니다.”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국비 개설되지 않는 과정을 문의하는 경우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“컴활 과정은 취업연계 과정이 아니기 때문에 국비과정은 개설이 어렵습니다. 웹디자인, IT개발, 건축인테리어 등이 4~6개월 과정으로 개설됩니다.”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“드로잉은 관련 국가자격증도 없고 국가에서 지원하는 직종이 아니기 때문에 국비과정 개설이 어렵습니다.”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“3D 과정은 정규 국비과정에 포함되어 있는데 3D만 개별적으로 국비는 개설이 어렵습니다.”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페이스북 DB 컨택 스피치 · 원본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10A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10-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169741"/>
            <a:ext cx="11112500" cy="937617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상담 자료 확대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페이스북 DB 컨택 스피치 · 원본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10B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280" y="1193800"/>
            <a:ext cx="4698739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상담 자료 확대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실업급여 수령자 컨택 스피치 · 원본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11A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047" y="1193800"/>
            <a:ext cx="6615205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상담 자료 확대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2. 컨택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실업급여 수령자 컨택 스피치 · 원본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11B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229" y="1193800"/>
            <a:ext cx="8126840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상담 자료 확대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구직자 국비문의 상담 · 핵심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12-2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533400" y="1295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국민취업지원제도 활용 주의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87400" y="1905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국민취업지원제도는 강력한 무기가 될 수 있습니다.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단, 수강생을 위해 알아봐 준 제도처럼 안내하는 것이 좋습니다.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“60만원씩 6개월 수당”처럼 환급 형식으로만 설명하면 환불 위험이 커질 수 있습니다.</a:t>
            </a:r>
          </a:p>
        </p:txBody>
      </p:sp>
      <p:sp>
        <p:nvSpPr>
          <p:cNvPr id="9" name="Card"/>
          <p:cNvSpPr/>
          <p:nvPr/>
        </p:nvSpPr>
        <p:spPr>
          <a:xfrm>
            <a:off x="533400" y="3708400"/>
            <a:ext cx="11112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0" name="Card"/>
          <p:cNvSpPr/>
          <p:nvPr/>
        </p:nvSpPr>
        <p:spPr>
          <a:xfrm>
            <a:off x="533400" y="3708400"/>
            <a:ext cx="11112500" cy="4318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멘토의 설득 역할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87400" y="4318000"/>
            <a:ext cx="10604500" cy="13716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수강생의 니즈를 맞추는 것도 중요하지만, 한계를 부수는 설득 능력도 필요합니다.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전문성 있는 멘토로 납득되면 정규과정 후 국비 수강 방향도 자연스럽게 설득됩니다.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E2B38"/>
                </a:solidFill>
                <a:latin typeface="Noto Sans KR"/>
              </a:rPr>
              <a:t>• 보이지 않는 교육의 가치를 보이게 만들어주는 것이 상담의 핵심입니다.</a:t>
            </a:r>
          </a:p>
        </p:txBody>
      </p:sp>
      <p:sp>
        <p:nvSpPr>
          <p:cNvPr id="12" name="Card"/>
          <p:cNvSpPr/>
          <p:nvPr/>
        </p:nvSpPr>
        <p:spPr>
          <a:xfrm>
            <a:off x="1168400" y="5880100"/>
            <a:ext cx="9842500" cy="444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수강생의 목표에 집중해 상담하면, 국비가 되지 않는 상황도 더 적합한 대안을 찾는 계기가 될 수 있습니다.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구직자 국비문의 상담 · 상담 단계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13-2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787400" y="1295400"/>
            <a:ext cx="106045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939800" y="1447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549400" y="14224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1. 컨디션 파악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1790700"/>
            <a:ext cx="9690100" cy="698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국비만으로 해결 가능한 학습자인지 확인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일반과정을 함께 연결할 필요가 있는지 판단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학생의 성향과 취업 가능성을 상담 초반에 파악</a:t>
            </a:r>
          </a:p>
        </p:txBody>
      </p:sp>
      <p:sp>
        <p:nvSpPr>
          <p:cNvPr id="10" name="Card"/>
          <p:cNvSpPr/>
          <p:nvPr/>
        </p:nvSpPr>
        <p:spPr>
          <a:xfrm>
            <a:off x="787400" y="2768600"/>
            <a:ext cx="106045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939800" y="2921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549400" y="2895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2. 유형별 방향 설정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263900"/>
            <a:ext cx="9690100" cy="698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뚜 부러진 학습자: 국비 + 필요한 일반과정 병행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우유부단하거나 취업이 어려워 보이는 경우: 정규과정 전환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이후 국비 수강까지 고려할 수 있게 흐름 설정</a:t>
            </a:r>
          </a:p>
        </p:txBody>
      </p:sp>
      <p:sp>
        <p:nvSpPr>
          <p:cNvPr id="14" name="Card"/>
          <p:cNvSpPr/>
          <p:nvPr/>
        </p:nvSpPr>
        <p:spPr>
          <a:xfrm>
            <a:off x="787400" y="4241800"/>
            <a:ext cx="106045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939800" y="4394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549400" y="4368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3. 기대효과 제시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737100"/>
            <a:ext cx="9690100" cy="698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학습자 상황에 맞춘 대안을 먼저 제시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과정 선택으로 얻을 수 있는 결과를 명확하게 설명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E2B38"/>
                </a:solidFill>
                <a:latin typeface="Noto Sans KR"/>
              </a:rPr>
              <a:t>• 국비 니즈보다 취업 가능성과 학습 안정성을 중심으로 안내</a:t>
            </a:r>
          </a:p>
        </p:txBody>
      </p:sp>
      <p:sp>
        <p:nvSpPr>
          <p:cNvPr id="18" name="Card"/>
          <p:cNvSpPr/>
          <p:nvPr/>
        </p:nvSpPr>
        <p:spPr>
          <a:xfrm>
            <a:off x="1168400" y="5880100"/>
            <a:ext cx="9842500" cy="444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국비 니즈만 맞추기보다, 학습자의 취업 가능성과 과정 적합성을 기준으로 상담 방향을 잡는 것이 중요합니다.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스피치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14-2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572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스피치 1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17700"/>
            <a:ext cx="10604500" cy="17145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설명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국비는 취업률 향상을 위해 훈련비를 지원하는 제도입니다. 재직자는 지원이 어렵거나 자부담 비율이 높을 수 있습니다. 또 국비과정은 과정 편성을 자유롭게 바꾸기 어렵고, 불필요한 과정이 함께 편성되어 원수강료와 실 자부담이 커질 수 있습니다.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3848100"/>
            <a:ext cx="10604500" cy="1587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응대 포인트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따라서 ○○님은 일반과정으로 들어가셔서 프로모션 적용을 받으시는 편이 더 저렴할 수 있습니다.</a:t>
            </a:r>
          </a:p>
        </p:txBody>
      </p:sp>
      <p:sp>
        <p:nvSpPr>
          <p:cNvPr id="9" name="Card"/>
          <p:cNvSpPr/>
          <p:nvPr/>
        </p:nvSpPr>
        <p:spPr>
          <a:xfrm>
            <a:off x="1422400" y="5778500"/>
            <a:ext cx="9334500" cy="4445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재직자 상담에서는 국비 가능 여부보다 실제 비용, 일정, 그리고 목표에 맞는 선택지를 중심으로 안내하는 것이 중요합니다.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스피치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14-3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57200"/>
          </a:xfrm>
          <a:prstGeom prst="rect">
            <a:avLst/>
          </a:prstGeom>
          <a:solidFill>
            <a:srgbClr val="064682"/>
          </a:solidFill>
          <a:ln w="12700">
            <a:solidFill>
              <a:srgbClr val="06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스피치 2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17700"/>
            <a:ext cx="10604500" cy="17145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설명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>국비과정은 취업과정 중심으로 개설되기 때문에 보통 일 4~5시간, 6개월 과정처럼 운영됩니다. 그래서 재직자에게 맞는 시간과 기간으로 유연하게 맞추기 어렵고, 시간대가 제한되어 개설이 불안정할 수 있습니다.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3848100"/>
            <a:ext cx="10604500" cy="1587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응대 포인트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따라서 ○○님은 일반과정으로 들어가셔야 스케줄을 훨씬 더 원활하게 맞추실 수 있습니다.</a:t>
            </a:r>
          </a:p>
        </p:txBody>
      </p:sp>
      <p:sp>
        <p:nvSpPr>
          <p:cNvPr id="9" name="Card"/>
          <p:cNvSpPr/>
          <p:nvPr/>
        </p:nvSpPr>
        <p:spPr>
          <a:xfrm>
            <a:off x="1422400" y="5778500"/>
            <a:ext cx="9334500" cy="4445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재직자 상담에서는 국비 가능 여부보다 실제 비용, 일정, 그리고 목표에 맞는 선택지를 중심으로 안내하는 것이 중요합니다.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변수 응대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15-2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572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전액 지원이 될 줄 알았다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2006600"/>
            <a:ext cx="10604500" cy="14605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B38"/>
                </a:solidFill>
                <a:latin typeface="Noto Sans KR"/>
              </a:rPr>
              <a:t>재직자나 중장년층처럼 금전적 여유가 있는 분들에게까지 전액 지원을 해드리면 청년층 구직자들이 취업 기회를 얻기 어려워질 수 있습니다.</a:t>
            </a:r>
          </a:p>
        </p:txBody>
      </p:sp>
      <p:sp>
        <p:nvSpPr>
          <p:cNvPr id="8" name="Card"/>
          <p:cNvSpPr/>
          <p:nvPr/>
        </p:nvSpPr>
        <p:spPr>
          <a:xfrm>
            <a:off x="787400" y="3721100"/>
            <a:ext cx="10604500" cy="14605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B38"/>
                </a:solidFill>
                <a:latin typeface="Noto Sans KR"/>
              </a:rPr>
              <a:t>대신 본원 교육은 투자하신 금액 이상으로, 타 학원 대비 높은 퀄리티의 교육을 제공해 목표 달성을 돕겠습니다.</a:t>
            </a:r>
          </a:p>
        </p:txBody>
      </p:sp>
      <p:sp>
        <p:nvSpPr>
          <p:cNvPr id="9" name="Card"/>
          <p:cNvSpPr/>
          <p:nvPr/>
        </p:nvSpPr>
        <p:spPr>
          <a:xfrm>
            <a:off x="787400" y="5461000"/>
            <a:ext cx="10604500" cy="8001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활용 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• 할인율을 단순 할인보다 ‘교육 장학 지원’ 같은 명분으로 제시하면 설득력이 높아진다.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A356A"/>
                </a:solidFill>
                <a:latin typeface="Noto Sans KR"/>
              </a:rPr>
              <a:t>• 신분증 등을 받아 조회해드리겠다는 액션도 좋다.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재직자 국비문의 상담 · 상담 마무리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15-3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333500"/>
            <a:ext cx="11112500" cy="92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4859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4605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828800"/>
            <a:ext cx="10198100" cy="304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대부분의 수강생 목적은 국비 자체가 아니라 자신의 목표 달성에 있다.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374900"/>
            <a:ext cx="11112500" cy="92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25273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5019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2870200"/>
            <a:ext cx="10198100" cy="304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국비에만 초점을 맞추면 목표가 흐려지고, 돈 중심으로 과정을 찾게 될 수 있다.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3416300"/>
            <a:ext cx="11112500" cy="92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35687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35433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3911600"/>
            <a:ext cx="10198100" cy="304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본원 과정은 단순 체험이 아니라 업무 활용, 생계, 이직, 꿈과 연결되는 교육이다.</a:t>
            </a:r>
          </a:p>
        </p:txBody>
      </p:sp>
      <p:sp>
        <p:nvSpPr>
          <p:cNvPr id="18" name="Card"/>
          <p:cNvSpPr/>
          <p:nvPr/>
        </p:nvSpPr>
        <p:spPr>
          <a:xfrm>
            <a:off x="533400" y="4457700"/>
            <a:ext cx="11112500" cy="92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9" name="Card"/>
          <p:cNvSpPr/>
          <p:nvPr/>
        </p:nvSpPr>
        <p:spPr>
          <a:xfrm>
            <a:off x="685800" y="46101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95400" y="45847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5400" y="4953000"/>
            <a:ext cx="10198100" cy="304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따라서 국비 가능 여부가 등록 여부를 결정하는 유일한 이유가 되어서는 안 된다.</a:t>
            </a:r>
          </a:p>
        </p:txBody>
      </p:sp>
      <p:sp>
        <p:nvSpPr>
          <p:cNvPr id="22" name="Card"/>
          <p:cNvSpPr/>
          <p:nvPr/>
        </p:nvSpPr>
        <p:spPr>
          <a:xfrm>
            <a:off x="1168400" y="5880100"/>
            <a:ext cx="9842500" cy="4445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수강생의 목표에 집중해 상담하면, 국비가 되지 않는 상황도 등록을 막는 이유가 아니라 더 적합한 대안을 찾는 계기가 될 수 있습니다.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내일배움카드 타파 방법 · 기본 컨택 스피치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16-2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700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422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3970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내일배움카드 교육 찾는 경우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7653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수요의 80% 이상은 내일배움카드에 해당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지원 제도가 다양해져 방문 시에 개인에게 맞는 국비 과정을 안내해주겠다 이야기 후에 상담 시 국민취업지원제도와 내일배움카드 장단점 비교 후 선택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4384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2590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5654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국비 언급은 없으나 국민취업지원제도 참여 조건이 가능한 경우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29337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국비 적용 가능한 부분을 먼저 언급 함으로써 타학원 국비 수업과 더블 방지 및 방문에 대한 명분을 제시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36068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3759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37338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국민취업지원제도로 방문 유도를 하고 싶을 경우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41021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학원 방문 시 모의 산정을 통해 얼마나 지원 받을 수 있는지 확인해주겠다고 안내</a:t>
            </a:r>
          </a:p>
        </p:txBody>
      </p:sp>
      <p:sp>
        <p:nvSpPr>
          <p:cNvPr id="18" name="Card"/>
          <p:cNvSpPr/>
          <p:nvPr/>
        </p:nvSpPr>
        <p:spPr>
          <a:xfrm>
            <a:off x="533400" y="4775200"/>
            <a:ext cx="111125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9" name="Card"/>
          <p:cNvSpPr/>
          <p:nvPr/>
        </p:nvSpPr>
        <p:spPr>
          <a:xfrm>
            <a:off x="685800" y="4927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95400" y="49022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상담 날짜를 당기고 싶을 경우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5400" y="5270500"/>
            <a:ext cx="10198100" cy="4191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국민취업지원제도에는 예산이 정해져 있음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해당 예산이 특정 기간까지 소진 예정에 있다는 스피치 활용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국민취업지원제도 상담 · Ⅰ유형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18-2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Ⅰ유형 참여 제한 대상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취업 중인 자(단, 임금근로자 주 30시간 미만, 사업소득자 월소득 250만원 미만은 불완전 취업자로 참여 가능)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29972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149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124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4925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근로능력, 취업 및 구직의사가 없는 사람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40386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191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165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45339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생계급여 수급자</a:t>
            </a:r>
          </a:p>
        </p:txBody>
      </p:sp>
      <p:sp>
        <p:nvSpPr>
          <p:cNvPr id="19" name="Card"/>
          <p:cNvSpPr/>
          <p:nvPr/>
        </p:nvSpPr>
        <p:spPr>
          <a:xfrm>
            <a:off x="787400" y="50800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0" name="Card"/>
          <p:cNvSpPr/>
          <p:nvPr/>
        </p:nvSpPr>
        <p:spPr>
          <a:xfrm>
            <a:off x="939800" y="5232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549400" y="52070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4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49400" y="55753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구직급여를 수급 중이거나 수급 종료 후 6개월이 지나지 않은 사람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국민취업지원제도 상담 · Ⅰ유형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18-3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Ⅰ유형 참여 제한 대상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05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5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재정지원 일자리사업에 참여 중이거나 참여 종료 후 6개월이 지나지 않은 사람. 단 일부사업의 경우 참여 종료 후 즉시 참여 가능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29972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149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06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124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6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4925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국가 또는 지방자치단체가 구직활동에 필요한 비용을 지원하는 수당을 수급 중이거나 수급 종료 후 6개월이 지나지 않은 사람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40386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191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07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165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7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45339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신청인 본인의 월평균 소득이 1인 가구 기준 중위소득의 60%(1,538,543원)가 넘는 사람</a:t>
            </a:r>
          </a:p>
        </p:txBody>
      </p:sp>
      <p:sp>
        <p:nvSpPr>
          <p:cNvPr id="19" name="Card"/>
          <p:cNvSpPr/>
          <p:nvPr/>
        </p:nvSpPr>
        <p:spPr>
          <a:xfrm>
            <a:off x="787400" y="50800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0" name="Card"/>
          <p:cNvSpPr/>
          <p:nvPr/>
        </p:nvSpPr>
        <p:spPr>
          <a:xfrm>
            <a:off x="939800" y="5232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08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549400" y="52070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Ⅰ유형 제한 항목 8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49400" y="55753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상급학교 진학 및 전문자격증 취득을 목적으로 각종학교에 재학 또는 학원 등에서 수강중인 사람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국민취업지원제도 상담 · Ⅱ유형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18-4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Ⅱ유형 참여 제한 대상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취업 중인 자(단, 임금근로자 주 30시간 미만, 사업소득자 월소득 250만원 미만은 불완전 취업자로 참여 가능)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29972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149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124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4925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근로능력, 취업 및 구직의사가 없는 사람</a:t>
            </a:r>
          </a:p>
        </p:txBody>
      </p:sp>
      <p:sp>
        <p:nvSpPr>
          <p:cNvPr id="15" name="Card"/>
          <p:cNvSpPr/>
          <p:nvPr/>
        </p:nvSpPr>
        <p:spPr>
          <a:xfrm>
            <a:off x="787400" y="40386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6" name="Card"/>
          <p:cNvSpPr/>
          <p:nvPr/>
        </p:nvSpPr>
        <p:spPr>
          <a:xfrm>
            <a:off x="939800" y="41910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49400" y="41656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49400" y="45339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구직급여 수급자(수급 종료 후 참여 가능)</a:t>
            </a:r>
          </a:p>
        </p:txBody>
      </p:sp>
      <p:sp>
        <p:nvSpPr>
          <p:cNvPr id="19" name="Card"/>
          <p:cNvSpPr/>
          <p:nvPr/>
        </p:nvSpPr>
        <p:spPr>
          <a:xfrm>
            <a:off x="787400" y="50800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20" name="Card"/>
          <p:cNvSpPr/>
          <p:nvPr/>
        </p:nvSpPr>
        <p:spPr>
          <a:xfrm>
            <a:off x="939800" y="52324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549400" y="52070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4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49400" y="55753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재정지원 일자리사업에 참여 중인 사람(종료후 참여가능)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국민취업지원제도 상담 · Ⅱ유형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18-5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44600"/>
            <a:ext cx="11112500" cy="482600"/>
          </a:xfrm>
          <a:prstGeom prst="rect">
            <a:avLst/>
          </a:prstGeom>
          <a:solidFill>
            <a:srgbClr val="0A4F99"/>
          </a:solidFill>
          <a:ln w="12700">
            <a:solidFill>
              <a:srgbClr val="0A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Ⅱ유형 참여 제한 대상</a:t>
            </a:r>
          </a:p>
        </p:txBody>
      </p:sp>
      <p:sp>
        <p:nvSpPr>
          <p:cNvPr id="7" name="Card"/>
          <p:cNvSpPr/>
          <p:nvPr/>
        </p:nvSpPr>
        <p:spPr>
          <a:xfrm>
            <a:off x="787400" y="19558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8" name="Card"/>
          <p:cNvSpPr/>
          <p:nvPr/>
        </p:nvSpPr>
        <p:spPr>
          <a:xfrm>
            <a:off x="939800" y="21082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05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49400" y="20828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5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49400" y="24511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국가 또는 지방자치단체가 구직활동에 필요한 비용을 지원하는 수당을 수급 중인 사람(수급 종료 후 참여 가능)</a:t>
            </a:r>
          </a:p>
        </p:txBody>
      </p:sp>
      <p:sp>
        <p:nvSpPr>
          <p:cNvPr id="11" name="Card"/>
          <p:cNvSpPr/>
          <p:nvPr/>
        </p:nvSpPr>
        <p:spPr>
          <a:xfrm>
            <a:off x="787400" y="2997200"/>
            <a:ext cx="106045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2" name="Card"/>
          <p:cNvSpPr/>
          <p:nvPr/>
        </p:nvSpPr>
        <p:spPr>
          <a:xfrm>
            <a:off x="939800" y="31496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06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49400" y="3124200"/>
            <a:ext cx="9690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Ⅱ유형 제한 항목 6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49400" y="3492500"/>
            <a:ext cx="9690100" cy="2667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E2B38"/>
                </a:solidFill>
                <a:latin typeface="Noto Sans KR"/>
              </a:rPr>
              <a:t>상급학교 진학 및 전문자격증 취득을 목적으로 각종학교에 재학 또는 학원 등에서 수강중인 사람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국민취업지원제도 상담 · 원본 기준표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18-A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587" y="1193800"/>
            <a:ext cx="8672125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국민취업지원제도 참여 제한 대상 원본 확대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가구단위·소득 기준 안내 · 상담 가이드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19-2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"/>
          <p:cNvSpPr/>
          <p:nvPr/>
        </p:nvSpPr>
        <p:spPr>
          <a:xfrm>
            <a:off x="533400" y="1295400"/>
            <a:ext cx="11112500" cy="901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7" name="Card"/>
          <p:cNvSpPr/>
          <p:nvPr/>
        </p:nvSpPr>
        <p:spPr>
          <a:xfrm>
            <a:off x="685800" y="1447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295400" y="14224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295400" y="1790700"/>
            <a:ext cx="10198100" cy="279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가구단위 (★매우 중요★)</a:t>
            </a:r>
          </a:p>
        </p:txBody>
      </p:sp>
      <p:sp>
        <p:nvSpPr>
          <p:cNvPr id="10" name="Card"/>
          <p:cNvSpPr/>
          <p:nvPr/>
        </p:nvSpPr>
        <p:spPr>
          <a:xfrm>
            <a:off x="533400" y="2311400"/>
            <a:ext cx="11112500" cy="901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1" name="Card"/>
          <p:cNvSpPr/>
          <p:nvPr/>
        </p:nvSpPr>
        <p:spPr>
          <a:xfrm>
            <a:off x="685800" y="2463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5400" y="24384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2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5400" y="2806700"/>
            <a:ext cx="10198100" cy="279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4인가구 기준 가구단위는 3인가구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-&gt; 형제,자매 미포함(2촌)</a:t>
            </a:r>
          </a:p>
        </p:txBody>
      </p:sp>
      <p:sp>
        <p:nvSpPr>
          <p:cNvPr id="14" name="Card"/>
          <p:cNvSpPr/>
          <p:nvPr/>
        </p:nvSpPr>
        <p:spPr>
          <a:xfrm>
            <a:off x="533400" y="3327400"/>
            <a:ext cx="11112500" cy="901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5" name="Card"/>
          <p:cNvSpPr/>
          <p:nvPr/>
        </p:nvSpPr>
        <p:spPr>
          <a:xfrm>
            <a:off x="685800" y="3479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5400" y="34544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5400" y="3822700"/>
            <a:ext cx="10198100" cy="279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소득 초과 시 주소지 이전 (전입신고)</a:t>
            </a:r>
          </a:p>
        </p:txBody>
      </p:sp>
      <p:sp>
        <p:nvSpPr>
          <p:cNvPr id="18" name="Card"/>
          <p:cNvSpPr/>
          <p:nvPr/>
        </p:nvSpPr>
        <p:spPr>
          <a:xfrm>
            <a:off x="533400" y="4343400"/>
            <a:ext cx="11112500" cy="901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B38"/>
                </a:solidFill>
                <a:latin typeface="Noto Sans KR"/>
              </a:rPr>
              <a:t/>
            </a:r>
          </a:p>
        </p:txBody>
      </p:sp>
      <p:sp>
        <p:nvSpPr>
          <p:cNvPr id="19" name="Card"/>
          <p:cNvSpPr/>
          <p:nvPr/>
        </p:nvSpPr>
        <p:spPr>
          <a:xfrm>
            <a:off x="685800" y="4495800"/>
            <a:ext cx="457200" cy="4572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4F99"/>
                </a:solidFill>
                <a:latin typeface="Noto Sans KR"/>
              </a:rPr>
              <a:t>04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95400" y="4470400"/>
            <a:ext cx="10198100" cy="3175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356A"/>
                </a:solidFill>
                <a:latin typeface="Noto Sans KR"/>
              </a:rPr>
              <a:t>핵심 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5400" y="4838700"/>
            <a:ext cx="10198100" cy="279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조부모 &gt; 형제,자매 &gt; 친척 &gt; 친구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B38"/>
                </a:solidFill>
                <a:latin typeface="Noto Sans KR"/>
              </a:rPr>
              <a:t>-&gt; 조부모 댁으로 이전 시 추가 10~20만원</a:t>
            </a:r>
          </a:p>
        </p:txBody>
      </p:sp>
      <p:sp>
        <p:nvSpPr>
          <p:cNvPr id="22" name="Card"/>
          <p:cNvSpPr/>
          <p:nvPr/>
        </p:nvSpPr>
        <p:spPr>
          <a:xfrm>
            <a:off x="1422400" y="5651500"/>
            <a:ext cx="9334500" cy="5334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356A"/>
                </a:solidFill>
                <a:latin typeface="Noto Sans KR"/>
              </a:rPr>
              <a:t>★ 주소지 이전 스피치 사용 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356A"/>
                </a:solidFill>
                <a:latin typeface="Noto Sans KR"/>
              </a:rPr>
              <a:t>- 정부24로 간편하게 이전하는 방법 추천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가구단위·소득 기준 안내 · 원본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19-A1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87430"/>
            <a:ext cx="11112499" cy="3102239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가구단위·소득 기준 원본 확대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가구단위·소득 기준 안내 · 원본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19-A2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447208"/>
            <a:ext cx="11112499" cy="382682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가구단위·소득 기준 원본 확대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가구단위·소득 기준 안내 · 원본 3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19-A3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45568"/>
            <a:ext cx="11112500" cy="3785962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가구단위·소득 기준 원본 확대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졸업예정자 상담 · 원본 확대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20A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367167"/>
            <a:ext cx="11112500" cy="2542765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졸업예정자 신청 가능 시점 원본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견적서 활용 · 3D그래픽학과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397000"/>
          <a:ext cx="111125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0"/>
                <a:gridCol w="1270000"/>
                <a:gridCol w="2222500"/>
              </a:tblGrid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과목명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등록금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12월 3D 에셋지브러쉬 활용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9월 렌더&amp;라이팅 기초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10월 렌더&amp;라이팅 활용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11월 리깅&amp;애니메이션 기초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12월 리깅&amp;애니메이션 활용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1월 독립&amp;연출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12월 포트폴리오(무료과목)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3,600,000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1422400" y="5651500"/>
            <a:ext cx="9334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356A"/>
                </a:solidFill>
                <a:latin typeface="Noto Sans KR"/>
              </a:rPr>
              <a:t>총 등록금 10,550,000원  |  국취제 제외 실 자부담금 확인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견적서 활용 · 기계학과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397000"/>
          <a:ext cx="111125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0"/>
                <a:gridCol w="1270000"/>
                <a:gridCol w="2222500"/>
              </a:tblGrid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과목명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등록금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4월 캐드 기초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5월 캐드 활용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6월 인벤터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7월 퓨전 360 기초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8월 퓨전 360 활용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4429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8월 전산응용기계제도기능사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450,000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1422400" y="5651500"/>
            <a:ext cx="9334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356A"/>
                </a:solidFill>
                <a:latin typeface="Noto Sans KR"/>
              </a:rPr>
              <a:t>기계학과 등록금 세부 내역 · 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견적서 활용 · 기계학과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21-4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397000"/>
          <a:ext cx="111125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0"/>
                <a:gridCol w="1270000"/>
                <a:gridCol w="2222500"/>
              </a:tblGrid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과목명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</a:rPr>
                        <a:t>등록금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9월 사무 기초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10월 컴퓨터활용능력 1급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350,000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5월 AI 프롬프트 기초(무료)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6월 AI 프롬프트 활용(무료)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54428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5월 AI 에이전트 기초(무료)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54429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B38"/>
                          </a:solidFill>
                          <a:latin typeface="Noto Sans KR"/>
                        </a:rPr>
                        <a:t>6월 AI 에이전트 활용(무료)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1개월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1422400" y="5651500"/>
            <a:ext cx="9334500" cy="482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356A"/>
                </a:solidFill>
                <a:latin typeface="Noto Sans KR"/>
              </a:rPr>
              <a:t>총 등록금 5,400,000원  |  국취제 제외 실 자부담금 확인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견적서 활용 · 원본 견적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21-A1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590" y="1193800"/>
            <a:ext cx="5138118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국취제 제외한 실 자부담금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견적서 활용 · 원본 견적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21-A2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163" y="1193800"/>
            <a:ext cx="4586972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국취제 제외한 실 자부담금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카드 결제 스피치 · 자부담 150만원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22-2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422400"/>
          <a:ext cx="111125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13335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660400"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8月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9月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10月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11月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12月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1月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Noto Sans KR"/>
                        </a:rPr>
                        <a:t>12月</a:t>
                      </a:r>
                    </a:p>
                  </a:txBody>
                  <a:tcPr marL="50800" marR="50800" marT="38100" marB="38100">
                    <a:solidFill>
                      <a:srgbClr val="064682"/>
                    </a:solidFill>
                  </a:tcPr>
                </a:tc>
              </a:tr>
              <a:tr h="660400"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1E2B38"/>
                          </a:solidFill>
                          <a:latin typeface="Noto Sans KR"/>
                        </a:rPr>
                        <a:t>국취제 수당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신청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600,000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660400"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1E2B38"/>
                          </a:solidFill>
                          <a:latin typeface="Noto Sans KR"/>
                        </a:rPr>
                        <a:t>등록금 납부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6개월 할부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-600,000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1E2B38"/>
                          </a:solidFill>
                          <a:latin typeface="Noto Sans KR"/>
                        </a:rPr>
                        <a:t>자부담금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150만원 할부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EEF7FF"/>
                    </a:solidFill>
                  </a:tcPr>
                </a:tc>
              </a:tr>
              <a:tr h="660400">
                <a:tc>
                  <a:txBody>
                    <a:bodyPr anchor="ctr"/>
                    <a:lstStyle/>
                    <a:p>
                      <a:pPr algn="ctr"/>
                      <a:r>
                        <a:rPr sz="1080" b="1">
                          <a:solidFill>
                            <a:srgbClr val="1E2B38"/>
                          </a:solidFill>
                          <a:latin typeface="Noto Sans KR"/>
                        </a:rPr>
                        <a:t>월 납부 금액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/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80" b="0">
                          <a:solidFill>
                            <a:srgbClr val="1E2B38"/>
                          </a:solidFill>
                          <a:latin typeface="Noto Sans KR"/>
                        </a:rPr>
                        <a:t>250,000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2184400" y="5143500"/>
            <a:ext cx="7810500" cy="8890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356A"/>
                </a:solidFill>
                <a:latin typeface="Noto Sans KR"/>
              </a:rPr>
              <a:t>카드 무이자 6개월 할부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356A"/>
                </a:solidFill>
                <a:latin typeface="Noto Sans KR"/>
              </a:rPr>
              <a:t>월 납부 금액 250,000원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카카오톡 활용 · 원본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23-1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284" y="1193800"/>
            <a:ext cx="2802731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카카오톡 활용 · 원본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23-2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206" y="1193800"/>
            <a:ext cx="3544887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카카오톡 활용 · 원본 3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23-3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914" y="1193800"/>
            <a:ext cx="3089471" cy="4889499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기존 수강생 수급내역 · 원본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24-1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746" y="1193800"/>
            <a:ext cx="5181807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기존 수강생 수급내역 · 원본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24-2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24-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06086"/>
            <a:ext cx="11112500" cy="3064926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기존 수강생 수급내역 · 원본 3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24-3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24-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08053"/>
            <a:ext cx="11112499" cy="3460992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356A"/>
                </a:solidFill>
                <a:latin typeface="Noto Sans KR"/>
              </a:rPr>
              <a:t>기존 수강생 수급내역 · 원본 4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24-4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1298"/>
            <a:ext cx="11112499" cy="2714503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과정 확대 · 원본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25-1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373" y="1193800"/>
            <a:ext cx="7384553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과정 확대 · 원본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25-2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359" y="1193800"/>
            <a:ext cx="4548580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대상자가 아닐 때 · 원본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26-1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638" y="1193800"/>
            <a:ext cx="5844023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대상자가 아닐 때 · 원본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26-2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44104"/>
            <a:ext cx="11112500" cy="4188891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대상자가 아닐 때 · 원본 3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26-3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726" y="1193800"/>
            <a:ext cx="3711846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할인율 · 원본 1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27-1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885" y="1193800"/>
            <a:ext cx="4109528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33400" y="114300"/>
            <a:ext cx="6604000" cy="1778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A6C7"/>
                </a:solidFill>
                <a:latin typeface="Noto Sans KR"/>
              </a:rPr>
              <a:t>CHAPTER 3. 상담 스피치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368300"/>
            <a:ext cx="10160000" cy="533400"/>
          </a:xfrm>
          <a:prstGeom prst="rect">
            <a:avLst/>
          </a:prstGeom>
          <a:noFill/>
        </p:spPr>
        <p:txBody>
          <a:bodyPr wrap="square" lIns="0" rIns="0" tIns="127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356A"/>
                </a:solidFill>
                <a:latin typeface="Noto Sans KR"/>
              </a:rPr>
              <a:t>국취제 할인율 · 원본 2</a:t>
            </a:r>
          </a:p>
        </p:txBody>
      </p:sp>
      <p:sp>
        <p:nvSpPr>
          <p:cNvPr id="4" name="PageBadge"/>
          <p:cNvSpPr/>
          <p:nvPr/>
        </p:nvSpPr>
        <p:spPr>
          <a:xfrm>
            <a:off x="11150600" y="355600"/>
            <a:ext cx="4953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DD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4F99"/>
                </a:solidFill>
                <a:latin typeface="Noto Sans KR"/>
              </a:rPr>
              <a:t>27-2</a:t>
            </a:r>
          </a:p>
        </p:txBody>
      </p:sp>
      <p:sp>
        <p:nvSpPr>
          <p:cNvPr id="5" name="HeaderRule"/>
          <p:cNvSpPr/>
          <p:nvPr/>
        </p:nvSpPr>
        <p:spPr>
          <a:xfrm>
            <a:off x="533400" y="1003300"/>
            <a:ext cx="11112500" cy="17780"/>
          </a:xfrm>
          <a:prstGeom prst="rect">
            <a:avLst/>
          </a:prstGeom>
          <a:solidFill>
            <a:srgbClr val="0A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403" y="1193800"/>
            <a:ext cx="5008492" cy="48895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03400" y="6197600"/>
            <a:ext cx="8572500" cy="355600"/>
          </a:xfrm>
          <a:prstGeom prst="roundRect">
            <a:avLst/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88900" bIns="889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356A"/>
                </a:solidFill>
                <a:latin typeface="Noto Sans KR"/>
              </a:rPr>
              <a:t>원본 자료 확대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27223</TotalTime>
  <Words>2995</Words>
  <Application>Microsoft Office PowerPoint</Application>
  <PresentationFormat>와이드스크린</PresentationFormat>
  <Paragraphs>399</Paragraphs>
  <Slides>50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SBS</cp:lastModifiedBy>
  <cp:revision>812</cp:revision>
  <cp:lastPrinted>2022-04-15T16:16:33Z</cp:lastPrinted>
  <dcterms:created xsi:type="dcterms:W3CDTF">2021-05-13T05:12:36Z</dcterms:created>
  <dcterms:modified xsi:type="dcterms:W3CDTF">2026-08-21T06:00:46Z</dcterms:modified>
</cp:coreProperties>
</file>